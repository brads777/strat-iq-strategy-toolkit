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Purpose: a ten-minute read of how Company C did in Year 7, the position its inputs show, where it stands against the other companies, and what to watch before the Year 8 decisions.</a:t>
            </a:r>
          </a:p>
          <a:p>
            <a:r>
              <a:rPr sz="1600">
                <a:latin typeface="Calibri"/>
              </a:rPr>
              <a:t>Everything comes from the team's own captured screens and the class-wide reports every team can see. Nothing here tells the team what to enter; it names the pattern and asks the questions.</a:t>
            </a:r>
          </a:p>
          <a:p>
            <a:r>
              <a:rPr sz="1600">
                <a:latin typeface="Calibri"/>
              </a:rPr>
              <a:t>Likely question: why no recommended numbers? Answer: the course rule is that the team decides; the review is feedback on the strategy the inputs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This is the one-slide summary. Read the four points top to bottom: how you scored, what position your inputs show, where you stand, and the one thing to watch most.</a:t>
            </a:r>
          </a:p>
          <a:p>
            <a:r>
              <a:rPr sz="1600">
                <a:latin typeface="Calibri"/>
              </a:rPr>
              <a:t>Likely question: which point matters most this round? Answer: the position. If the inputs have drifted from the strategy you chose, this is the round to decide whether that drift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The five scored measures against investor expectations, this year and the trend since the first round.</a:t>
            </a:r>
          </a:p>
          <a:p>
            <a:r>
              <a:rPr sz="1600">
                <a:latin typeface="Calibri"/>
              </a:rPr>
              <a:t>Rank 2 of 8, overall score 84 (rank 3 last year). Leader: Company D at 86.</a:t>
            </a:r>
          </a:p>
          <a:p>
            <a:r>
              <a:rPr sz="1600">
                <a:latin typeface="Calibri"/>
              </a:rPr>
              <a:t>Likely question: why did a measure miss when we improved? Answer: expectations rise each year; improvement that does not keep pace still shows as a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Cameras: your inputs look like a **best-cost provider** position (mixed). Price -4.4% vs the industry, P/Q +0.1 stars, cost per unit -4.3%. On the competitor report you sit in the value leader group. That matches the strategy you chose. Best-cost providers offer above-average quality at an average or slightly lower price, so costs must stay tightly controlled to fund both.</a:t>
            </a:r>
          </a:p>
          <a:p>
            <a:r>
              <a:rPr sz="1600">
                <a:latin typeface="Calibri"/>
              </a:rPr>
              <a:t>Drones: your inputs look like a **best-cost provider** position (mixed). Price +3.5% vs the industry, P/Q +0.2 stars, cost per unit +0.6%. On the competitor report you sit in the premium differentiator group. You chose differentiation. Best-cost providers offer above-average quality at an average or slightly lower price, so costs must stay tightly controlled to fund both.</a:t>
            </a:r>
          </a:p>
          <a:p>
            <a:r>
              <a:rPr sz="1600">
                <a:latin typeface="Calibri"/>
              </a:rPr>
              <a:t>Likely question: is the label fixed? Answer: no. It reads the pattern of price, P/Q and cost against the industry this year; it moves when the inputs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Three lines per product against the industry average: price premium, P/Q lead and cost per unit gap. A strategy pays when the gaps line up with it: a low-cost provider needs a negative cost gap, a differentiator needs a price premium that covers its cost gap.</a:t>
            </a:r>
          </a:p>
          <a:p>
            <a:r>
              <a:rPr sz="1600">
                <a:latin typeface="Calibri"/>
              </a:rPr>
              <a:t>Likely question: which line matters most? Answer: the cost gap, because it decides whether the price you charge earns a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Every company's overall score from the class scoreboard, year by year, with your line highlighted, and the biggest moves rivals made on the competitor report.</a:t>
            </a:r>
          </a:p>
          <a:p>
            <a:r>
              <a:rPr sz="1600">
                <a:latin typeface="Calibri"/>
              </a:rPr>
              <a:t>Likely question: did we use other teams' data? Answer: only what the class-wide reports show every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The goals and takeaways from your management interview, checked against this round's results. A miss is information: the question is whether your position can still reach the goal.</a:t>
            </a:r>
          </a:p>
          <a:p>
            <a:r>
              <a:rPr sz="1600">
                <a:latin typeface="Calibri"/>
              </a:rPr>
              <a:t>Likely question: can we change a goal? Answer: only management can; you can explain why your strategy departs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Each watch item names the evidence and a general lesson for the position you hold. None of them is an instruction; together they are the agenda for the team's next decision meeting.</a:t>
            </a:r>
          </a:p>
          <a:p>
            <a:r>
              <a:rPr sz="1600">
                <a:latin typeface="Calibri"/>
              </a:rPr>
              <a:t>Likely question: which one first? Answer: the one that threatens the goal management cares about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Close the review with these questions. Discuss them as a team before you open the decision screens, then use the Decision Planner and the plan check.</a:t>
            </a:r>
          </a:p>
          <a:p>
            <a:r>
              <a:rPr sz="1600">
                <a:latin typeface="Calibri"/>
              </a:rPr>
              <a:t>Likely question: where do we record the answers? Answer: the workbook's Findings &amp; Questions tab, in the 'Our response'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-822960"/>
            <a:ext cx="2377440" cy="237744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ADCFC"/>
                </a:solidFill>
                <a:latin typeface="Calibri"/>
              </a:rPr>
              <a:t>STRATOS GLO-BUS WEEKLY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mbria"/>
              </a:rPr>
              <a:t>Company C after Year 7: rank 2 of 8 — is the position paying off?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ADCFC"/>
                </a:solidFill>
                <a:latin typeface="Calibri"/>
              </a:rPr>
              <a:t>Company C · Year 7 results · Cameras and drones, four regions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Feedback, not recommendations: every decision is the team's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CADCFC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Rank 2 of 8 with a best-cost provider position in both products; drones have drifted from the strategy you chose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8321040" cy="74980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28016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17043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  <a:r>
              <a:rPr sz="1150" b="1">
                <a:solidFill>
                  <a:srgbClr val="222831"/>
                </a:solidFill>
                <a:latin typeface="Calibri"/>
              </a:rPr>
              <a:t>Scorecard</a:t>
            </a:r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</a:p>
          <a:p>
            <a:r>
              <a:rPr sz="1150" b="0">
                <a:solidFill>
                  <a:srgbClr val="222831"/>
                </a:solidFill>
                <a:latin typeface="Calibri"/>
              </a:rPr>
              <a:t>1 of 5 scored measures met investor expectations in Year 7; EPS fell short ($2.10 vs $2.15)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8321040" cy="74980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14884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3911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  <a:r>
              <a:rPr sz="1150" b="1">
                <a:solidFill>
                  <a:srgbClr val="222831"/>
                </a:solidFill>
                <a:latin typeface="Calibri"/>
              </a:rPr>
              <a:t>Position</a:t>
            </a:r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</a:p>
          <a:p>
            <a:r>
              <a:rPr sz="1150" b="0">
                <a:solidFill>
                  <a:srgbClr val="222831"/>
                </a:solidFill>
                <a:latin typeface="Calibri"/>
              </a:rPr>
              <a:t>Cameras read as best-cost provider (as chosen); drones have drifted toward best-cost provider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834639"/>
            <a:ext cx="8321040" cy="74980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07791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  <a:r>
              <a:rPr sz="1150" b="1">
                <a:solidFill>
                  <a:srgbClr val="222831"/>
                </a:solidFill>
                <a:latin typeface="Calibri"/>
              </a:rPr>
              <a:t>Contest</a:t>
            </a:r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</a:p>
          <a:p>
            <a:r>
              <a:rPr sz="1150" b="0">
                <a:solidFill>
                  <a:srgbClr val="222831"/>
                </a:solidFill>
                <a:latin typeface="Calibri"/>
              </a:rPr>
              <a:t>Rank 2 of 8, 2 points behind Company D; Company F moved most in drones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03320"/>
            <a:ext cx="8321040" cy="74980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886200"/>
            <a:ext cx="384048" cy="384048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7647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  <a:r>
              <a:rPr sz="1150" b="1">
                <a:solidFill>
                  <a:srgbClr val="222831"/>
                </a:solidFill>
                <a:latin typeface="Calibri"/>
              </a:rPr>
              <a:t>Watch first</a:t>
            </a:r>
            <a:r>
              <a:rPr sz="1150" b="0">
                <a:solidFill>
                  <a:srgbClr val="222831"/>
                </a:solidFill>
                <a:latin typeface="Calibri"/>
              </a:rPr>
              <a:t/>
            </a:r>
          </a:p>
          <a:p>
            <a:r>
              <a:rPr sz="1150" b="0">
                <a:solidFill>
                  <a:srgbClr val="222831"/>
                </a:solidFill>
                <a:latin typeface="Calibri"/>
              </a:rPr>
              <a:t>Drones: the position your inputs show differs from the strategy you chose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1 of 5 scored measures met investor expectations in Year 7; EPS fell short ($2.10 vs $2.15)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3300984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658368"/>
                <a:gridCol w="658368"/>
                <a:gridCol w="658368"/>
              </a:tblGrid>
              <a:tr h="27431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Scored measure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You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Expectation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E276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$2.10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$2.15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Below</a:t>
                      </a:r>
                    </a:p>
                  </a:txBody>
                  <a:tcPr>
                    <a:solidFill>
                      <a:srgbClr val="F8D7D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ROE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D8F0D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Stock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$26.10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$27.00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Below</a:t>
                      </a:r>
                    </a:p>
                  </a:txBody>
                  <a:tcPr>
                    <a:solidFill>
                      <a:srgbClr val="F8D7D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Credit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BB-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Below</a:t>
                      </a:r>
                    </a:p>
                  </a:txBody>
                  <a:tcPr>
                    <a:solidFill>
                      <a:srgbClr val="F8D7D3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Image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Below</a:t>
                      </a:r>
                    </a:p>
                  </a:txBody>
                  <a:tcPr>
                    <a:solidFill>
                      <a:srgbClr val="F8D7D3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51560"/>
            <a:ext cx="4846320" cy="31671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Cameras read as best-cost provider (as chosen); drones have drifted toward best-cost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8321040" cy="32059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Cost per unit vs the industry: cameras -4.3%, drones +0.6% — the number that decides whether the position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6558422" cy="187451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71800"/>
            <a:ext cx="6274697" cy="1691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Rank 2 of 8, 2 points behind Company D; Company F moved most in drones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5120640" cy="29553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0" y="1051560"/>
            <a:ext cx="3017520" cy="35661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143000"/>
            <a:ext cx="2788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22831"/>
                </a:solidFill>
                <a:latin typeface="Calibri"/>
              </a:rPr>
              <a:t/>
            </a:r>
            <a:r>
              <a:rPr sz="850" b="1">
                <a:solidFill>
                  <a:srgbClr val="222831"/>
                </a:solidFill>
                <a:latin typeface="Calibri"/>
              </a:rPr>
              <a:t>What rivals changed</a:t>
            </a:r>
            <a:r>
              <a:rPr sz="850" b="0">
                <a:solidFill>
                  <a:srgbClr val="222831"/>
                </a:solidFill>
                <a:latin typeface="Calibri"/>
              </a:rPr>
              <a:t/>
            </a:r>
          </a:p>
          <a:p>
            <a:r>
              <a:rPr sz="850" b="0">
                <a:solidFill>
                  <a:srgbClr val="222831"/>
                </a:solidFill>
                <a:latin typeface="Calibri"/>
              </a:rPr>
              <a:t>Company F (drones): price +3.5%, P/Q -0.1 stars, share +0.3 points; now in the low-cost / economy group.</a:t>
            </a:r>
          </a:p>
          <a:p>
            <a:r>
              <a:rPr sz="850" b="0">
                <a:solidFill>
                  <a:srgbClr val="222831"/>
                </a:solidFill>
                <a:latin typeface="Calibri"/>
              </a:rPr>
              <a:t>Company D (drones): price -2.7%, P/Q +0.1 stars, share +1.3 points; now in the premium differentiator group.</a:t>
            </a:r>
          </a:p>
          <a:p>
            <a:r>
              <a:rPr sz="850" b="0">
                <a:solidFill>
                  <a:srgbClr val="222831"/>
                </a:solidFill>
                <a:latin typeface="Calibri"/>
              </a:rPr>
              <a:t>Company F (cameras): price +3.6%, P/Q +0.0 stars, share +0.4 points; now in the low-cost / economy group.</a:t>
            </a:r>
          </a:p>
          <a:p>
            <a:r>
              <a:rPr sz="850" b="0">
                <a:solidFill>
                  <a:srgbClr val="222831"/>
                </a:solidFill>
                <a:latin typeface="Calibri"/>
              </a:rPr>
              <a:t>Company D (cameras): price -2.9%, P/Q -0.0 stars, share +0.3 points; now in the premium differentiator group.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3 of 3 goals from your management interview missed this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83210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188720"/>
                <a:gridCol w="1005840"/>
                <a:gridCol w="1371600"/>
                <a:gridCol w="82296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This round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B1. Beat investor expectations for 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investor expectation 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missed</a:t>
                      </a:r>
                    </a:p>
                  </a:txBody>
                  <a:tcPr>
                    <a:solidFill>
                      <a:srgbClr val="F8D7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B2. Hold a credit rating of BB or 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Credit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BB-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missed</a:t>
                      </a:r>
                    </a:p>
                  </a:txBody>
                  <a:tcPr>
                    <a:solidFill>
                      <a:srgbClr val="F8D7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B3. Keep the image rating at or above expectations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Image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investor expectation 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831"/>
                          </a:solidFill>
                          <a:latin typeface="Calibri"/>
                        </a:rPr>
                        <a:t>missed</a:t>
                      </a:r>
                    </a:p>
                  </a:txBody>
                  <a:tcPr>
                    <a:solidFill>
                      <a:srgbClr val="F8D7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478024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22831"/>
                </a:solidFill>
                <a:latin typeface="Calibri"/>
              </a:rPr>
              <a:t/>
            </a:r>
            <a:r>
              <a:rPr sz="1050" b="1">
                <a:solidFill>
                  <a:srgbClr val="222831"/>
                </a:solidFill>
                <a:latin typeface="Calibri"/>
              </a:rPr>
              <a:t>Takeaways you hold yourselves to</a:t>
            </a:r>
            <a:r>
              <a:rPr sz="1050" b="0">
                <a:solidFill>
                  <a:srgbClr val="222831"/>
                </a:solidFill>
                <a:latin typeface="Calibri"/>
              </a:rPr>
              <a:t/>
            </a:r>
          </a:p>
          <a:p>
            <a:r>
              <a:rPr sz="1050" b="0">
                <a:solidFill>
                  <a:srgbClr val="222831"/>
                </a:solidFill>
                <a:latin typeface="Calibri"/>
              </a:rPr>
              <a:t>Protect the credit rating: no growth that needs new debt</a:t>
            </a:r>
          </a:p>
          <a:p>
            <a:r>
              <a:rPr sz="1050" b="0">
                <a:solidFill>
                  <a:srgbClr val="222831"/>
                </a:solidFill>
                <a:latin typeface="Calibri"/>
              </a:rPr>
              <a:t>Cameras compete on value, drones on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4 things to watch before the Year 8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8321040" cy="6583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73152" cy="65836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8813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  <a:r>
              <a:rPr sz="1000" b="1">
                <a:solidFill>
                  <a:srgbClr val="222831"/>
                </a:solidFill>
                <a:latin typeface="Calibri"/>
              </a:rPr>
              <a:t>Drones: the position your inputs show differs from the strategy you chose</a:t>
            </a:r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088136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831"/>
                </a:solidFill>
                <a:latin typeface="Calibri"/>
              </a:rPr>
              <a:t>You chose differentiation; price +3.5% vs the industry and P/Q +0.2 stars put you closer to best-cost provider.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88136"/>
            <a:ext cx="2697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>Teams that drift between positions usually pay for both and get credit for neither. Decide whether the drift is deliberate.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8321040" cy="6583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73152" cy="65836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1965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  <a:r>
              <a:rPr sz="1000" b="1">
                <a:solidFill>
                  <a:srgbClr val="222831"/>
                </a:solidFill>
                <a:latin typeface="Calibri"/>
              </a:rPr>
              <a:t>Management goal B1 missed: Beat investor expectations for EPS</a:t>
            </a:r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19656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831"/>
                </a:solidFill>
                <a:latin typeface="Calibri"/>
              </a:rPr>
              <a:t>EPS: 2.1 against investor expectation 2.15. This goal came from your management interview.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819656"/>
            <a:ext cx="2697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>EPS reflects price, cost and volume together; look for which of the three moved against 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14600"/>
            <a:ext cx="8321040" cy="6583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514600"/>
            <a:ext cx="73152" cy="65836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5117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  <a:r>
              <a:rPr sz="1000" b="1">
                <a:solidFill>
                  <a:srgbClr val="222831"/>
                </a:solidFill>
                <a:latin typeface="Calibri"/>
              </a:rPr>
              <a:t>Management goal B2 missed: Hold a credit rating of BB or better</a:t>
            </a:r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51176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831"/>
                </a:solidFill>
                <a:latin typeface="Calibri"/>
              </a:rPr>
              <a:t>Credit rating: BB- against BB. This goal came from your management interview.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551176"/>
            <a:ext cx="2697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>Credit rating follows debt, interest coverage and cash; it also sets borrowing costs.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46120"/>
            <a:ext cx="8321040" cy="6583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246120"/>
            <a:ext cx="73152" cy="65836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28269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  <a:r>
              <a:rPr sz="1000" b="1">
                <a:solidFill>
                  <a:srgbClr val="222831"/>
                </a:solidFill>
                <a:latin typeface="Calibri"/>
              </a:rPr>
              <a:t>Management goal B3 missed: Keep the image rating at or above expectations</a:t>
            </a:r>
            <a:r>
              <a:rPr sz="1000" b="0">
                <a:solidFill>
                  <a:srgbClr val="222831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82696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831"/>
                </a:solidFill>
                <a:latin typeface="Calibri"/>
              </a:rPr>
              <a:t>Image rating: 71 against investor expectation 72. This goal came from your management interview.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282696"/>
            <a:ext cx="2697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>Image rating builds slowly from P/Q, models, warranty, advertising and CSR.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Cambria"/>
              </a:rPr>
              <a:t>Questions for the team before Year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Calibri"/>
              </a:rPr>
              <a:t>Source: GLO-BUS captures, Years 6–7 (company reports, class scoreboard, Competitive Intelligence Report); StratOS weekly_report.py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831"/>
                </a:solidFill>
                <a:latin typeface="Calibri"/>
              </a:rPr>
              <a:t>Is the drones position your inputs now show the one you meant to build?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831"/>
                </a:solidFill>
                <a:latin typeface="Calibri"/>
              </a:rPr>
              <a:t>Which input did you change most this year, and did the result move the way the projections said?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