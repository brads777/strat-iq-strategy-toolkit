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dcf719-93af-770e-4e43-a1e6a105ba3f}">
          <p14:sldIdLst>
            <p14:sldId id="256"/>
          </p14:sldIdLst>
        </p14:section>
        <p14:section name="The map" id="{fb621201-76f1-fe32-c250-4ebc0a85ded0}">
          <p14:sldIdLst>
            <p14:sldId id="257"/>
            <p14:sldId id="258"/>
          </p14:sldIdLst>
        </p14:section>
        <p14:section name="The three parts" id="{d5f1e961-168c-53b3-cacc-464f97c75cbc}">
          <p14:sldIdLst>
            <p14:sldId id="259"/>
            <p14:sldId id="260"/>
            <p14:sldId id="261"/>
            <p14:sldId id="262"/>
            <p14:sldId id="263"/>
          </p14:sldIdLst>
        </p14:section>
        <p14:section name="Part 3" id="{abba6f1e-84ce-375f-66e6-541e46535140}">
          <p14:sldIdLst>
            <p14:sldId id="264"/>
            <p14:sldId id="265"/>
            <p14:sldId id="266"/>
            <p14:sldId id="267"/>
            <p14:sldId id="268"/>
            <p14:sldId id="269"/>
            <p14:sldId id="270"/>
            <p14:sldId id="271"/>
          </p14:sldIdLst>
        </p14:section>
        <p14:section name="GLO-BUS" id="{40932d6d-afcf-dc39-03d3-16accdea3d42}">
          <p14:sldIdLst>
            <p14:sldId id="272"/>
            <p14:sldId id="273"/>
          </p14:sldIdLst>
        </p14:section>
        <p14:section name="Why it matters" id="{02e82fc0-0502-f1de-b6d3-6fa7d129eb0a}">
          <p14:sldIdLst>
            <p14:sldId id="274"/>
            <p14:sldId id="275"/>
            <p14:sldId id="276"/>
            <p14:sldId id="277"/>
          </p14:sldIdLst>
        </p14:section>
        <p14:section name="Getting started" id="{390c9913-3f5c-de2b-49fd-aa2a1a55a2b0}">
          <p14:sldIdLst>
            <p14:sldId id="278"/>
            <p14:sldId id="279"/>
            <p14:sldId id="280"/>
          </p14:sldIdLst>
        </p14:section>
        <p14:section name="Close" id="{567fed8e-2408-778f-ce76-b0d2c16d6658}">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3557"/>
                </a:solidFill>
                <a:latin typeface="+mn-lt"/>
              </a:defRPr>
            </a:pPr>
            <a:r>
              <a:rPr sz="1400" b="0" i="0" u="none" strike="noStrike">
                <a:solidFill>
                  <a:srgbClr val="1D3557"/>
                </a:solidFill>
                <a:latin typeface="+mn-lt"/>
              </a:rPr>
              <a:t>Tornado: change in NPV from plan ($M)</a:t>
            </a:r>
          </a:p>
        </c:rich>
      </c:tx>
      <c:layout/>
      <c:overlay val="0"/>
    </c:title>
    <c:autoTitleDeleted val="0"/>
    <c:plotArea>
      <c:layout/>
      <c:barChart>
        <c:barDir val="bar"/>
        <c:grouping val="clustered"/>
        <c:varyColors val="0"/>
        <c:ser>
          <c:idx val="0"/>
          <c:order val="0"/>
          <c:tx>
            <c:strRef>
              <c:f>Sheet1!$B$1</c:f>
              <c:strCache>
                <c:ptCount val="1"/>
                <c:pt idx="0">
                  <c:v>Driver at its low</c:v>
                </c:pt>
              </c:strCache>
            </c:strRef>
          </c:tx>
          <c:spPr>
            <a:solidFill>
              <a:srgbClr val="C4453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Units</c:v>
                  </c:pt>
                  <c:pt idx="1">
                    <c:v>Price</c:v>
                  </c:pt>
                  <c:pt idx="2">
                    <c:v>Variable cost</c:v>
                  </c:pt>
                  <c:pt idx="3">
                    <c:v>Capex</c:v>
                  </c:pt>
                  <c:pt idx="4">
                    <c:v>Discount rate</c:v>
                  </c:pt>
                  <c:pt idx="5">
                    <c:v>Fixed costs</c:v>
                  </c:pt>
                </c:lvl>
              </c:multiLvlStrCache>
            </c:multiLvlStrRef>
          </c:cat>
          <c:val>
            <c:numRef>
              <c:f>Sheet1!$B$2:$B$7</c:f>
              <c:numCache>
                <c:formatCode>General</c:formatCode>
                <c:ptCount val="6"/>
                <c:pt idx="0">
                  <c:v>-556</c:v>
                </c:pt>
                <c:pt idx="1">
                  <c:v>-598</c:v>
                </c:pt>
                <c:pt idx="2">
                  <c:v>235</c:v>
                </c:pt>
                <c:pt idx="3">
                  <c:v>114</c:v>
                </c:pt>
                <c:pt idx="4">
                  <c:v>69</c:v>
                </c:pt>
                <c:pt idx="5">
                  <c:v>27</c:v>
                </c:pt>
              </c:numCache>
            </c:numRef>
          </c:val>
        </c:ser>
        <c:ser>
          <c:idx val="1"/>
          <c:order val="1"/>
          <c:tx>
            <c:strRef>
              <c:f>Sheet1!$C$1</c:f>
              <c:strCache>
                <c:ptCount val="1"/>
                <c:pt idx="0">
                  <c:v>Driver at its high</c:v>
                </c:pt>
              </c:strCache>
            </c:strRef>
          </c:tx>
          <c:spPr>
            <a:solidFill>
              <a:srgbClr val="1D35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Units</c:v>
                  </c:pt>
                  <c:pt idx="1">
                    <c:v>Price</c:v>
                  </c:pt>
                  <c:pt idx="2">
                    <c:v>Variable cost</c:v>
                  </c:pt>
                  <c:pt idx="3">
                    <c:v>Capex</c:v>
                  </c:pt>
                  <c:pt idx="4">
                    <c:v>Discount rate</c:v>
                  </c:pt>
                  <c:pt idx="5">
                    <c:v>Fixed costs</c:v>
                  </c:pt>
                </c:lvl>
              </c:multiLvlStrCache>
            </c:multiLvlStrRef>
          </c:cat>
          <c:val>
            <c:numRef>
              <c:f>Sheet1!$C$2:$C$7</c:f>
              <c:numCache>
                <c:formatCode>General</c:formatCode>
                <c:ptCount val="6"/>
                <c:pt idx="0">
                  <c:v>417</c:v>
                </c:pt>
                <c:pt idx="1">
                  <c:v>299</c:v>
                </c:pt>
                <c:pt idx="2">
                  <c:v>-375</c:v>
                </c:pt>
                <c:pt idx="3">
                  <c:v>-455</c:v>
                </c:pt>
                <c:pt idx="4">
                  <c:v>-129</c:v>
                </c:pt>
                <c:pt idx="5">
                  <c:v>-54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3557"/>
                </a:solidFill>
                <a:latin typeface="+mn-lt"/>
              </a:defRPr>
            </a:pPr>
            <a:r>
              <a:rPr sz="1400" b="0" i="0" u="none" strike="noStrike">
                <a:solidFill>
                  <a:srgbClr val="1D3557"/>
                </a:solidFill>
                <a:latin typeface="+mn-lt"/>
              </a:rPr>
              <a:t>Monte Carlo: NPV across 10,000 futures ($M)</a:t>
            </a:r>
          </a:p>
        </c:rich>
      </c:tx>
      <c:layout/>
      <c:overlay val="0"/>
    </c:title>
    <c:autoTitleDeleted val="0"/>
    <c:plotArea>
      <c:layout/>
      <c:barChart>
        <c:barDir val="col"/>
        <c:grouping val="clustered"/>
        <c:varyColors val="0"/>
        <c:ser>
          <c:idx val="0"/>
          <c:order val="0"/>
          <c:tx>
            <c:strRef>
              <c:f>Sheet1!$B$1</c:f>
              <c:strCache>
                <c:ptCount val="1"/>
                <c:pt idx="0">
                  <c:v>Simulated futures</c:v>
                </c:pt>
              </c:strCache>
            </c:strRef>
          </c:tx>
          <c:spPr>
            <a:solidFill>
              <a:srgbClr val="1D35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-1,432</c:v>
                  </c:pt>
                  <c:pt idx="1">
                    <c:v>-1,316</c:v>
                  </c:pt>
                  <c:pt idx="2">
                    <c:v>-1,199</c:v>
                  </c:pt>
                  <c:pt idx="3">
                    <c:v>-1,083</c:v>
                  </c:pt>
                  <c:pt idx="4">
                    <c:v>-966</c:v>
                  </c:pt>
                  <c:pt idx="5">
                    <c:v>-850</c:v>
                  </c:pt>
                  <c:pt idx="6">
                    <c:v>-733</c:v>
                  </c:pt>
                  <c:pt idx="7">
                    <c:v>-617</c:v>
                  </c:pt>
                  <c:pt idx="8">
                    <c:v>-501</c:v>
                  </c:pt>
                  <c:pt idx="9">
                    <c:v>-384</c:v>
                  </c:pt>
                  <c:pt idx="10">
                    <c:v>-268</c:v>
                  </c:pt>
                  <c:pt idx="11">
                    <c:v>-151</c:v>
                  </c:pt>
                  <c:pt idx="12">
                    <c:v>-35</c:v>
                  </c:pt>
                  <c:pt idx="13">
                    <c:v>81</c:v>
                  </c:pt>
                  <c:pt idx="14">
                    <c:v>198</c:v>
                  </c:pt>
                  <c:pt idx="15">
                    <c:v>314</c:v>
                  </c:pt>
                  <c:pt idx="16">
                    <c:v>431</c:v>
                  </c:pt>
                  <c:pt idx="17">
                    <c:v>547</c:v>
                  </c:pt>
                  <c:pt idx="18">
                    <c:v>664</c:v>
                  </c:pt>
                  <c:pt idx="19">
                    <c:v>780</c:v>
                  </c:pt>
                </c:lvl>
              </c:multiLvlStrCache>
            </c:multiLvlStrRef>
          </c:cat>
          <c:val>
            <c:numRef>
              <c:f>Sheet1!$B$2:$B$21</c:f>
              <c:numCache>
                <c:formatCode>General</c:formatCode>
                <c:ptCount val="20"/>
                <c:pt idx="0">
                  <c:v>2</c:v>
                </c:pt>
                <c:pt idx="1">
                  <c:v>10</c:v>
                </c:pt>
                <c:pt idx="2">
                  <c:v>41</c:v>
                </c:pt>
                <c:pt idx="3">
                  <c:v>109</c:v>
                </c:pt>
                <c:pt idx="4">
                  <c:v>241</c:v>
                </c:pt>
                <c:pt idx="5">
                  <c:v>455</c:v>
                </c:pt>
                <c:pt idx="6">
                  <c:v>799</c:v>
                </c:pt>
                <c:pt idx="7">
                  <c:v>1162</c:v>
                </c:pt>
                <c:pt idx="8">
                  <c:v>1269</c:v>
                </c:pt>
                <c:pt idx="9">
                  <c:v>1374</c:v>
                </c:pt>
                <c:pt idx="10">
                  <c:v>1357</c:v>
                </c:pt>
                <c:pt idx="11">
                  <c:v>1166</c:v>
                </c:pt>
                <c:pt idx="12">
                  <c:v>859</c:v>
                </c:pt>
                <c:pt idx="13">
                  <c:v>588</c:v>
                </c:pt>
                <c:pt idx="14">
                  <c:v>336</c:v>
                </c:pt>
                <c:pt idx="15">
                  <c:v>145</c:v>
                </c:pt>
                <c:pt idx="16">
                  <c:v>51</c:v>
                </c:pt>
                <c:pt idx="17">
                  <c:v>24</c:v>
                </c:pt>
                <c:pt idx="18">
                  <c:v>10</c:v>
                </c:pt>
                <c:pt idx="19">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76"/>
                </a:solidFill>
                <a:latin typeface="+mn-lt"/>
              </a:defRPr>
            </a:pPr>
            <a:endParaRPr lang="en-US"/>
          </a:p>
        </c:txPr>
        <c:crossAx val="2094734552"/>
        <c:crosses val="autoZero"/>
        <c:auto val="1"/>
        <c:lblAlgn val="ctr"/>
        <c:noMultiLvlLbl val="1"/>
        <c:tickLblSkip val="4"/>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3557"/>
                </a:solidFill>
                <a:latin typeface="+mn-lt"/>
              </a:defRPr>
            </a:pPr>
            <a:r>
              <a:rPr sz="1400" b="0" i="0" u="none" strike="noStrike">
                <a:solidFill>
                  <a:srgbClr val="1D3557"/>
                </a:solidFill>
                <a:latin typeface="+mn-lt"/>
              </a:rPr>
              <a:t>KPI Charts tab: EPS vs expectation (example)</a:t>
            </a:r>
          </a:p>
        </c:rich>
      </c:tx>
      <c:layout/>
      <c:overlay val="0"/>
    </c:title>
    <c:autoTitleDeleted val="0"/>
    <c:plotArea>
      <c:layout/>
      <c:lineChart>
        <c:varyColors val="0"/>
        <c:ser>
          <c:idx val="0"/>
          <c:order val="0"/>
          <c:tx>
            <c:strRef>
              <c:f>Sheet1!$B$1</c:f>
              <c:strCache>
                <c:ptCount val="1"/>
                <c:pt idx="0">
                  <c:v>EPS</c:v>
                </c:pt>
              </c:strCache>
            </c:strRef>
          </c:tx>
          <c:spPr>
            <a:solidFill>
              <a:srgbClr val="1D3557"/>
            </a:solidFill>
            <a:ln w="38100" cap="flat">
              <a:solidFill>
                <a:srgbClr val="1D35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D3557"/>
              </a:solidFill>
              <a:ln w="9525" cap="flat">
                <a:solidFill>
                  <a:srgbClr val="1D3557"/>
                </a:solidFill>
                <a:prstDash val="solid"/>
                <a:round/>
              </a:ln>
              <a:effectLst/>
            </c:spPr>
          </c:marker>
          <c:cat>
            <c:multiLvlStrRef>
              <c:f>Sheet1!$A$2:$A$4</c:f>
              <c:multiLvlStrCache>
                <c:ptCount val="3"/>
                <c:lvl>
                  <c:pt idx="0">
                    <c:v>Year 6</c:v>
                  </c:pt>
                  <c:pt idx="1">
                    <c:v>Year 7</c:v>
                  </c:pt>
                  <c:pt idx="2">
                    <c:v>Year 8</c:v>
                  </c:pt>
                </c:lvl>
              </c:multiLvlStrCache>
            </c:multiLvlStrRef>
          </c:cat>
          <c:val>
            <c:numRef>
              <c:f>Sheet1!$B$2:$B$4</c:f>
              <c:numCache>
                <c:formatCode>General</c:formatCode>
                <c:ptCount val="3"/>
                <c:pt idx="0">
                  <c:v>1.85</c:v>
                </c:pt>
                <c:pt idx="1">
                  <c:v>2.1</c:v>
                </c:pt>
                <c:pt idx="2">
                  <c:v>2.32</c:v>
                </c:pt>
              </c:numCache>
            </c:numRef>
          </c:val>
          <c:smooth val="0"/>
        </c:ser>
        <c:ser>
          <c:idx val="1"/>
          <c:order val="1"/>
          <c:tx>
            <c:strRef>
              <c:f>Sheet1!$C$1</c:f>
              <c:strCache>
                <c:ptCount val="1"/>
                <c:pt idx="0">
                  <c:v>Investor expectation</c:v>
                </c:pt>
              </c:strCache>
            </c:strRef>
          </c:tx>
          <c:spPr>
            <a:solidFill>
              <a:srgbClr val="C9A55C"/>
            </a:solidFill>
            <a:ln w="38100" cap="flat">
              <a:solidFill>
                <a:srgbClr val="C9A5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A55C"/>
              </a:solidFill>
              <a:ln w="9525" cap="flat">
                <a:solidFill>
                  <a:srgbClr val="C9A55C"/>
                </a:solidFill>
                <a:prstDash val="solid"/>
                <a:round/>
              </a:ln>
              <a:effectLst/>
            </c:spPr>
          </c:marker>
          <c:cat>
            <c:multiLvlStrRef>
              <c:f>Sheet1!$A$2:$A$4</c:f>
              <c:multiLvlStrCache>
                <c:ptCount val="3"/>
                <c:lvl>
                  <c:pt idx="0">
                    <c:v>Year 6</c:v>
                  </c:pt>
                  <c:pt idx="1">
                    <c:v>Year 7</c:v>
                  </c:pt>
                  <c:pt idx="2">
                    <c:v>Year 8</c:v>
                  </c:pt>
                </c:lvl>
              </c:multiLvlStrCache>
            </c:multiLvlStrRef>
          </c:cat>
          <c:val>
            <c:numRef>
              <c:f>Sheet1!$C$2:$C$4</c:f>
              <c:numCache>
                <c:formatCode>General</c:formatCode>
                <c:ptCount val="3"/>
                <c:pt idx="0">
                  <c:v>2</c:v>
                </c:pt>
                <c:pt idx="1">
                  <c:v>2.15</c:v>
                </c:pt>
                <c:pt idx="2">
                  <c:v>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6"/>
                </a:solidFill>
                <a:latin typeface="+mn-lt"/>
              </a:defRPr>
            </a:pPr>
            <a:endParaRPr lang="en-US"/>
          </a:p>
        </c:txPr>
        <c:crossAx val="2094734552"/>
        <c:crosses val="autoZero"/>
        <c:auto val="1"/>
        <c:lblAlgn val="ctr"/>
        <c:noMultiLvlLbl val="1"/>
      </c:catAx>
      <c:valAx>
        <c:axId val="2094734552"/>
        <c:scaling>
          <c:orientation val="minMax"/>
          <c:max val="2.5"/>
          <c:min val="1.5"/>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Welcome. In this video I'm going to walk you through the complete process, version 3, from end to end. First, a new name: StratOS is now the Strat-IQ Toolkit. Same tools, new name, and I'll show you how to switch over at the end. Over the last few weeks we've added a lot: Part 2, Part 3, new GLO-BUS tools, and an Excel workbook. It's easy to lose sight of how the pieces fit together, so this video is the map.</a:t>
            </a:r>
          </a:p>
          <a:p>
            <a:pPr>
              <a:spcAft>
                <a:spcPts val="900"/>
              </a:spcAft>
            </a:pPr>
            <a:r>
              <a:rPr lang="en-US" sz="1600" dirty="0">
                <a:latin typeface="Arial"/>
                <a:cs typeface="Arial"/>
              </a:rPr>
              <a:t>I'll use one diagram throughout. It shows every skill in order, what each one does, what information it passes to the next step, and how it reaches the P&amp;L or the value of the company. I'm posting that diagram with this video as an Excalidraw file, with instructions, so you can zoom in and follow along.</a:t>
            </a:r>
          </a:p>
          <a:p>
            <a:pPr>
              <a:spcAft>
                <a:spcPts val="900"/>
              </a:spcAft>
            </a:pPr>
            <a:r>
              <a:rPr lang="en-US" sz="1600" dirty="0">
                <a:latin typeface="Arial"/>
                <a:cs typeface="Arial"/>
              </a:rPr>
              <a:t>We'll go part by part: the industry, the company, then making the strategy work, including new statistical tools for testing a decision. Along the way I'll stop for nine short live demos, so you can see each piece working on real screens. Then the GLO-BUS loop, the workbook, how to install version 3, and a few prompts to try this week.</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 is the whole process on one page. Read it left to right. Part 1 reads the industry: what it rewards. Part 2 reads the company: what it can actually do about it. Part 3 makes the strategy work in four moves: choose, test, plan and track. On the far right are the deliverables you hand in or present.</a:t>
            </a:r>
          </a:p>
          <a:p>
            <a:pPr>
              <a:spcAft>
                <a:spcPts val="900"/>
              </a:spcAft>
            </a:pPr>
            <a:r>
              <a:rPr lang="en-US" sz="1600" dirty="0">
                <a:latin typeface="Arial"/>
                <a:cs typeface="Arial"/>
              </a:rPr>
              <a:t>Underneath everything is the strategy ledger. That's one shared file. Every step reads it, adds its evidence, and passes it down, so nothing is lost between chats and every claim can be traced back to a source.</a:t>
            </a:r>
          </a:p>
          <a:p>
            <a:pPr>
              <a:spcAft>
                <a:spcPts val="900"/>
              </a:spcAft>
            </a:pPr>
            <a:r>
              <a:rPr lang="en-US" sz="1600" dirty="0">
                <a:latin typeface="Arial"/>
                <a:cs typeface="Arial"/>
              </a:rPr>
              <a:t>At the bottom is the GLO-BUS season loop. It runs once a year in the game: choose your strategy, plan the year, enter your decisions yourself, check your entries, get feedback, and track the results.</a:t>
            </a:r>
          </a:p>
          <a:p>
            <a:pPr>
              <a:spcAft>
                <a:spcPts val="900"/>
              </a:spcAft>
            </a:pPr>
            <a:r>
              <a:rPr lang="en-US" sz="1600" dirty="0">
                <a:latin typeface="Arial"/>
                <a:cs typeface="Arial"/>
              </a:rPr>
              <a:t>Dashed boxes run only when an option needs them. Pricing, for example, only runs when price is actually a lever.</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This is the detailed version of the map, and it's the file I'm posting with this video. Let me show you how to read it.</a:t>
            </a:r>
          </a:p>
          <a:p>
            <a:pPr>
              <a:spcAft>
                <a:spcPts val="900"/>
              </a:spcAft>
            </a:pPr>
            <a:r>
              <a:rPr lang="en-US" sz="1600" dirty="0">
                <a:latin typeface="Arial"/>
                <a:cs typeface="Arial"/>
              </a:rPr>
              <a:t>The left column is the flow. It runs top to bottom in the same order Strat-IQ runs the skills, and the arrows show each hand-off.</a:t>
            </a:r>
          </a:p>
          <a:p>
            <a:pPr>
              <a:spcAft>
                <a:spcPts val="900"/>
              </a:spcAft>
            </a:pPr>
            <a:r>
              <a:rPr lang="en-US" sz="1600" dirty="0">
                <a:latin typeface="Arial"/>
                <a:cs typeface="Arial"/>
              </a:rPr>
              <a:t>To the right of every box is a row in the table with four columns: the skill's name, what it does, the information it passes down to the next steps, and its impact on the P&amp;L or on the company's valuation. That last column is the point of the whole toolkit: every piece of analysis should end up touching revenue, cost, investment, risk or how long an advantage lasts.</a:t>
            </a:r>
          </a:p>
          <a:p>
            <a:pPr>
              <a:spcAft>
                <a:spcPts val="900"/>
              </a:spcAft>
            </a:pPr>
            <a:r>
              <a:rPr lang="en-US" sz="1600" dirty="0">
                <a:latin typeface="Arial"/>
                <a:cs typeface="Arial"/>
              </a:rPr>
              <a:t>Dashed boxes are the tools that run only when needed. And the file itself opens free in your browser at excalidraw.com, so you can zoom into any row while you watch.</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Everything starts with the new Management Interview debrief. After your team interviews management, Strat-IQ asks you, one question at a time, what they said: the decision they need made, the goals you must reach, and the questions they want answered. That becomes your memo's Key Issues and Exhibit B, and every later step is checked against it.</a:t>
            </a:r>
          </a:p>
          <a:p>
            <a:pPr>
              <a:spcAft>
                <a:spcPts val="900"/>
              </a:spcAft>
            </a:pPr>
            <a:r>
              <a:rPr lang="en-US" sz="1600" dirty="0">
                <a:latin typeface="Arial"/>
                <a:cs typeface="Arial"/>
              </a:rPr>
              <a:t>Part 1 then reads the industry. It starts with setup: the industry boundary, the competitors and your base company. Then the Industry Overview sizes the market and its growth, which sets the revenue ceiling.</a:t>
            </a:r>
          </a:p>
          <a:p>
            <a:pPr>
              <a:spcAft>
                <a:spcPts val="900"/>
              </a:spcAft>
            </a:pPr>
            <a:r>
              <a:rPr lang="en-US" sz="1600" dirty="0">
                <a:latin typeface="Arial"/>
                <a:cs typeface="Arial"/>
              </a:rPr>
              <a:t>Competitive Analysis comes before PESTEL on purpose. Your competitors' annual reports, their risk factors and management discussion, are primary evidence of what threatens the business. PESTEL then turns macro trends into findings, and each one names the P&amp;L line it moves: price, volume, input costs, opex, capex or financing.</a:t>
            </a:r>
          </a:p>
          <a:p>
            <a:pPr>
              <a:spcAft>
                <a:spcPts val="900"/>
              </a:spcAft>
            </a:pPr>
            <a:r>
              <a:rPr lang="en-US" sz="1600" dirty="0">
                <a:latin typeface="Arial"/>
                <a:cs typeface="Arial"/>
              </a:rPr>
              <a:t>Five Forces explains why margins in this industry are what they are. Trending Influence Factors picks the three to five drivers that will change those margins. KSFs score every competitor on what it takes to win.</a:t>
            </a:r>
          </a:p>
          <a:p>
            <a:pPr>
              <a:spcAft>
                <a:spcPts val="900"/>
              </a:spcAft>
            </a:pPr>
            <a:r>
              <a:rPr lang="en-US" sz="1600" dirty="0">
                <a:latin typeface="Arial"/>
                <a:cs typeface="Arial"/>
              </a:rPr>
              <a:t>Strategic Mapping closes Part 1 by finding empty space. Look at the right-hand column: this is where the evidence first becomes a story about profit.</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Let me show you what that looks like in practice. This is a Claude Project with one file in it: a saved Strat-IQ ledger for the electric vehicle industry, with BYD as the base company. It's demo data, so don't cite it, but it's built exactly the way yours will be.</a:t>
            </a:r>
          </a:p>
          <a:p>
            <a:pPr>
              <a:spcAft>
                <a:spcPts val="900"/>
              </a:spcAft>
            </a:pPr>
            <a:r>
              <a:rPr lang="en-US" sz="1600" dirty="0">
                <a:latin typeface="Arial"/>
                <a:cs typeface="Arial"/>
              </a:rPr>
              <a:t>I open a new chat and type two words: Run Strat-IQ.</a:t>
            </a:r>
          </a:p>
          <a:p>
            <a:pPr>
              <a:spcAft>
                <a:spcPts val="900"/>
              </a:spcAft>
            </a:pPr>
            <a:r>
              <a:rPr lang="en-US" sz="1600" dirty="0">
                <a:latin typeface="Arial"/>
                <a:cs typeface="Arial"/>
              </a:rPr>
              <a:t>Watch what it does first. It doesn't start over. It reads the ledger, checks what's already done, and tells me: Part 1 and Part 2 are complete, Part 3 is partly done, and the strategy statement is missing.</a:t>
            </a:r>
          </a:p>
          <a:p>
            <a:pPr>
              <a:spcAft>
                <a:spcPts val="900"/>
              </a:spcAft>
            </a:pPr>
            <a:r>
              <a:rPr lang="en-US" sz="1600" dirty="0">
                <a:latin typeface="Arial"/>
                <a:cs typeface="Arial"/>
              </a:rPr>
              <a:t>Then it offers to pick up exactly there. That's the ledger doing its job. Your work survives between chats, between weeks, and between teammates, as long as the latest ledger is saved in your Project.</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Here's a quick one that shows why Part 1 and Part 2 are separate. I'll type: Make Xiaomi the base company.</a:t>
            </a:r>
          </a:p>
          <a:p>
            <a:pPr>
              <a:spcAft>
                <a:spcPts val="900"/>
              </a:spcAft>
            </a:pPr>
            <a:r>
              <a:rPr lang="en-US" sz="1600" dirty="0">
                <a:latin typeface="Arial"/>
                <a:cs typeface="Arial"/>
              </a:rPr>
              <a:t>Strat-IQ keeps all of Part 1. The industry, the forces, the trends and the KSFs haven't changed just because we're looking at a different company.</a:t>
            </a:r>
          </a:p>
          <a:p>
            <a:pPr>
              <a:spcAft>
                <a:spcPts val="900"/>
              </a:spcAft>
            </a:pPr>
            <a:r>
              <a:rPr lang="en-US" sz="1600" dirty="0">
                <a:latin typeface="Arial"/>
                <a:cs typeface="Arial"/>
              </a:rPr>
              <a:t>What it reruns is Part 2. Look at the KSF scorecard. Xiaomi scores a five on software and user experience, but a one on local production footprint. BYD was the opposite: a five on battery cost, a two on local production.</a:t>
            </a:r>
          </a:p>
          <a:p>
            <a:pPr>
              <a:spcAft>
                <a:spcPts val="900"/>
              </a:spcAft>
            </a:pPr>
            <a:r>
              <a:rPr lang="en-US" sz="1600" dirty="0">
                <a:latin typeface="Arial"/>
                <a:cs typeface="Arial"/>
              </a:rPr>
              <a:t>Same evidence, different company, and so a different strategy. When you analyse a case, this is how you can test a competitor's position quickly: make them the base company for a moment, then switch back.</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Part 2 turns from the industry to your company. The Value Chain shows where cost sits and where value is created. Unit Economics asks the simplest and most important question: does one more unit make money? It gives contribution per unit, break-even volume, and what it costs to win a customer.</a:t>
            </a:r>
          </a:p>
          <a:p>
            <a:pPr>
              <a:spcAft>
                <a:spcPts val="900"/>
              </a:spcAft>
            </a:pPr>
            <a:r>
              <a:rPr lang="en-US" sz="1600" dirty="0">
                <a:latin typeface="Arial"/>
                <a:cs typeface="Arial"/>
              </a:rPr>
              <a:t>Resources and Capabilities lists what the company owns and does well. VRIO tests whether those advantages are valuable, rare, hard to copy and organised. It also stamps each empty space from Part 1 as supported or a gap, so you don't chase a market you can't serve.</a:t>
            </a:r>
          </a:p>
          <a:p>
            <a:pPr>
              <a:spcAft>
                <a:spcPts val="900"/>
              </a:spcAft>
            </a:pPr>
            <a:r>
              <a:rPr lang="en-US" sz="1600" dirty="0">
                <a:latin typeface="Arial"/>
                <a:cs typeface="Arial"/>
              </a:rPr>
              <a:t>Full Potential sizes the profit gap to the best peers, driver by driver. Growth Barriers finds the one binding constraint that caps growth right now. SWOT and TOWS pull it all together and turn it into the first candidate strategies.</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One of the most common mistakes in strategy is falling in love with an empty space on a map. So let me ask Strat-IQ directly: which of the white spaces on our strategic map can BYD actually serve?</a:t>
            </a:r>
          </a:p>
          <a:p>
            <a:pPr>
              <a:spcAft>
                <a:spcPts val="900"/>
              </a:spcAft>
            </a:pPr>
            <a:r>
              <a:rPr lang="en-US" sz="1600" dirty="0">
                <a:latin typeface="Arial"/>
                <a:cs typeface="Arial"/>
              </a:rPr>
              <a:t>There are two. The first is a European compact car under twenty-five thousand euros with good software. VRIO stamps that one supported. BYD's vertical battery integration passes all four tests, valuable, rare, hard to copy and organised, and it's what makes that price point possible.</a:t>
            </a:r>
          </a:p>
          <a:p>
            <a:pPr>
              <a:spcAft>
                <a:spcPts val="900"/>
              </a:spcAft>
            </a:pPr>
            <a:r>
              <a:rPr lang="en-US" sz="1600" dirty="0">
                <a:latin typeface="Arial"/>
                <a:cs typeface="Arial"/>
              </a:rPr>
              <a:t>The second is a premium software subscription layer. That one is stamped a gap. BYD's in-car software fails the rarity test, and Tesla and Xiaomi lead on that KSF.</a:t>
            </a:r>
          </a:p>
          <a:p>
            <a:pPr>
              <a:spcAft>
                <a:spcPts val="900"/>
              </a:spcAft>
            </a:pPr>
            <a:r>
              <a:rPr lang="en-US" sz="1600" dirty="0">
                <a:latin typeface="Arial"/>
                <a:cs typeface="Arial"/>
              </a:rPr>
              <a:t>An empty space isn't an opportunity until you can show you have what it takes to win there. That's the hand-off from Part 2 to Part 3.</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Part 3 starts with Choose, and it starts with you. The Strategy Interview is new. It asks one question at a time and shows you the evidence behind each one: the maps, the trends, your KSF scores, your VRIO results. Where is the opportunity? Can you win there? Which strategy fits? Then you write the strategy in your own words. It never picks for you.</a:t>
            </a:r>
          </a:p>
          <a:p>
            <a:pPr>
              <a:spcAft>
                <a:spcPts val="900"/>
              </a:spcAft>
            </a:pPr>
            <a:r>
              <a:rPr lang="en-US" sz="1600" dirty="0">
                <a:latin typeface="Arial"/>
                <a:cs typeface="Arial"/>
              </a:rPr>
              <a:t>Strategic Options turns your choice into real alternatives, always including do nothing. The decision matrix ranks them against your criteria. The Business Case puts money on each one: NPV, IRR, payback and the break-even sentence. Pricing and Synergy Case run only when price or a deal is involved.</a:t>
            </a:r>
          </a:p>
          <a:p>
            <a:pPr>
              <a:spcAft>
                <a:spcPts val="900"/>
              </a:spcAft>
            </a:pPr>
            <a:r>
              <a:rPr lang="en-US" sz="1600" dirty="0">
                <a:latin typeface="Arial"/>
                <a:cs typeface="Arial"/>
              </a:rPr>
              <a:t>Expected Value adds uncertainty: strong, moderate and weak scenarios, the worst case, the point where the ranking flips, and what it's worth to learn more before you commit. In a moment I'll show you the new statistics that go one step further.</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Now the new Strategy Interview. I'll type: Run the Strategy Interview for BYD.</a:t>
            </a:r>
          </a:p>
          <a:p>
            <a:pPr>
              <a:spcAft>
                <a:spcPts val="900"/>
              </a:spcAft>
            </a:pPr>
            <a:r>
              <a:rPr lang="en-US" sz="1600" dirty="0">
                <a:latin typeface="Arial"/>
                <a:cs typeface="Arial"/>
              </a:rPr>
              <a:t>Notice the pace. One question at a time, and each one comes with the evidence behind it. Where is the opportunity? It shows me the map. I answer: the sub-25k compact segment in Europe.</a:t>
            </a:r>
          </a:p>
          <a:p>
            <a:pPr>
              <a:spcAft>
                <a:spcPts val="900"/>
              </a:spcAft>
            </a:pPr>
            <a:r>
              <a:rPr lang="en-US" sz="1600" dirty="0">
                <a:latin typeface="Arial"/>
                <a:cs typeface="Arial"/>
              </a:rPr>
              <a:t>Can BYD win there? It shows the KSF scores and the VRIO results. I answer: yes on cost, because of the batteries, but not yet on brand trust. It pushes back on that, which is exactly what it should do.</a:t>
            </a:r>
          </a:p>
          <a:p>
            <a:pPr>
              <a:spcAft>
                <a:spcPts val="900"/>
              </a:spcAft>
            </a:pPr>
            <a:r>
              <a:rPr lang="en-US" sz="1600" dirty="0">
                <a:latin typeface="Arial"/>
                <a:cs typeface="Arial"/>
              </a:rPr>
              <a:t>Which generic strategy? I say best-cost provider: good-enough software at a lower price. And what will BYD not do? Chase premium software subscriptions.</a:t>
            </a:r>
          </a:p>
          <a:p>
            <a:pPr>
              <a:spcAft>
                <a:spcPts val="900"/>
              </a:spcAft>
            </a:pPr>
            <a:r>
              <a:rPr lang="en-US" sz="1600" dirty="0">
                <a:latin typeface="Arial"/>
                <a:cs typeface="Arial"/>
              </a:rPr>
              <a:t>At the end, it writes the strategy statement in my words and saves it to the ledger. If I ask it to pick for me, it hands the question back. The choice is yours.</a:t>
            </a: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Version 3 adds a set of statistical tools, because a single NPV hides how uncertain it is. They go in a new optional memo exhibit, Q-3, Risk Analysis.</a:t>
            </a:r>
          </a:p>
          <a:p>
            <a:pPr>
              <a:spcAft>
                <a:spcPts val="900"/>
              </a:spcAft>
            </a:pPr>
            <a:r>
              <a:rPr lang="en-US" sz="1600" dirty="0">
                <a:latin typeface="Arial"/>
                <a:cs typeface="Arial"/>
              </a:rPr>
              <a:t>On the left is a tornado chart for the EU plant option. You set a low, likely and high value for each driver. The chart moves one driver at a time and sorts them by how far NPV swings. Units sit on top, so that's the assumption to test first, and the one the Stress Test will attack.</a:t>
            </a:r>
          </a:p>
          <a:p>
            <a:pPr>
              <a:spcAft>
                <a:spcPts val="900"/>
              </a:spcAft>
            </a:pPr>
            <a:r>
              <a:rPr lang="en-US" sz="1600" dirty="0">
                <a:latin typeface="Arial"/>
                <a:cs typeface="Arial"/>
              </a:rPr>
              <a:t>On the right is a Monte Carlo simulation: ten thousand futures, with every driver drawn from your ranges at once. At plan, this option is close to break-even. But because these ranges have more downside than upside, the median outcome is far below plan, and most futures lose money.</a:t>
            </a:r>
          </a:p>
          <a:p>
            <a:pPr>
              <a:spcAft>
                <a:spcPts val="900"/>
              </a:spcAft>
            </a:pPr>
            <a:r>
              <a:rPr lang="en-US" sz="1600" dirty="0">
                <a:latin typeface="Arial"/>
                <a:cs typeface="Arial"/>
              </a:rPr>
              <a:t>Finally, Bayes' rule. Expected value already told us what perfect information is worth. Real pilots aren't perfect, so Strat-IQ now prices the pilot you could actually run: how it would update your probabilities, whether either result would change your choice, and what that's worth against its cost.</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Let's run those tools on the demo. First the business case and the risk analysis for Option A, the EU plant.</a:t>
            </a:r>
          </a:p>
          <a:p>
            <a:pPr>
              <a:spcAft>
                <a:spcPts val="900"/>
              </a:spcAft>
            </a:pPr>
            <a:r>
              <a:rPr lang="en-US" sz="1600" dirty="0">
                <a:latin typeface="Arial"/>
                <a:cs typeface="Arial"/>
              </a:rPr>
              <a:t>At plan, the NPV is minus 34.5 million and the IRR is just under the ten percent hurdle. The break-even sentence says it plainly: the case holds only if revenue beats plan by half a percent.</a:t>
            </a:r>
          </a:p>
          <a:p>
            <a:pPr>
              <a:spcAft>
                <a:spcPts val="900"/>
              </a:spcAft>
            </a:pPr>
            <a:r>
              <a:rPr lang="en-US" sz="1600" dirty="0">
                <a:latin typeface="Arial"/>
                <a:cs typeface="Arial"/>
              </a:rPr>
              <a:t>The tornado puts units on top. And the simulation shows why the plan is optimistic: with these ranges the median NPV is around minus 366 million, and NPV is negative in 87 percent of the runs.</a:t>
            </a:r>
          </a:p>
          <a:p>
            <a:pPr>
              <a:spcAft>
                <a:spcPts val="900"/>
              </a:spcAft>
            </a:pPr>
            <a:r>
              <a:rPr lang="en-US" sz="1600" dirty="0">
                <a:latin typeface="Arial"/>
                <a:cs typeface="Arial"/>
              </a:rPr>
              <a:t>Now expected value across all three options. Partnering leads at 86 million, the plant at 60 and a half. Do nothing is the maximin choice, because it never loses.</a:t>
            </a:r>
          </a:p>
          <a:p>
            <a:pPr>
              <a:spcAft>
                <a:spcPts val="900"/>
              </a:spcAft>
            </a:pPr>
            <a:r>
              <a:rPr lang="en-US" sz="1600" dirty="0">
                <a:latin typeface="Arial"/>
                <a:cs typeface="Arial"/>
              </a:rPr>
              <a:t>And the pilot: a positive result would switch the choice to the plant, a negative one keeps the partnership. That's why the pilot is worth about 53 million, more than its 25 million cost. The numbers don't decide; they show you exactly what you're betting on.</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Next comes Test, now in two steps. The Risk Analysis you just saw tests the numbers. Then the Stress Test attacks the argument for your leading option before anyone starts planning. It audits the assumptions the case rests on, war-games how each rival will respond, builds a risk register where every big risk has an owner, and runs a hostile question drill.</a:t>
            </a:r>
          </a:p>
          <a:p>
            <a:pPr>
              <a:spcAft>
                <a:spcPts val="900"/>
              </a:spcAft>
            </a:pPr>
            <a:r>
              <a:rPr lang="en-US" sz="1600" dirty="0">
                <a:latin typeface="Arial"/>
                <a:cs typeface="Arial"/>
              </a:rPr>
              <a:t>Then Plan. Go-to-Market picks one named beachhead customer and works backwards from the business case to the cost of winning each customer, which has to fit your unit economics. The Initiative Prioritizer ranks what to do first, and the binding constraint goes to the top. The Operating Model and Stakeholder Map cover who decides and who has to say yes. Negotiation Prep runs only when a deal must be struck. The Execution Roadmap sets the first hundred days and the stage gates.</a:t>
            </a:r>
          </a:p>
          <a:p>
            <a:pPr>
              <a:spcAft>
                <a:spcPts val="900"/>
              </a:spcAft>
            </a:pPr>
            <a:r>
              <a:rPr lang="en-US" sz="1600" dirty="0">
                <a:latin typeface="Arial"/>
                <a:cs typeface="Arial"/>
              </a:rPr>
              <a:t>The discipline: nothing new appears in the plan. Everything traces back.</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Here's the Stress Test's hostile Q and A drill. I'll ask it to question my recommendation, Option B, partnering with a European carmaker, in the voice of the professor.</a:t>
            </a:r>
          </a:p>
          <a:p>
            <a:pPr>
              <a:spcAft>
                <a:spcPts val="900"/>
              </a:spcAft>
            </a:pPr>
            <a:r>
              <a:rPr lang="en-US" sz="1600" dirty="0">
                <a:latin typeface="Arial"/>
                <a:cs typeface="Arial"/>
              </a:rPr>
              <a:t>It asks one question at a time. I'll answer the first one properly, citing the expected value exhibit. For the second, I'll give a weak answer on purpose: because it's less risky.</a:t>
            </a:r>
          </a:p>
          <a:p>
            <a:pPr>
              <a:spcAft>
                <a:spcPts val="900"/>
              </a:spcAft>
            </a:pPr>
            <a:r>
              <a:rPr lang="en-US" sz="1600" dirty="0">
                <a:latin typeface="Arial"/>
                <a:cs typeface="Arial"/>
              </a:rPr>
              <a:t>Watch the feedback. It doesn't answer for me. It tells me the answer was a claim without evidence, and which exhibit I should have used: the risk analysis, or the maximin row of the expected value table.</a:t>
            </a:r>
          </a:p>
          <a:p>
            <a:pPr>
              <a:spcAft>
                <a:spcPts val="900"/>
              </a:spcAft>
            </a:pPr>
            <a:r>
              <a:rPr lang="en-US" sz="1600" dirty="0">
                <a:latin typeface="Arial"/>
                <a:cs typeface="Arial"/>
              </a:rPr>
              <a:t>When I type score me, I get a scorecard and my weakest answer. Do this before your memo is due, and before any presentation. It's far better to meet these questions here than in the room.</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Track closes the loop. Value Realization now builds a Balanced Scorecard and a Strategy Map. You set objectives in four perspectives: financial, customer, internal process, and learning and growth. The map links them cause to effect, and the scorecard sets leading and lagging measures with owners and triggers. Later, it compares actual results with the plan, driver by driver.</a:t>
            </a:r>
          </a:p>
          <a:p>
            <a:pPr>
              <a:spcAft>
                <a:spcPts val="900"/>
              </a:spcAft>
            </a:pPr>
            <a:r>
              <a:rPr lang="en-US" sz="1600" dirty="0">
                <a:latin typeface="Arial"/>
                <a:cs typeface="Arial"/>
              </a:rPr>
              <a:t>Then the deliverables. The Executive Deck tells the story. Case Memo Exhibits builds your exhibits in template order and leaves every Impact Summary for you; the updated memo template lists the new optional exhibits, including Q-3, Risk Analysis. The Memo Coach checks your draft and returns questions, never rewritten text. The Pitch builds a board or investor version.</a:t>
            </a:r>
          </a:p>
          <a:p>
            <a:pPr>
              <a:spcAft>
                <a:spcPts val="900"/>
              </a:spcAft>
            </a:pPr>
            <a:r>
              <a:rPr lang="en-US" sz="1600" dirty="0">
                <a:latin typeface="Arial"/>
                <a:cs typeface="Arial"/>
              </a:rPr>
              <a:t>And the Strat-IQ Workbook puts the whole analysis into live Excel worksheets, so you can change an input and watch the scores, ranks and NPV update.</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Now the Memo Coach. I've written a deliberately weak memo draft, and I'll attach it and type: Coach my memo.</a:t>
            </a:r>
          </a:p>
          <a:p>
            <a:pPr>
              <a:spcAft>
                <a:spcPts val="900"/>
              </a:spcAft>
            </a:pPr>
            <a:r>
              <a:rPr lang="en-US" sz="1600" dirty="0">
                <a:latin typeface="Arial"/>
                <a:cs typeface="Arial"/>
              </a:rPr>
              <a:t>Look at what it finds, each one located by paragraph. The recommendation is buried in the third paragraph, after a history of the company. There's 'we believe', 'I think' and 'we feel'. There are predictions stated as fact, with no source.</a:t>
            </a:r>
          </a:p>
          <a:p>
            <a:pPr>
              <a:spcAft>
                <a:spcPts val="900"/>
              </a:spcAft>
            </a:pPr>
            <a:r>
              <a:rPr lang="en-US" sz="1600" dirty="0">
                <a:latin typeface="Arial"/>
                <a:cs typeface="Arial"/>
              </a:rPr>
              <a:t>Then the serious ones. The memo says the NPV is plus 120 million, but Exhibit Q-1 says minus 34.5. And it recommends the plant, while the decision matrix and the expected value both favour the partnership, with no explanation.</a:t>
            </a:r>
          </a:p>
          <a:p>
            <a:pPr>
              <a:spcAft>
                <a:spcPts val="900"/>
              </a:spcAft>
            </a:pPr>
            <a:r>
              <a:rPr lang="en-US" sz="1600" dirty="0">
                <a:latin typeface="Arial"/>
                <a:cs typeface="Arial"/>
              </a:rPr>
              <a:t>Every finding comes back as a question for me to answer. And when I ask it to rewrite my recommendation, it declines. Your memo is graded as your work, and the coach is built to keep it that way. The updated memo template, with the new optional exhibits, is posted with this video.</a:t>
            </a: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Many of you have told me GLO-BUS is hard to read, so this lane is built for it. Two skills do the work. GLO-BUS Capture runs in your own Chrome after you sign in yourself. It reads your decision screens and the class reports, read-only. It never sees your password and never changes a decision. GLO-BUS Coach learns the real camera and drone industries with you, analyses the competitor report, coaches your yearly decisions, and reviews a captured year.</a:t>
            </a:r>
          </a:p>
          <a:p>
            <a:pPr>
              <a:spcAft>
                <a:spcPts val="900"/>
              </a:spcAft>
            </a:pPr>
            <a:r>
              <a:rPr lang="en-US" sz="1600" dirty="0">
                <a:latin typeface="Arial"/>
                <a:cs typeface="Arial"/>
              </a:rPr>
              <a:t>Underneath is the season loop. It starts with the management interview: what management wants decides what success means. Choose your strategy with the Strategy Interview. Plan the year in the Decision Planner, which flags big swings and any year you cut price and advertising together. Enter the decisions in GLO-BUS yourself and test them. Then capture and check your entries against the plan. Then the weekly review: a short memo and a deck, like an executive briefing, that show the position your inputs reveal, your progress in graphs, where you stand against the other companies from the class reports, how you're doing against management's goals, and what to watch next round. Feedback, not answers. The workbook keeps every year on one tab.</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Two GLO-BUS demos in one clip. First I attach a Year 7 competitor report and ask for the strategic groups and white space.</a:t>
            </a:r>
          </a:p>
          <a:p>
            <a:pPr>
              <a:spcAft>
                <a:spcPts val="900"/>
              </a:spcAft>
            </a:pPr>
            <a:r>
              <a:rPr lang="en-US" sz="1600" dirty="0">
                <a:latin typeface="Arial"/>
                <a:cs typeface="Arial"/>
              </a:rPr>
              <a:t>The groups chart shows company C as the camera value leader in three regions, but in Latin America its prices put it in the low-cost group. That's a drift from the best-cost strategy the team chose, and exactly the kind of thing the coach raises as a question, not an instruction.</a:t>
            </a:r>
          </a:p>
          <a:p>
            <a:pPr>
              <a:spcAft>
                <a:spcPts val="900"/>
              </a:spcAft>
            </a:pPr>
            <a:r>
              <a:rPr lang="en-US" sz="1600" dirty="0">
                <a:latin typeface="Arial"/>
                <a:cs typeface="Arial"/>
              </a:rPr>
              <a:t>Second, the plan check. I attach the workbook with our Year 8 plan and the screens we captured after entering our decisions, and ask: check our Year 8 entries against the plan.</a:t>
            </a:r>
          </a:p>
          <a:p>
            <a:pPr>
              <a:spcAft>
                <a:spcPts val="900"/>
              </a:spcAft>
            </a:pPr>
            <a:r>
              <a:rPr lang="en-US" sz="1600" dirty="0">
                <a:latin typeface="Arial"/>
                <a:cs typeface="Arial"/>
              </a:rPr>
              <a:t>Six decisions match. One doesn't: the North America camera price was planned at 239 and entered as 293. Two digits swapped. Strat-IQ never touches the game; we fix it ourselves. That one-minute check could save a whole year.</a:t>
            </a: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Here's why the right-hand column of the diagram matters. Every Strat-IQ step should end up in one of these six places.</a:t>
            </a:r>
          </a:p>
          <a:p>
            <a:pPr>
              <a:spcAft>
                <a:spcPts val="900"/>
              </a:spcAft>
            </a:pPr>
            <a:r>
              <a:rPr lang="en-US" sz="1600" dirty="0">
                <a:latin typeface="Arial"/>
                <a:cs typeface="Arial"/>
              </a:rPr>
              <a:t>Revenue: the market size, the empty space you target, your price and your go-to-market plan. Cost of goods: supplier power, your value chain, your unit economics and the deals you negotiate. Operating expenses: the gap to the best peers, your operating model, and what it costs to win a customer. Investment: the business case, which initiatives get funded first, and the gates that stop bad bets.</a:t>
            </a:r>
          </a:p>
          <a:p>
            <a:pPr>
              <a:spcAft>
                <a:spcPts val="900"/>
              </a:spcAft>
            </a:pPr>
            <a:r>
              <a:rPr lang="en-US" sz="1600" dirty="0">
                <a:latin typeface="Arial"/>
                <a:cs typeface="Arial"/>
              </a:rPr>
              <a:t>Then the two that drive valuation beyond this year's P&amp;L. Risk: the risk analysis, expected value and the stress test change what the cash flows are worth. Durability: KSFs and VRIO tell you how long an advantage lasts, and that's most of a company's terminal value.</a:t>
            </a:r>
          </a:p>
          <a:p>
            <a:pPr>
              <a:spcAft>
                <a:spcPts val="900"/>
              </a:spcAft>
            </a:pPr>
            <a:r>
              <a:rPr lang="en-US" sz="1600" dirty="0">
                <a:latin typeface="Arial"/>
                <a:cs typeface="Arial"/>
              </a:rPr>
              <a:t>When you write your memo, use this as a test. If an exhibit doesn't reach one of these six, ask why it's there.</a:t>
            </a: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The Strat-IQ Workbook is the same analysis in Excel, with one sheet for every step of the process, in the same order as the map. It's built from your saved ledger, so most sheets arrive filled in.</a:t>
            </a:r>
          </a:p>
          <a:p>
            <a:pPr>
              <a:spcAft>
                <a:spcPts val="900"/>
              </a:spcAft>
            </a:pPr>
            <a:r>
              <a:rPr lang="en-US" sz="1600" dirty="0">
                <a:latin typeface="Arial"/>
                <a:cs typeface="Arial"/>
              </a:rPr>
              <a:t>After the Management Interviews sheet, Part 1 runs from the Industry Overview, with a growth calculator and concentration measures, through Competitive Analysis, PESTEL, Five Forces, the trending factors with their four tests, the KSF scorecard and a strategic map you can re-plot. Part 2 covers the value chain, unit economics with lifetime value and payback, resources and capabilities, VRIO, full potential, growth barriers and SWOT. Part 3 runs from your positioning and options through the business case, expected value and risk analysis to the stress test, go-to-market, initiatives, operating model, roadmap and scorecard.</a:t>
            </a:r>
          </a:p>
          <a:p>
            <a:pPr>
              <a:spcAft>
                <a:spcPts val="900"/>
              </a:spcAft>
            </a:pPr>
            <a:r>
              <a:rPr lang="en-US" sz="1600" dirty="0">
                <a:latin typeface="Arial"/>
                <a:cs typeface="Arial"/>
              </a:rPr>
              <a:t>And GLO-BUS. The Management Interviews sheet comes right after the start page. Then the competitor report with strategic groups and the Decision Planner. At the end, Season by Year puts every decision and result for every year on one tab, each year followed by its change, with the labels frozen so you can scroll right. Competition by Year compares every company on the measures that decide the contest. KPI Charts graphs how you're doing, like this EPS chart, and Findings and Questions keeps the watch items and questions from each weekly review, with your team's response.</a:t>
            </a:r>
          </a:p>
          <a:p>
            <a:pPr>
              <a:spcAft>
                <a:spcPts val="900"/>
              </a:spcAft>
            </a:pPr>
            <a:r>
              <a:rPr lang="en-US" sz="1600" dirty="0">
                <a:latin typeface="Arial"/>
                <a:cs typeface="Arial"/>
              </a:rPr>
              <a:t>Everything grey is a formula. Change one input and watch what moves. That's the fastest way to understand which assumptions really matter.</a:t>
            </a: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Last demo: the workbook. I asked Strat-IQ to build it from the ledger with two years of GLO-BUS captures, and here it is in Excel.</a:t>
            </a:r>
          </a:p>
          <a:p>
            <a:pPr>
              <a:spcAft>
                <a:spcPts val="900"/>
              </a:spcAft>
            </a:pPr>
            <a:r>
              <a:rPr lang="en-US" sz="1600" dirty="0">
                <a:latin typeface="Arial"/>
                <a:cs typeface="Arial"/>
              </a:rPr>
              <a:t>On the Risk Analysis sheet, the tornado and the simulation are live formulas. I'll change the low case for units from minus twenty percent to minus ten. The units bar shrinks, and the chance of losing money drops. Press F9 and the simulation draws again; the numbers move a little, which is what a simulation does.</a:t>
            </a:r>
          </a:p>
          <a:p>
            <a:pPr>
              <a:spcAft>
                <a:spcPts val="900"/>
              </a:spcAft>
            </a:pPr>
            <a:r>
              <a:rPr lang="en-US" sz="1600" dirty="0">
                <a:latin typeface="Arial"/>
                <a:cs typeface="Arial"/>
              </a:rPr>
              <a:t>On the Expected Value sheet, I'll raise the pilot's cost from 25 to 60 million. Its net value turns negative: at that price, the test isn't worth running.</a:t>
            </a:r>
          </a:p>
          <a:p>
            <a:pPr>
              <a:spcAft>
                <a:spcPts val="900"/>
              </a:spcAft>
            </a:pPr>
            <a:r>
              <a:rPr lang="en-US" sz="1600" dirty="0">
                <a:latin typeface="Arial"/>
                <a:cs typeface="Arial"/>
              </a:rPr>
              <a:t>And on the Tracking tab: EPS rose from 1.85 to 2.10, but it stayed just under what investors expected both years. That's the conversation for the next decision round.</a:t>
            </a: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Before you start, four rules. They're built into every skill, and they're how I'll read your work.</a:t>
            </a:r>
          </a:p>
          <a:p>
            <a:pPr>
              <a:spcAft>
                <a:spcPts val="900"/>
              </a:spcAft>
            </a:pPr>
            <a:r>
              <a:rPr lang="en-US" sz="1600" dirty="0">
                <a:latin typeface="Arial"/>
                <a:cs typeface="Arial"/>
              </a:rPr>
              <a:t>One: you choose the strategy. The Strategy Interview asks questions and tests your reasoning, but it never picks. If Claude adds an option, it's marked suggested.</a:t>
            </a:r>
          </a:p>
          <a:p>
            <a:pPr>
              <a:spcAft>
                <a:spcPts val="900"/>
              </a:spcAft>
            </a:pPr>
            <a:r>
              <a:rPr lang="en-US" sz="1600" dirty="0">
                <a:latin typeface="Arial"/>
                <a:cs typeface="Arial"/>
              </a:rPr>
              <a:t>Two: you enter every GLO-BUS decision. Strat-IQ helps you plan, checks your entries against your plan, and reviews your results. It never enters or submits anything.</a:t>
            </a:r>
          </a:p>
          <a:p>
            <a:pPr>
              <a:spcAft>
                <a:spcPts val="900"/>
              </a:spcAft>
            </a:pPr>
            <a:r>
              <a:rPr lang="en-US" sz="1600" dirty="0">
                <a:latin typeface="Arial"/>
                <a:cs typeface="Arial"/>
              </a:rPr>
              <a:t>Three: your memo stays yours. The exhibits leave every Impact Summary blank, and the Memo Coach gives you questions, not text.</a:t>
            </a:r>
          </a:p>
          <a:p>
            <a:pPr>
              <a:spcAft>
                <a:spcPts val="900"/>
              </a:spcAft>
            </a:pPr>
            <a:r>
              <a:rPr lang="en-US" sz="1600" dirty="0">
                <a:latin typeface="Arial"/>
                <a:cs typeface="Arial"/>
              </a:rPr>
              <a:t>Four: evidence or it doesn't count. Every claim carries a source, and a missing fact is marked as missing, never invented. That's what makes the analysis worth defending.</a:t>
            </a: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Installing takes about fifteen minutes. One thing has changed: StratOS is now the Strat-IQ Toolkit, and every skill has a new name.</a:t>
            </a:r>
          </a:p>
          <a:p>
            <a:pPr>
              <a:spcAft>
                <a:spcPts val="900"/>
              </a:spcAft>
            </a:pPr>
            <a:r>
              <a:rPr lang="en-US" sz="1600" dirty="0">
                <a:latin typeface="Arial"/>
                <a:cs typeface="Arial"/>
              </a:rPr>
              <a:t>One: in Settings, Capabilities, Skills, delete every skill whose name starts with stratos, the old names. Your saved ledger and your Project files keep working.</a:t>
            </a:r>
          </a:p>
          <a:p>
            <a:pPr>
              <a:spcAft>
                <a:spcPts val="900"/>
              </a:spcAft>
            </a:pPr>
            <a:r>
              <a:rPr lang="en-US" sz="1600" dirty="0">
                <a:latin typeface="Arial"/>
                <a:cs typeface="Arial"/>
              </a:rPr>
              <a:t>Two: on the GitHub page, open Releases, choose the latest, and download stratiq-toolkit-skills.zip. Unzip it once. Inside are forty smaller zips, one for each skill in Parts 1 to 3. Leave those zipped.</a:t>
            </a:r>
          </a:p>
          <a:p>
            <a:pPr>
              <a:spcAft>
                <a:spcPts val="900"/>
              </a:spcAft>
            </a:pPr>
            <a:r>
              <a:rPr lang="en-US" sz="1600" dirty="0">
                <a:latin typeface="Arial"/>
                <a:cs typeface="Arial"/>
              </a:rPr>
              <a:t>Three: upload all forty. You should see forty Strat-IQ skills switched on. Four: in your Project, replace industries.json with version 2, which adds cameras and drones, and keep your latest ledger there.</a:t>
            </a:r>
          </a:p>
          <a:p>
            <a:pPr>
              <a:spcAft>
                <a:spcPts val="900"/>
              </a:spcAft>
            </a:pPr>
            <a:r>
              <a:rPr lang="en-US" sz="1600" dirty="0">
                <a:latin typeface="Arial"/>
                <a:cs typeface="Arial"/>
              </a:rPr>
              <a:t>Five: open a new chat in the Project and type: Run Strat-IQ. If your team hasn't done the management interview debrief yet, that's where it starts.</a:t>
            </a: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Alongside this video I'm posting two Excalidraw files and instructions. StratIQ_Process_Overview is the one-page map we started with. StratIQ_Process_Flow is the detailed one, with the table for every skill.</a:t>
            </a:r>
          </a:p>
          <a:p>
            <a:pPr>
              <a:spcAft>
                <a:spcPts val="900"/>
              </a:spcAft>
            </a:pPr>
            <a:r>
              <a:rPr lang="en-US" sz="1600" dirty="0">
                <a:latin typeface="Arial"/>
                <a:cs typeface="Arial"/>
              </a:rPr>
              <a:t>To open one, go to excalidraw.com in your browser, open the menu and choose Open, or simply drag the file onto the page. It's free and you don't need an account.</a:t>
            </a:r>
          </a:p>
          <a:p>
            <a:pPr>
              <a:spcAft>
                <a:spcPts val="900"/>
              </a:spcAft>
            </a:pPr>
            <a:r>
              <a:rPr lang="en-US" sz="1600" dirty="0">
                <a:latin typeface="Arial"/>
                <a:cs typeface="Arial"/>
              </a:rPr>
              <a:t>Scroll to zoom in and drag the canvas to move around. Find the skill you're working on and read across its row: what it does, what it passes down, and how it reaches the P&amp;L or valuation.</a:t>
            </a:r>
          </a:p>
          <a:p>
            <a:pPr>
              <a:spcAft>
                <a:spcPts val="900"/>
              </a:spcAft>
            </a:pPr>
            <a:r>
              <a:rPr lang="en-US" sz="1600" dirty="0">
                <a:latin typeface="Arial"/>
                <a:cs typeface="Arial"/>
              </a:rPr>
              <a:t>If you want to keep a picture, use Export image from the menu. Anything you change stays on your own computer. And if you'd rather not open the file at all, PNG images of both diagrams are posted too.</a:t>
            </a: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 are six prompts to try this week, roughly in the order you'll need them.</a:t>
            </a:r>
          </a:p>
          <a:p>
            <a:pPr>
              <a:spcAft>
                <a:spcPts val="900"/>
              </a:spcAft>
            </a:pPr>
            <a:r>
              <a:rPr lang="en-US" sz="1600" dirty="0">
                <a:latin typeface="Arial"/>
                <a:cs typeface="Arial"/>
              </a:rPr>
              <a:t>Run Strat-IQ and make the strategy work: that's Part 3 from your saved ledger. Once you have a business case, run a risk analysis on it. Run the Strategy Interview for our GLO-BUS company: take the time to answer the questions as a team, because the strategy you write becomes the anchor for every year that follows.</a:t>
            </a:r>
          </a:p>
          <a:p>
            <a:pPr>
              <a:spcAft>
                <a:spcPts val="900"/>
              </a:spcAft>
            </a:pPr>
            <a:r>
              <a:rPr lang="en-US" sz="1600" dirty="0">
                <a:latin typeface="Arial"/>
                <a:cs typeface="Arial"/>
              </a:rPr>
              <a:t>Build our Strat-IQ workbook with the GLO-BUS planner: plan the year before you enter anything. After you enter your decisions: check our GLO-BUS entries against the plan. It takes a minute and it catches the typo that would cost you a year.</a:t>
            </a:r>
          </a:p>
          <a:p>
            <a:pPr>
              <a:spcAft>
                <a:spcPts val="900"/>
              </a:spcAft>
            </a:pPr>
            <a:r>
              <a:rPr lang="en-US" sz="1600" dirty="0">
                <a:latin typeface="Arial"/>
                <a:cs typeface="Arial"/>
              </a:rPr>
              <a:t>And after each round: rebuild our workbook with all our GLO-BUS captures, to add the new year's results tab and update the trend charts.</a:t>
            </a: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That's the complete Strat-IQ process. Part 1 tells you what the industry rewards. Part 2 tells you what your company can do about it. Part 3 helps you choose, test, plan and track the strategy. And the results come back in as evidence for the next run, or the next year of GLO-BUS.</a:t>
            </a:r>
          </a:p>
          <a:p>
            <a:pPr>
              <a:spcAft>
                <a:spcPts val="900"/>
              </a:spcAft>
            </a:pPr>
            <a:r>
              <a:rPr lang="en-US" sz="1600" dirty="0">
                <a:latin typeface="Arial"/>
                <a:cs typeface="Arial"/>
              </a:rPr>
              <a:t>Keep the process map open while you work. When you're unsure what a step is for, find its row and read the last column: how does this reach the P&amp;L or the value of the company?</a:t>
            </a:r>
          </a:p>
          <a:p>
            <a:pPr>
              <a:spcAft>
                <a:spcPts val="900"/>
              </a:spcAft>
            </a:pPr>
            <a:r>
              <a:rPr lang="en-US" sz="1600" dirty="0">
                <a:latin typeface="Arial"/>
                <a:cs typeface="Arial"/>
              </a:rPr>
              <a:t>Bring your strategy statement, your GLO-BUS plan for next year, and your toughest question to the Thursday Zoom Sync. The link is on Canvas. See you there.</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rtlCol="0"/>
          <a:lstStyle>
            <a:lvl1pPr algn="l" indent="0" marL="0">
              <a:buNone/>
              <a:defRPr lang="en-US" sz="3000" b="1" dirty="0">
                <a:solidFill>
                  <a:srgbClr val="1D3557"/>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02920" y="6446520"/>
            <a:ext cx="7315200" cy="274320"/>
          </a:xfrm>
          <a:prstGeom prst="rect">
            <a:avLst/>
          </a:prstGeom>
          <a:noFill/>
          <a:ln/>
        </p:spPr>
        <p:txBody>
          <a:bodyPr wrap="square" lIns="0" tIns="0" rIns="0" bIns="0" rtlCol="0" anchor="ctr"/>
          <a:lstStyle/>
          <a:p>
            <a:pPr indent="0" marL="0">
              <a:buNone/>
            </a:pPr>
            <a:r>
              <a:rPr lang="en-US" sz="900" dirty="0">
                <a:solidFill>
                  <a:srgbClr val="8A949E"/>
                </a:solidFill>
              </a:rPr>
              <a:t>Strat-IQ Toolkit  ·  MGT4850  ·  ©2026 G. Bradley Scheller</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D3557"/>
        </a:solidFill>
      </p:bgPr>
    </p:bg>
    <p:spTree>
      <p:nvGrpSpPr>
        <p:cNvPr id="1" name=""/>
        <p:cNvGrpSpPr/>
        <p:nvPr/>
      </p:nvGrpSpPr>
      <p:grpSpPr>
        <a:xfrm>
          <a:off x="0" y="0"/>
          <a:ext cx="0" cy="0"/>
          <a:chOff x="0" y="0"/>
          <a:chExt cx="0" cy="0"/>
        </a:xfrm>
      </p:grpSpPr>
      <p:sp>
        <p:nvSpPr>
          <p:cNvPr id="2" name="Text 0"/>
          <p:cNvSpPr/>
          <p:nvPr/>
        </p:nvSpPr>
        <p:spPr>
          <a:xfrm>
            <a:off x="502920" y="6446520"/>
            <a:ext cx="7315200" cy="274320"/>
          </a:xfrm>
          <a:prstGeom prst="rect">
            <a:avLst/>
          </a:prstGeom>
          <a:noFill/>
          <a:ln/>
        </p:spPr>
        <p:txBody>
          <a:bodyPr wrap="square" lIns="0" tIns="0" rIns="0" bIns="0" rtlCol="0" anchor="ctr"/>
          <a:lstStyle/>
          <a:p>
            <a:pPr indent="0" marL="0">
              <a:buNone/>
            </a:pPr>
            <a:r>
              <a:rPr lang="en-US" sz="900" dirty="0">
                <a:solidFill>
                  <a:srgbClr val="A9B6C6"/>
                </a:solidFill>
              </a:rPr>
              <a:t>Strat-IQ Toolkit  ·  MGT4850  ·  ©2026 G. Bradley Scheller</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10058400" cy="365760"/>
          </a:xfrm>
          <a:prstGeom prst="rect">
            <a:avLst/>
          </a:prstGeom>
          <a:noFill/>
          <a:ln/>
        </p:spPr>
        <p:txBody>
          <a:bodyPr wrap="square" lIns="0" tIns="0" rIns="0" bIns="0" rtlCol="0" anchor="ctr"/>
          <a:lstStyle/>
          <a:p>
            <a:pPr indent="0" marL="0">
              <a:buNone/>
            </a:pPr>
            <a:r>
              <a:rPr lang="en-US" sz="1400" b="1" spc="200" kern="0" dirty="0">
                <a:solidFill>
                  <a:srgbClr val="C9A55C"/>
                </a:solidFill>
              </a:rPr>
              <a:t>MGT4850  ·  NORTHEASTERN UNIVERSITY  ·  FALL 2026</a:t>
            </a:r>
            <a:endParaRPr lang="en-US" sz="1400" dirty="0"/>
          </a:p>
        </p:txBody>
      </p:sp>
      <p:sp>
        <p:nvSpPr>
          <p:cNvPr id="3" name="Text 1"/>
          <p:cNvSpPr txBox="1"/>
          <p:nvPr/>
        </p:nvSpPr>
        <p:spPr>
          <a:xfrm>
            <a:off x="731520" y="1645920"/>
            <a:ext cx="105156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Strat-IQ Toolkit v3: The Complete Process</a:t>
            </a:r>
            <a:endParaRPr lang="en-US" sz="4400" dirty="0"/>
          </a:p>
        </p:txBody>
      </p:sp>
      <p:sp>
        <p:nvSpPr>
          <p:cNvPr id="4" name="Text 2"/>
          <p:cNvSpPr txBox="1"/>
          <p:nvPr/>
        </p:nvSpPr>
        <p:spPr>
          <a:xfrm>
            <a:off x="731520" y="2788920"/>
            <a:ext cx="10058400" cy="822960"/>
          </a:xfrm>
          <a:prstGeom prst="rect">
            <a:avLst/>
          </a:prstGeom>
          <a:noFill/>
          <a:ln/>
        </p:spPr>
        <p:txBody>
          <a:bodyPr wrap="square" lIns="0" tIns="0" rIns="0" bIns="0" rtlCol="0" anchor="ctr"/>
          <a:lstStyle/>
          <a:p>
            <a:pPr indent="0" marL="0">
              <a:buNone/>
            </a:pPr>
            <a:r>
              <a:rPr lang="en-US" sz="2000" dirty="0">
                <a:solidFill>
                  <a:srgbClr val="D9E2EC"/>
                </a:solidFill>
              </a:rPr>
              <a:t>How every skill connects, from industry evidence to a chosen, tested, funded and tracked strategy, plus the GLO-BUS season loop</a:t>
            </a:r>
            <a:endParaRPr lang="en-US" sz="2000" dirty="0"/>
          </a:p>
        </p:txBody>
      </p:sp>
      <p:pic>
        <p:nvPicPr>
          <p:cNvPr id="5" name="overview-thumb" descr="Thumbnail of the Strat-IQ process overview">    </p:cNvPr>
          <p:cNvPicPr>
            <a:picLocks noChangeAspect="1"/>
          </p:cNvPicPr>
          <p:nvPr/>
        </p:nvPicPr>
        <p:blipFill>
          <a:blip r:embed="rId1"/>
          <a:stretch>
            <a:fillRect/>
          </a:stretch>
        </p:blipFill>
        <p:spPr>
          <a:xfrm>
            <a:off x="7223760" y="3886200"/>
            <a:ext cx="4206240" cy="2225483"/>
          </a:xfrm>
          <a:prstGeom prst="rect">
            <a:avLst/>
          </a:prstGeom>
        </p:spPr>
      </p:pic>
      <p:sp>
        <p:nvSpPr>
          <p:cNvPr id="6" name="Text 3"/>
          <p:cNvSpPr txBox="1"/>
          <p:nvPr/>
        </p:nvSpPr>
        <p:spPr>
          <a:xfrm>
            <a:off x="731520" y="5120640"/>
            <a:ext cx="5486400" cy="365760"/>
          </a:xfrm>
          <a:prstGeom prst="rect">
            <a:avLst/>
          </a:prstGeom>
          <a:noFill/>
          <a:ln/>
        </p:spPr>
        <p:txBody>
          <a:bodyPr wrap="square" lIns="0" tIns="0" rIns="0" bIns="0" rtlCol="0" anchor="ctr"/>
          <a:lstStyle/>
          <a:p>
            <a:pPr indent="0" marL="0">
              <a:buNone/>
            </a:pPr>
            <a:r>
              <a:rPr lang="en-US" sz="1600" dirty="0">
                <a:solidFill>
                  <a:srgbClr val="FFFFFF"/>
                </a:solidFill>
              </a:rPr>
              <a:t>Created by G. Bradley Scheller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whole process on one page</a:t>
            </a:r>
            <a:endParaRPr lang="en-US" sz="3000" dirty="0"/>
          </a:p>
        </p:txBody>
      </p:sp>
      <p:pic>
        <p:nvPicPr>
          <p:cNvPr id="3" name="overview-diagram" descr="Strat-IQ process diagram: overview">    </p:cNvPr>
          <p:cNvPicPr>
            <a:picLocks noChangeAspect="1"/>
          </p:cNvPicPr>
          <p:nvPr/>
        </p:nvPicPr>
        <p:blipFill>
          <a:blip r:embed="rId1"/>
          <a:stretch>
            <a:fillRect/>
          </a:stretch>
        </p:blipFill>
        <p:spPr>
          <a:xfrm>
            <a:off x="502920" y="1188720"/>
            <a:ext cx="10332720" cy="54669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How to read the detailed process map</a:t>
            </a:r>
            <a:endParaRPr lang="en-US" sz="3000" dirty="0"/>
          </a:p>
        </p:txBody>
      </p:sp>
      <p:pic>
        <p:nvPicPr>
          <p:cNvPr id="3" name="fullflow-thumb" descr="The full Strat-IQ process flow with the skill table">    </p:cNvPr>
          <p:cNvPicPr>
            <a:picLocks noChangeAspect="1"/>
          </p:cNvPicPr>
          <p:nvPr/>
        </p:nvPicPr>
        <p:blipFill>
          <a:blip r:embed="rId1"/>
          <a:stretch>
            <a:fillRect/>
          </a:stretch>
        </p:blipFill>
        <p:spPr>
          <a:xfrm>
            <a:off x="502920" y="1188720"/>
            <a:ext cx="3154680" cy="5275107"/>
          </a:xfrm>
          <a:prstGeom prst="rect">
            <a:avLst/>
          </a:prstGeom>
        </p:spPr>
      </p:pic>
      <p:sp>
        <p:nvSpPr>
          <p:cNvPr id="4" name="num1"/>
          <p:cNvSpPr txBox="1"/>
          <p:nvPr/>
        </p:nvSpPr>
        <p:spPr>
          <a:xfrm>
            <a:off x="4206240" y="1307592"/>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1</a:t>
            </a:r>
            <a:endParaRPr lang="en-US" sz="1800" dirty="0"/>
          </a:p>
        </p:txBody>
      </p:sp>
      <p:sp>
        <p:nvSpPr>
          <p:cNvPr id="5" name="read1"/>
          <p:cNvSpPr txBox="1"/>
          <p:nvPr/>
        </p:nvSpPr>
        <p:spPr>
          <a:xfrm>
            <a:off x="4937760" y="1234440"/>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The flow</a:t>
            </a:r>
            <a:endParaRPr lang="en-US" sz="1800" dirty="0"/>
          </a:p>
          <a:p>
            <a:pPr indent="0" marL="0">
              <a:buNone/>
            </a:pPr>
            <a:r>
              <a:rPr lang="en-US" sz="1500" dirty="0">
                <a:solidFill>
                  <a:srgbClr val="1F2933"/>
                </a:solidFill>
              </a:rPr>
              <a:t>The left column runs top to bottom in the order Strat-IQ runs the skills. Arrows show the hand-off.</a:t>
            </a:r>
            <a:endParaRPr lang="en-US" sz="1800" dirty="0"/>
          </a:p>
        </p:txBody>
      </p:sp>
      <p:sp>
        <p:nvSpPr>
          <p:cNvPr id="6" name="num2"/>
          <p:cNvSpPr txBox="1"/>
          <p:nvPr/>
        </p:nvSpPr>
        <p:spPr>
          <a:xfrm>
            <a:off x="4206240" y="2569464"/>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2</a:t>
            </a:r>
            <a:endParaRPr lang="en-US" sz="1800" dirty="0"/>
          </a:p>
        </p:txBody>
      </p:sp>
      <p:sp>
        <p:nvSpPr>
          <p:cNvPr id="7" name="read2"/>
          <p:cNvSpPr txBox="1"/>
          <p:nvPr/>
        </p:nvSpPr>
        <p:spPr>
          <a:xfrm>
            <a:off x="4937760" y="2496312"/>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The table</a:t>
            </a:r>
            <a:endParaRPr lang="en-US" sz="1800" dirty="0"/>
          </a:p>
          <a:p>
            <a:pPr indent="0" marL="0">
              <a:buNone/>
            </a:pPr>
            <a:r>
              <a:rPr lang="en-US" sz="1500" dirty="0">
                <a:solidFill>
                  <a:srgbClr val="1F2933"/>
                </a:solidFill>
              </a:rPr>
              <a:t>Four columns for every skill: its name, what it does, the information it passes down, and its impact on the P&amp;L or valuation.</a:t>
            </a:r>
            <a:endParaRPr lang="en-US" sz="1800" dirty="0"/>
          </a:p>
        </p:txBody>
      </p:sp>
      <p:sp>
        <p:nvSpPr>
          <p:cNvPr id="8" name="num3"/>
          <p:cNvSpPr txBox="1"/>
          <p:nvPr/>
        </p:nvSpPr>
        <p:spPr>
          <a:xfrm>
            <a:off x="4206240" y="3831336"/>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3</a:t>
            </a:r>
            <a:endParaRPr lang="en-US" sz="1800" dirty="0"/>
          </a:p>
        </p:txBody>
      </p:sp>
      <p:sp>
        <p:nvSpPr>
          <p:cNvPr id="9" name="read3"/>
          <p:cNvSpPr txBox="1"/>
          <p:nvPr/>
        </p:nvSpPr>
        <p:spPr>
          <a:xfrm>
            <a:off x="4937760" y="3758184"/>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Dashed boxes</a:t>
            </a:r>
            <a:endParaRPr lang="en-US" sz="1800" dirty="0"/>
          </a:p>
          <a:p>
            <a:pPr indent="0" marL="0">
              <a:buNone/>
            </a:pPr>
            <a:r>
              <a:rPr lang="en-US" sz="1500" dirty="0">
                <a:solidFill>
                  <a:srgbClr val="1F2933"/>
                </a:solidFill>
              </a:rPr>
              <a:t>Pricing, Synergy Case and Negotiation Prep run only when an option needs them.</a:t>
            </a:r>
            <a:endParaRPr lang="en-US" sz="1800" dirty="0"/>
          </a:p>
        </p:txBody>
      </p:sp>
      <p:sp>
        <p:nvSpPr>
          <p:cNvPr id="10" name="num4"/>
          <p:cNvSpPr txBox="1"/>
          <p:nvPr/>
        </p:nvSpPr>
        <p:spPr>
          <a:xfrm>
            <a:off x="4206240" y="5093208"/>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4</a:t>
            </a:r>
            <a:endParaRPr lang="en-US" sz="1800" dirty="0"/>
          </a:p>
        </p:txBody>
      </p:sp>
      <p:sp>
        <p:nvSpPr>
          <p:cNvPr id="11" name="read4"/>
          <p:cNvSpPr txBox="1"/>
          <p:nvPr/>
        </p:nvSpPr>
        <p:spPr>
          <a:xfrm>
            <a:off x="4937760" y="5020056"/>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Get the file</a:t>
            </a:r>
            <a:endParaRPr lang="en-US" sz="1800" dirty="0"/>
          </a:p>
          <a:p>
            <a:pPr indent="0" marL="0">
              <a:buNone/>
            </a:pPr>
            <a:r>
              <a:rPr lang="en-US" sz="1500" dirty="0">
                <a:solidFill>
                  <a:srgbClr val="1F2933"/>
                </a:solidFill>
              </a:rPr>
              <a:t>Download StratIQ_Process_Flow.excalidraw (posted with this video) and open it at excalidraw.com to zoom in.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Part 1 reads the industry: evidence before opinion</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1 · 9 steps</a:t>
            </a:r>
            <a:endParaRPr lang="en-US" sz="1100" dirty="0"/>
          </a:p>
        </p:txBody>
      </p:sp>
      <p:pic>
        <p:nvPicPr>
          <p:cNvPr id="4" name="part1-diagram" descr="Strat-IQ process diagram: part1">    </p:cNvPr>
          <p:cNvPicPr>
            <a:picLocks noChangeAspect="1"/>
          </p:cNvPicPr>
          <p:nvPr/>
        </p:nvPicPr>
        <p:blipFill>
          <a:blip r:embed="rId1"/>
          <a:stretch>
            <a:fillRect/>
          </a:stretch>
        </p:blipFill>
        <p:spPr>
          <a:xfrm>
            <a:off x="502920" y="1188720"/>
            <a:ext cx="9052560" cy="3821331"/>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Competitors' 10-Ks are mined before PESTEL: primary evidence first</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Every finding names the P&amp;L line it moves and in which direction</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Maps re-plot rivals on new axes to find space nobody occupies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Pick up where you left off</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1</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502920"/>
          </a:xfrm>
          <a:prstGeom prst="roundRect">
            <a:avLst>
              <a:gd name="adj" fmla="val 10909"/>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Strat-IQ</a:t>
            </a:r>
            <a:endParaRPr lang="en-US" sz="1400" dirty="0"/>
          </a:p>
        </p:txBody>
      </p:sp>
      <p:sp>
        <p:nvSpPr>
          <p:cNvPr id="6" name="watchlabel"/>
          <p:cNvSpPr txBox="1"/>
          <p:nvPr/>
        </p:nvSpPr>
        <p:spPr>
          <a:xfrm>
            <a:off x="502920" y="23500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7523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734056"/>
            <a:ext cx="4910328" cy="813816"/>
          </a:xfrm>
          <a:prstGeom prst="rect">
            <a:avLst/>
          </a:prstGeom>
          <a:noFill/>
          <a:ln/>
        </p:spPr>
        <p:txBody>
          <a:bodyPr wrap="square" lIns="0" tIns="0" rIns="0" bIns="0" rtlCol="0" anchor="t"/>
          <a:lstStyle/>
          <a:p>
            <a:pPr indent="0" marL="0">
              <a:buNone/>
            </a:pPr>
            <a:r>
              <a:rPr lang="en-US" sz="1400" dirty="0">
                <a:solidFill>
                  <a:srgbClr val="1F2933"/>
                </a:solidFill>
              </a:rPr>
              <a:t>Strat-IQ finds the saved ledger in the Project: BYD, global EVs</a:t>
            </a:r>
            <a:endParaRPr lang="en-US" sz="1400" dirty="0"/>
          </a:p>
        </p:txBody>
      </p:sp>
      <p:sp>
        <p:nvSpPr>
          <p:cNvPr id="9" name="watchnum1"/>
          <p:cNvSpPr txBox="1"/>
          <p:nvPr/>
        </p:nvSpPr>
        <p:spPr>
          <a:xfrm>
            <a:off x="502920" y="36210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602736"/>
            <a:ext cx="4910328" cy="813816"/>
          </a:xfrm>
          <a:prstGeom prst="rect">
            <a:avLst/>
          </a:prstGeom>
          <a:noFill/>
          <a:ln/>
        </p:spPr>
        <p:txBody>
          <a:bodyPr wrap="square" lIns="0" tIns="0" rIns="0" bIns="0" rtlCol="0" anchor="t"/>
          <a:lstStyle/>
          <a:p>
            <a:pPr indent="0" marL="0">
              <a:buNone/>
            </a:pPr>
            <a:r>
              <a:rPr lang="en-US" sz="1400" dirty="0">
                <a:solidFill>
                  <a:srgbClr val="1F2933"/>
                </a:solidFill>
              </a:rPr>
              <a:t>It reports what's done: Parts 1 and 2 complete, Part 3 partly done, no strategy statement yet</a:t>
            </a:r>
            <a:endParaRPr lang="en-US" sz="1400" dirty="0"/>
          </a:p>
        </p:txBody>
      </p:sp>
      <p:sp>
        <p:nvSpPr>
          <p:cNvPr id="11" name="watchnum2"/>
          <p:cNvSpPr txBox="1"/>
          <p:nvPr/>
        </p:nvSpPr>
        <p:spPr>
          <a:xfrm>
            <a:off x="502920" y="44897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471416"/>
            <a:ext cx="4910328" cy="813816"/>
          </a:xfrm>
          <a:prstGeom prst="rect">
            <a:avLst/>
          </a:prstGeom>
          <a:noFill/>
          <a:ln/>
        </p:spPr>
        <p:txBody>
          <a:bodyPr wrap="square" lIns="0" tIns="0" rIns="0" bIns="0" rtlCol="0" anchor="t"/>
          <a:lstStyle/>
          <a:p>
            <a:pPr indent="0" marL="0">
              <a:buNone/>
            </a:pPr>
            <a:r>
              <a:rPr lang="en-US" sz="1400" dirty="0">
                <a:solidFill>
                  <a:srgbClr val="1F2933"/>
                </a:solidFill>
              </a:rPr>
              <a:t>It offers to continue from the gap, not to start over</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1</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 minutes</a:t>
            </a:r>
            <a:pPr indent="0" marL="0">
              <a:buNone/>
            </a:pPr>
            <a:r>
              <a:rPr lang="en-US" sz="1200" dirty="0">
                <a:solidFill>
                  <a:srgbClr val="5F6B76"/>
                </a:solidFill>
              </a:rPr>
              <a:t>   ·   Demo files: strategy-ledger-ev-demo.json in the Project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Same industry, different company</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2</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502920"/>
          </a:xfrm>
          <a:prstGeom prst="roundRect">
            <a:avLst>
              <a:gd name="adj" fmla="val 10909"/>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Make Xiaomi the base company.</a:t>
            </a:r>
            <a:endParaRPr lang="en-US" sz="1400" dirty="0"/>
          </a:p>
        </p:txBody>
      </p:sp>
      <p:sp>
        <p:nvSpPr>
          <p:cNvPr id="6" name="watchlabel"/>
          <p:cNvSpPr txBox="1"/>
          <p:nvPr/>
        </p:nvSpPr>
        <p:spPr>
          <a:xfrm>
            <a:off x="502920" y="23500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7523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734056"/>
            <a:ext cx="4910328" cy="813816"/>
          </a:xfrm>
          <a:prstGeom prst="rect">
            <a:avLst/>
          </a:prstGeom>
          <a:noFill/>
          <a:ln/>
        </p:spPr>
        <p:txBody>
          <a:bodyPr wrap="square" lIns="0" tIns="0" rIns="0" bIns="0" rtlCol="0" anchor="t"/>
          <a:lstStyle/>
          <a:p>
            <a:pPr indent="0" marL="0">
              <a:buNone/>
            </a:pPr>
            <a:r>
              <a:rPr lang="en-US" sz="1400" dirty="0">
                <a:solidFill>
                  <a:srgbClr val="1F2933"/>
                </a:solidFill>
              </a:rPr>
              <a:t>Part 1 is kept as it is: the industry hasn't changed</a:t>
            </a:r>
            <a:endParaRPr lang="en-US" sz="1400" dirty="0"/>
          </a:p>
        </p:txBody>
      </p:sp>
      <p:sp>
        <p:nvSpPr>
          <p:cNvPr id="9" name="watchnum1"/>
          <p:cNvSpPr txBox="1"/>
          <p:nvPr/>
        </p:nvSpPr>
        <p:spPr>
          <a:xfrm>
            <a:off x="502920" y="36210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602736"/>
            <a:ext cx="4910328" cy="813816"/>
          </a:xfrm>
          <a:prstGeom prst="rect">
            <a:avLst/>
          </a:prstGeom>
          <a:noFill/>
          <a:ln/>
        </p:spPr>
        <p:txBody>
          <a:bodyPr wrap="square" lIns="0" tIns="0" rIns="0" bIns="0" rtlCol="0" anchor="t"/>
          <a:lstStyle/>
          <a:p>
            <a:pPr indent="0" marL="0">
              <a:buNone/>
            </a:pPr>
            <a:r>
              <a:rPr lang="en-US" sz="1400" dirty="0">
                <a:solidFill>
                  <a:srgbClr val="1F2933"/>
                </a:solidFill>
              </a:rPr>
              <a:t>Part 2 reruns for Xiaomi: strong on software, weak on local production</a:t>
            </a:r>
            <a:endParaRPr lang="en-US" sz="1400" dirty="0"/>
          </a:p>
        </p:txBody>
      </p:sp>
      <p:sp>
        <p:nvSpPr>
          <p:cNvPr id="11" name="watchnum2"/>
          <p:cNvSpPr txBox="1"/>
          <p:nvPr/>
        </p:nvSpPr>
        <p:spPr>
          <a:xfrm>
            <a:off x="502920" y="44897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471416"/>
            <a:ext cx="4910328" cy="813816"/>
          </a:xfrm>
          <a:prstGeom prst="rect">
            <a:avLst/>
          </a:prstGeom>
          <a:noFill/>
          <a:ln/>
        </p:spPr>
        <p:txBody>
          <a:bodyPr wrap="square" lIns="0" tIns="0" rIns="0" bIns="0" rtlCol="0" anchor="t"/>
          <a:lstStyle/>
          <a:p>
            <a:pPr indent="0" marL="0">
              <a:buNone/>
            </a:pPr>
            <a:r>
              <a:rPr lang="en-US" sz="1400" dirty="0">
                <a:solidFill>
                  <a:srgbClr val="1F2933"/>
                </a:solidFill>
              </a:rPr>
              <a:t>A different company finds different white space and a different SWOT</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2</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Part 2 reads the company: what it can actually do</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2 · 7 steps</a:t>
            </a:r>
            <a:endParaRPr lang="en-US" sz="1100" dirty="0"/>
          </a:p>
        </p:txBody>
      </p:sp>
      <p:pic>
        <p:nvPicPr>
          <p:cNvPr id="4" name="part2-diagram" descr="Strat-IQ process diagram: part2">    </p:cNvPr>
          <p:cNvPicPr>
            <a:picLocks noChangeAspect="1"/>
          </p:cNvPicPr>
          <p:nvPr/>
        </p:nvPicPr>
        <p:blipFill>
          <a:blip r:embed="rId1"/>
          <a:stretch>
            <a:fillRect/>
          </a:stretch>
        </p:blipFill>
        <p:spPr>
          <a:xfrm>
            <a:off x="502920" y="1188720"/>
            <a:ext cx="11155680" cy="3506805"/>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Unit Economics: does one more unit make money, and what does a customer cost?</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VRIO stamps each empty space 'supported' or 'gap'</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Growth Barriers names the one binding constraint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Can we actually serve that white space?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3</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713232"/>
          </a:xfrm>
          <a:prstGeom prst="roundRect">
            <a:avLst>
              <a:gd name="adj" fmla="val 7692"/>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Which of the white spaces on our strategic map can BYD actually serve?</a:t>
            </a:r>
            <a:endParaRPr lang="en-US" sz="1400" dirty="0"/>
          </a:p>
        </p:txBody>
      </p:sp>
      <p:sp>
        <p:nvSpPr>
          <p:cNvPr id="6" name="watchlabel"/>
          <p:cNvSpPr txBox="1"/>
          <p:nvPr/>
        </p:nvSpPr>
        <p:spPr>
          <a:xfrm>
            <a:off x="502920" y="256032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96265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944368"/>
            <a:ext cx="4910328" cy="813816"/>
          </a:xfrm>
          <a:prstGeom prst="rect">
            <a:avLst/>
          </a:prstGeom>
          <a:noFill/>
          <a:ln/>
        </p:spPr>
        <p:txBody>
          <a:bodyPr wrap="square" lIns="0" tIns="0" rIns="0" bIns="0" rtlCol="0" anchor="t"/>
          <a:lstStyle/>
          <a:p>
            <a:pPr indent="0" marL="0">
              <a:buNone/>
            </a:pPr>
            <a:r>
              <a:rPr lang="en-US" sz="1400" dirty="0">
                <a:solidFill>
                  <a:srgbClr val="1F2933"/>
                </a:solidFill>
              </a:rPr>
              <a:t>Two empty spaces from the strategic map, each stamped by VRIO</a:t>
            </a:r>
            <a:endParaRPr lang="en-US" sz="1400" dirty="0"/>
          </a:p>
        </p:txBody>
      </p:sp>
      <p:sp>
        <p:nvSpPr>
          <p:cNvPr id="9" name="watchnum1"/>
          <p:cNvSpPr txBox="1"/>
          <p:nvPr/>
        </p:nvSpPr>
        <p:spPr>
          <a:xfrm>
            <a:off x="502920" y="383133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813048"/>
            <a:ext cx="4910328" cy="813816"/>
          </a:xfrm>
          <a:prstGeom prst="rect">
            <a:avLst/>
          </a:prstGeom>
          <a:noFill/>
          <a:ln/>
        </p:spPr>
        <p:txBody>
          <a:bodyPr wrap="square" lIns="0" tIns="0" rIns="0" bIns="0" rtlCol="0" anchor="t"/>
          <a:lstStyle/>
          <a:p>
            <a:pPr indent="0" marL="0">
              <a:buNone/>
            </a:pPr>
            <a:r>
              <a:rPr lang="en-US" sz="1400" dirty="0">
                <a:solidFill>
                  <a:srgbClr val="1F2933"/>
                </a:solidFill>
              </a:rPr>
              <a:t>Sub-€25k EU compact: supported, because battery integration passes all four tests</a:t>
            </a:r>
            <a:endParaRPr lang="en-US" sz="1400" dirty="0"/>
          </a:p>
        </p:txBody>
      </p:sp>
      <p:sp>
        <p:nvSpPr>
          <p:cNvPr id="11" name="watchnum2"/>
          <p:cNvSpPr txBox="1"/>
          <p:nvPr/>
        </p:nvSpPr>
        <p:spPr>
          <a:xfrm>
            <a:off x="502920" y="470001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681728"/>
            <a:ext cx="4910328" cy="813816"/>
          </a:xfrm>
          <a:prstGeom prst="rect">
            <a:avLst/>
          </a:prstGeom>
          <a:noFill/>
          <a:ln/>
        </p:spPr>
        <p:txBody>
          <a:bodyPr wrap="square" lIns="0" tIns="0" rIns="0" bIns="0" rtlCol="0" anchor="t"/>
          <a:lstStyle/>
          <a:p>
            <a:pPr indent="0" marL="0">
              <a:buNone/>
            </a:pPr>
            <a:r>
              <a:rPr lang="en-US" sz="1400" dirty="0">
                <a:solidFill>
                  <a:srgbClr val="1F2933"/>
                </a:solidFill>
              </a:rPr>
              <a:t>Premium software subscription: a gap, because BYD's software isn't rare</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3</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1.5 minutes</a:t>
            </a:r>
            <a:pPr indent="0" marL="0">
              <a:buNone/>
            </a:pPr>
            <a:r>
              <a:rPr lang="en-US" sz="1200" dirty="0">
                <a:solidFill>
                  <a:srgbClr val="5F6B76"/>
                </a:solidFill>
              </a:rPr>
              <a:t>   ·   Demo files: same Project (base company BYD)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Choose: you pick the strategy, the numbers test it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3 · Choose</a:t>
            </a:r>
            <a:endParaRPr lang="en-US" sz="1100" dirty="0"/>
          </a:p>
        </p:txBody>
      </p:sp>
      <p:pic>
        <p:nvPicPr>
          <p:cNvPr id="4" name="choose-diagram" descr="Strat-IQ process diagram: choose">    </p:cNvPr>
          <p:cNvPicPr>
            <a:picLocks noChangeAspect="1"/>
          </p:cNvPicPr>
          <p:nvPr/>
        </p:nvPicPr>
        <p:blipFill>
          <a:blip r:embed="rId1"/>
          <a:stretch>
            <a:fillRect/>
          </a:stretch>
        </p:blipFill>
        <p:spPr>
          <a:xfrm>
            <a:off x="502920" y="1188720"/>
            <a:ext cx="11155680" cy="3566732"/>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The Strategy Interview asks, one question at a time; it never picks for you</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'Do nothing' is always an option: every alternative must beat it</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NPV, IRR, expected value, and what a pilot is worth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Strategy Interview: you choose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4</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713232"/>
          </a:xfrm>
          <a:prstGeom prst="roundRect">
            <a:avLst>
              <a:gd name="adj" fmla="val 7692"/>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Strategy Interview for BYD.</a:t>
            </a:r>
            <a:endParaRPr lang="en-US" sz="1400" dirty="0"/>
          </a:p>
        </p:txBody>
      </p:sp>
      <p:sp>
        <p:nvSpPr>
          <p:cNvPr id="6" name="watchlabel"/>
          <p:cNvSpPr txBox="1"/>
          <p:nvPr/>
        </p:nvSpPr>
        <p:spPr>
          <a:xfrm>
            <a:off x="502920" y="256032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96265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944368"/>
            <a:ext cx="4910328" cy="813816"/>
          </a:xfrm>
          <a:prstGeom prst="rect">
            <a:avLst/>
          </a:prstGeom>
          <a:noFill/>
          <a:ln/>
        </p:spPr>
        <p:txBody>
          <a:bodyPr wrap="square" lIns="0" tIns="0" rIns="0" bIns="0" rtlCol="0" anchor="t"/>
          <a:lstStyle/>
          <a:p>
            <a:pPr indent="0" marL="0">
              <a:buNone/>
            </a:pPr>
            <a:r>
              <a:rPr lang="en-US" sz="1400" dirty="0">
                <a:solidFill>
                  <a:srgbClr val="1F2933"/>
                </a:solidFill>
              </a:rPr>
              <a:t>One question at a time, each shown with its evidence: map, KSFs, VRIO</a:t>
            </a:r>
            <a:endParaRPr lang="en-US" sz="1400" dirty="0"/>
          </a:p>
        </p:txBody>
      </p:sp>
      <p:sp>
        <p:nvSpPr>
          <p:cNvPr id="9" name="watchnum1"/>
          <p:cNvSpPr txBox="1"/>
          <p:nvPr/>
        </p:nvSpPr>
        <p:spPr>
          <a:xfrm>
            <a:off x="502920" y="383133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813048"/>
            <a:ext cx="4910328" cy="813816"/>
          </a:xfrm>
          <a:prstGeom prst="rect">
            <a:avLst/>
          </a:prstGeom>
          <a:noFill/>
          <a:ln/>
        </p:spPr>
        <p:txBody>
          <a:bodyPr wrap="square" lIns="0" tIns="0" rIns="0" bIns="0" rtlCol="0" anchor="t"/>
          <a:lstStyle/>
          <a:p>
            <a:pPr indent="0" marL="0">
              <a:buNone/>
            </a:pPr>
            <a:r>
              <a:rPr lang="en-US" sz="1400" dirty="0">
                <a:solidFill>
                  <a:srgbClr val="1F2933"/>
                </a:solidFill>
              </a:rPr>
              <a:t>Short answers are fine; it checks each one for fit and asks a follow-up</a:t>
            </a:r>
            <a:endParaRPr lang="en-US" sz="1400" dirty="0"/>
          </a:p>
        </p:txBody>
      </p:sp>
      <p:sp>
        <p:nvSpPr>
          <p:cNvPr id="11" name="watchnum2"/>
          <p:cNvSpPr txBox="1"/>
          <p:nvPr/>
        </p:nvSpPr>
        <p:spPr>
          <a:xfrm>
            <a:off x="502920" y="470001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681728"/>
            <a:ext cx="4910328" cy="813816"/>
          </a:xfrm>
          <a:prstGeom prst="rect">
            <a:avLst/>
          </a:prstGeom>
          <a:noFill/>
          <a:ln/>
        </p:spPr>
        <p:txBody>
          <a:bodyPr wrap="square" lIns="0" tIns="0" rIns="0" bIns="0" rtlCol="0" anchor="t"/>
          <a:lstStyle/>
          <a:p>
            <a:pPr indent="0" marL="0">
              <a:buNone/>
            </a:pPr>
            <a:r>
              <a:rPr lang="en-US" sz="1400" dirty="0">
                <a:solidFill>
                  <a:srgbClr val="1F2933"/>
                </a:solidFill>
              </a:rPr>
              <a:t>It ends with a strategy statement in your words, saved to the ledger</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4</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3-4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How sure are you? Statistics that test the choice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3 · Exhibit Q-3</a:t>
            </a:r>
            <a:endParaRPr lang="en-US" sz="1100" dirty="0"/>
          </a:p>
        </p:txBody>
      </p:sp>
      <p:graphicFrame>
        <p:nvGraphicFramePr>
          <p:cNvPr id="4" name="Chart 0" descr=""/>
          <p:cNvGraphicFramePr/>
          <p:nvPr/>
        </p:nvGraphicFramePr>
        <p:xfrm>
          <a:off x="502920" y="1188720"/>
          <a:ext cx="566928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00800" y="1188720"/>
          <a:ext cx="5257800" cy="2514600"/>
        </p:xfrm>
        <a:graphic xmlns:a="http://schemas.openxmlformats.org/drawingml/2006/main">
          <a:graphicData uri="http://schemas.openxmlformats.org/drawingml/2006/chart">
            <c:chart xmlns:c="http://schemas.openxmlformats.org/drawingml/2006/chart" r:id="rId2"/>
          </a:graphicData>
        </a:graphic>
      </p:graphicFrame>
      <p:sp>
        <p:nvSpPr>
          <p:cNvPr id="6" name="stat0"/>
          <p:cNvSpPr txBox="1"/>
          <p:nvPr/>
        </p:nvSpPr>
        <p:spPr>
          <a:xfrm>
            <a:off x="6400800" y="3840480"/>
            <a:ext cx="1645920" cy="1143000"/>
          </a:xfrm>
          <a:prstGeom prst="roundRect">
            <a:avLst>
              <a:gd name="adj" fmla="val 6400"/>
            </a:avLst>
          </a:prstGeom>
          <a:solidFill>
            <a:srgbClr val="F3F1EC"/>
          </a:solidFill>
          <a:ln/>
        </p:spPr>
        <p:txBody>
          <a:bodyPr wrap="square" lIns="50800" tIns="76200" rIns="76200" bIns="50800" rtlCol="0" anchor="ctr"/>
          <a:lstStyle/>
          <a:p>
            <a:pPr algn="ctr" indent="0" marL="0">
              <a:buNone/>
            </a:pPr>
            <a:r>
              <a:rPr lang="en-US" sz="2400" b="1" dirty="0">
                <a:solidFill>
                  <a:srgbClr val="1D3557"/>
                </a:solidFill>
              </a:rPr>
              <a:t>87%</a:t>
            </a:r>
            <a:endParaRPr lang="en-US" sz="2400" dirty="0"/>
          </a:p>
          <a:p>
            <a:pPr algn="ctr" indent="0" marL="0">
              <a:buNone/>
            </a:pPr>
            <a:r>
              <a:rPr lang="en-US" sz="1100" dirty="0">
                <a:solidFill>
                  <a:srgbClr val="1F2933"/>
                </a:solidFill>
              </a:rPr>
              <a:t>of simulated futures lose money</a:t>
            </a:r>
            <a:endParaRPr lang="en-US" sz="2400" dirty="0"/>
          </a:p>
        </p:txBody>
      </p:sp>
      <p:sp>
        <p:nvSpPr>
          <p:cNvPr id="7" name="stat1"/>
          <p:cNvSpPr txBox="1"/>
          <p:nvPr/>
        </p:nvSpPr>
        <p:spPr>
          <a:xfrm>
            <a:off x="8211312" y="3840480"/>
            <a:ext cx="1645920" cy="1143000"/>
          </a:xfrm>
          <a:prstGeom prst="roundRect">
            <a:avLst>
              <a:gd name="adj" fmla="val 6400"/>
            </a:avLst>
          </a:prstGeom>
          <a:solidFill>
            <a:srgbClr val="F3F1EC"/>
          </a:solidFill>
          <a:ln/>
        </p:spPr>
        <p:txBody>
          <a:bodyPr wrap="square" lIns="50800" tIns="76200" rIns="76200" bIns="50800" rtlCol="0" anchor="ctr"/>
          <a:lstStyle/>
          <a:p>
            <a:pPr algn="ctr" indent="0" marL="0">
              <a:buNone/>
            </a:pPr>
            <a:r>
              <a:rPr lang="en-US" sz="2400" b="1" dirty="0">
                <a:solidFill>
                  <a:srgbClr val="1D3557"/>
                </a:solidFill>
              </a:rPr>
              <a:t>−$366M</a:t>
            </a:r>
            <a:endParaRPr lang="en-US" sz="2400" dirty="0"/>
          </a:p>
          <a:p>
            <a:pPr algn="ctr" indent="0" marL="0">
              <a:buNone/>
            </a:pPr>
            <a:r>
              <a:rPr lang="en-US" sz="1100" dirty="0">
                <a:solidFill>
                  <a:srgbClr val="1F2933"/>
                </a:solidFill>
              </a:rPr>
              <a:t>median NPV vs −$35M at plan</a:t>
            </a:r>
            <a:endParaRPr lang="en-US" sz="2400" dirty="0"/>
          </a:p>
        </p:txBody>
      </p:sp>
      <p:sp>
        <p:nvSpPr>
          <p:cNvPr id="8" name="stat2"/>
          <p:cNvSpPr txBox="1"/>
          <p:nvPr/>
        </p:nvSpPr>
        <p:spPr>
          <a:xfrm>
            <a:off x="10021824" y="3840480"/>
            <a:ext cx="1645920" cy="1143000"/>
          </a:xfrm>
          <a:prstGeom prst="roundRect">
            <a:avLst>
              <a:gd name="adj" fmla="val 6400"/>
            </a:avLst>
          </a:prstGeom>
          <a:solidFill>
            <a:srgbClr val="F3F1EC"/>
          </a:solidFill>
          <a:ln/>
        </p:spPr>
        <p:txBody>
          <a:bodyPr wrap="square" lIns="50800" tIns="76200" rIns="76200" bIns="50800" rtlCol="0" anchor="ctr"/>
          <a:lstStyle/>
          <a:p>
            <a:pPr algn="ctr" indent="0" marL="0">
              <a:buNone/>
            </a:pPr>
            <a:r>
              <a:rPr lang="en-US" sz="2400" b="1" dirty="0">
                <a:solidFill>
                  <a:srgbClr val="1D3557"/>
                </a:solidFill>
              </a:rPr>
              <a:t>$53M</a:t>
            </a:r>
            <a:endParaRPr lang="en-US" sz="2400" dirty="0"/>
          </a:p>
          <a:p>
            <a:pPr algn="ctr" indent="0" marL="0">
              <a:buNone/>
            </a:pPr>
            <a:r>
              <a:rPr lang="en-US" sz="1100" dirty="0">
                <a:solidFill>
                  <a:srgbClr val="1F2933"/>
                </a:solidFill>
              </a:rPr>
              <a:t>what the pilot is worth (EVSI)</a:t>
            </a:r>
            <a:endParaRPr lang="en-US" sz="2400" dirty="0"/>
          </a:p>
        </p:txBody>
      </p:sp>
      <p:sp>
        <p:nvSpPr>
          <p:cNvPr id="9"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Tornado: which assumption to test first</a:t>
            </a:r>
            <a:endParaRPr lang="en-US" sz="1400" dirty="0"/>
          </a:p>
        </p:txBody>
      </p:sp>
      <p:sp>
        <p:nvSpPr>
          <p:cNvPr id="10"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Monte Carlo: how often the case loses money</a:t>
            </a:r>
            <a:endParaRPr lang="en-US" sz="1400" dirty="0"/>
          </a:p>
        </p:txBody>
      </p:sp>
      <p:sp>
        <p:nvSpPr>
          <p:cNvPr id="11"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Bayes' rule: what a real, imperfect pilot is worth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Put numbers on the bet, then price the pilot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5</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business case for Option A from the ledger, then the risk analysis using the ranges in the ledger.</a:t>
            </a:r>
            <a:endParaRPr lang="en-US" sz="1400" dirty="0"/>
          </a:p>
        </p:txBody>
      </p:sp>
      <p:sp>
        <p:nvSpPr>
          <p:cNvPr id="6" name="demoprompt1"/>
          <p:cNvSpPr txBox="1"/>
          <p:nvPr/>
        </p:nvSpPr>
        <p:spPr>
          <a:xfrm>
            <a:off x="502920" y="2670048"/>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Now run expected value for all three options, and tell me whether the 12-month EU import test is worth its $25M cost.</a:t>
            </a:r>
            <a:endParaRPr lang="en-US" sz="1400" dirty="0"/>
          </a:p>
        </p:txBody>
      </p:sp>
      <p:sp>
        <p:nvSpPr>
          <p:cNvPr id="7" name="watchlabel"/>
          <p:cNvSpPr txBox="1"/>
          <p:nvPr/>
        </p:nvSpPr>
        <p:spPr>
          <a:xfrm>
            <a:off x="502920" y="3877056"/>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8" name="watchnum0"/>
          <p:cNvSpPr txBox="1"/>
          <p:nvPr/>
        </p:nvSpPr>
        <p:spPr>
          <a:xfrm>
            <a:off x="502920" y="4279392"/>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9" name="watch0"/>
          <p:cNvSpPr txBox="1"/>
          <p:nvPr/>
        </p:nvSpPr>
        <p:spPr>
          <a:xfrm>
            <a:off x="987552" y="4261104"/>
            <a:ext cx="4910328" cy="582168"/>
          </a:xfrm>
          <a:prstGeom prst="rect">
            <a:avLst/>
          </a:prstGeom>
          <a:noFill/>
          <a:ln/>
        </p:spPr>
        <p:txBody>
          <a:bodyPr wrap="square" lIns="0" tIns="0" rIns="0" bIns="0" rtlCol="0" anchor="t"/>
          <a:lstStyle/>
          <a:p>
            <a:pPr indent="0" marL="0">
              <a:buNone/>
            </a:pPr>
            <a:r>
              <a:rPr lang="en-US" sz="1400" dirty="0">
                <a:solidFill>
                  <a:srgbClr val="1F2933"/>
                </a:solidFill>
              </a:rPr>
              <a:t>NPV −$34.5M at plan; break-even needs revenue 0.5% above plan</a:t>
            </a:r>
            <a:endParaRPr lang="en-US" sz="1400" dirty="0"/>
          </a:p>
        </p:txBody>
      </p:sp>
      <p:sp>
        <p:nvSpPr>
          <p:cNvPr id="10" name="watchnum1"/>
          <p:cNvSpPr txBox="1"/>
          <p:nvPr/>
        </p:nvSpPr>
        <p:spPr>
          <a:xfrm>
            <a:off x="502920" y="49164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1" name="watch1"/>
          <p:cNvSpPr txBox="1"/>
          <p:nvPr/>
        </p:nvSpPr>
        <p:spPr>
          <a:xfrm>
            <a:off x="987552" y="4898136"/>
            <a:ext cx="4910328" cy="582168"/>
          </a:xfrm>
          <a:prstGeom prst="rect">
            <a:avLst/>
          </a:prstGeom>
          <a:noFill/>
          <a:ln/>
        </p:spPr>
        <p:txBody>
          <a:bodyPr wrap="square" lIns="0" tIns="0" rIns="0" bIns="0" rtlCol="0" anchor="t"/>
          <a:lstStyle/>
          <a:p>
            <a:pPr indent="0" marL="0">
              <a:buNone/>
            </a:pPr>
            <a:r>
              <a:rPr lang="en-US" sz="1400" dirty="0">
                <a:solidFill>
                  <a:srgbClr val="1F2933"/>
                </a:solidFill>
              </a:rPr>
              <a:t>Units top the tornado; NPV is below zero in 87% of 10,000 runs</a:t>
            </a:r>
            <a:endParaRPr lang="en-US" sz="1400" dirty="0"/>
          </a:p>
        </p:txBody>
      </p:sp>
      <p:sp>
        <p:nvSpPr>
          <p:cNvPr id="12" name="watchnum2"/>
          <p:cNvSpPr txBox="1"/>
          <p:nvPr/>
        </p:nvSpPr>
        <p:spPr>
          <a:xfrm>
            <a:off x="502920" y="555345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3" name="watch2"/>
          <p:cNvSpPr txBox="1"/>
          <p:nvPr/>
        </p:nvSpPr>
        <p:spPr>
          <a:xfrm>
            <a:off x="987552" y="5535168"/>
            <a:ext cx="4910328" cy="582168"/>
          </a:xfrm>
          <a:prstGeom prst="rect">
            <a:avLst/>
          </a:prstGeom>
          <a:noFill/>
          <a:ln/>
        </p:spPr>
        <p:txBody>
          <a:bodyPr wrap="square" lIns="0" tIns="0" rIns="0" bIns="0" rtlCol="0" anchor="t"/>
          <a:lstStyle/>
          <a:p>
            <a:pPr indent="0" marL="0">
              <a:buNone/>
            </a:pPr>
            <a:r>
              <a:rPr lang="en-US" sz="1400" dirty="0">
                <a:solidFill>
                  <a:srgbClr val="1F2933"/>
                </a:solidFill>
              </a:rPr>
              <a:t>Partnering leads on expected value ($86M); the pilot is worth $53M, more than its cost</a:t>
            </a:r>
            <a:endParaRPr lang="en-US" sz="1400" dirty="0"/>
          </a:p>
        </p:txBody>
      </p:sp>
      <p:sp>
        <p:nvSpPr>
          <p:cNvPr id="14"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5"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5</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6"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3-4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Test before anyone plans; plan only what traces back</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Test · Plan</a:t>
            </a:r>
            <a:endParaRPr lang="en-US" sz="1100" dirty="0"/>
          </a:p>
        </p:txBody>
      </p:sp>
      <p:pic>
        <p:nvPicPr>
          <p:cNvPr id="4" name="testplan-diagram" descr="Strat-IQ process diagram: testplan">    </p:cNvPr>
          <p:cNvPicPr>
            <a:picLocks noChangeAspect="1"/>
          </p:cNvPicPr>
          <p:nvPr/>
        </p:nvPicPr>
        <p:blipFill>
          <a:blip r:embed="rId1"/>
          <a:stretch>
            <a:fillRect/>
          </a:stretch>
        </p:blipFill>
        <p:spPr>
          <a:xfrm>
            <a:off x="502920" y="1188720"/>
            <a:ext cx="11155680" cy="2953298"/>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Test: risk analysis for the numbers, the Stress Test for the arguments</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Go-to-Market: one named beachhead; CAC must fit unit economics</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Every initiative, milestone and gate traces to a finding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Practise the defence before anyone attacks it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6</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hostile Q&amp;A drill on my recommendation: Option B, partner with a European OEM. Ask as the professor.</a:t>
            </a:r>
            <a:endParaRPr lang="en-US" sz="1400" dirty="0"/>
          </a:p>
        </p:txBody>
      </p:sp>
      <p:sp>
        <p:nvSpPr>
          <p:cNvPr id="6" name="watchlabel"/>
          <p:cNvSpPr txBox="1"/>
          <p:nvPr/>
        </p:nvSpPr>
        <p:spPr>
          <a:xfrm>
            <a:off x="502920" y="28072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32095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3191256"/>
            <a:ext cx="4910328" cy="813816"/>
          </a:xfrm>
          <a:prstGeom prst="rect">
            <a:avLst/>
          </a:prstGeom>
          <a:noFill/>
          <a:ln/>
        </p:spPr>
        <p:txBody>
          <a:bodyPr wrap="square" lIns="0" tIns="0" rIns="0" bIns="0" rtlCol="0" anchor="t"/>
          <a:lstStyle/>
          <a:p>
            <a:pPr indent="0" marL="0">
              <a:buNone/>
            </a:pPr>
            <a:r>
              <a:rPr lang="en-US" sz="1400" dirty="0">
                <a:solidFill>
                  <a:srgbClr val="1F2933"/>
                </a:solidFill>
              </a:rPr>
              <a:t>One hard question at a time, in the professor's voice</a:t>
            </a:r>
            <a:endParaRPr lang="en-US" sz="1400" dirty="0"/>
          </a:p>
        </p:txBody>
      </p:sp>
      <p:sp>
        <p:nvSpPr>
          <p:cNvPr id="9" name="watchnum1"/>
          <p:cNvSpPr txBox="1"/>
          <p:nvPr/>
        </p:nvSpPr>
        <p:spPr>
          <a:xfrm>
            <a:off x="502920" y="40782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4059936"/>
            <a:ext cx="4910328" cy="813816"/>
          </a:xfrm>
          <a:prstGeom prst="rect">
            <a:avLst/>
          </a:prstGeom>
          <a:noFill/>
          <a:ln/>
        </p:spPr>
        <p:txBody>
          <a:bodyPr wrap="square" lIns="0" tIns="0" rIns="0" bIns="0" rtlCol="0" anchor="t"/>
          <a:lstStyle/>
          <a:p>
            <a:pPr indent="0" marL="0">
              <a:buNone/>
            </a:pPr>
            <a:r>
              <a:rPr lang="en-US" sz="1400" dirty="0">
                <a:solidFill>
                  <a:srgbClr val="1F2933"/>
                </a:solidFill>
              </a:rPr>
              <a:t>A weak answer gets named, with the exhibit it should have cited</a:t>
            </a:r>
            <a:endParaRPr lang="en-US" sz="1400" dirty="0"/>
          </a:p>
        </p:txBody>
      </p:sp>
      <p:sp>
        <p:nvSpPr>
          <p:cNvPr id="11" name="watchnum2"/>
          <p:cNvSpPr txBox="1"/>
          <p:nvPr/>
        </p:nvSpPr>
        <p:spPr>
          <a:xfrm>
            <a:off x="502920" y="49469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928616"/>
            <a:ext cx="4910328" cy="813816"/>
          </a:xfrm>
          <a:prstGeom prst="rect">
            <a:avLst/>
          </a:prstGeom>
          <a:noFill/>
          <a:ln/>
        </p:spPr>
        <p:txBody>
          <a:bodyPr wrap="square" lIns="0" tIns="0" rIns="0" bIns="0" rtlCol="0" anchor="t"/>
          <a:lstStyle/>
          <a:p>
            <a:pPr indent="0" marL="0">
              <a:buNone/>
            </a:pPr>
            <a:r>
              <a:rPr lang="en-US" sz="1400" dirty="0">
                <a:solidFill>
                  <a:srgbClr val="1F2933"/>
                </a:solidFill>
              </a:rPr>
              <a:t>Type 'score me' for the scorecard and your weakest answer</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6</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Track it, then hand it in or pitch it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Track · Deliver</a:t>
            </a:r>
            <a:endParaRPr lang="en-US" sz="1100" dirty="0"/>
          </a:p>
        </p:txBody>
      </p:sp>
      <p:pic>
        <p:nvPicPr>
          <p:cNvPr id="4" name="track-diagram" descr="Strat-IQ process diagram: track">    </p:cNvPr>
          <p:cNvPicPr>
            <a:picLocks noChangeAspect="1"/>
          </p:cNvPicPr>
          <p:nvPr/>
        </p:nvPicPr>
        <p:blipFill>
          <a:blip r:embed="rId1"/>
          <a:stretch>
            <a:fillRect/>
          </a:stretch>
        </p:blipFill>
        <p:spPr>
          <a:xfrm>
            <a:off x="502920" y="1188720"/>
            <a:ext cx="11155680" cy="2926622"/>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Balanced Scorecard and Strategy Map: four perspectives, leading and lagging</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Memo Coach returns questions, never text</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The Workbook makes every number traceable in Excel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Memo Coach: questions, not rewrites</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7</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502920"/>
          </a:xfrm>
          <a:prstGeom prst="roundRect">
            <a:avLst>
              <a:gd name="adj" fmla="val 10909"/>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Coach my memo.</a:t>
            </a:r>
            <a:endParaRPr lang="en-US" sz="1400" dirty="0"/>
          </a:p>
        </p:txBody>
      </p:sp>
      <p:sp>
        <p:nvSpPr>
          <p:cNvPr id="6" name="watchlabel"/>
          <p:cNvSpPr txBox="1"/>
          <p:nvPr/>
        </p:nvSpPr>
        <p:spPr>
          <a:xfrm>
            <a:off x="502920" y="23500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7523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734056"/>
            <a:ext cx="4910328" cy="813816"/>
          </a:xfrm>
          <a:prstGeom prst="rect">
            <a:avLst/>
          </a:prstGeom>
          <a:noFill/>
          <a:ln/>
        </p:spPr>
        <p:txBody>
          <a:bodyPr wrap="square" lIns="0" tIns="0" rIns="0" bIns="0" rtlCol="0" anchor="t"/>
          <a:lstStyle/>
          <a:p>
            <a:pPr indent="0" marL="0">
              <a:buNone/>
            </a:pPr>
            <a:r>
              <a:rPr lang="en-US" sz="1400" dirty="0">
                <a:solidFill>
                  <a:srgbClr val="1F2933"/>
                </a:solidFill>
              </a:rPr>
              <a:t>Planted problems found and located: answer buried, 'we believe', predictions as fact</a:t>
            </a:r>
            <a:endParaRPr lang="en-US" sz="1400" dirty="0"/>
          </a:p>
        </p:txBody>
      </p:sp>
      <p:sp>
        <p:nvSpPr>
          <p:cNvPr id="9" name="watchnum1"/>
          <p:cNvSpPr txBox="1"/>
          <p:nvPr/>
        </p:nvSpPr>
        <p:spPr>
          <a:xfrm>
            <a:off x="502920" y="36210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602736"/>
            <a:ext cx="4910328" cy="813816"/>
          </a:xfrm>
          <a:prstGeom prst="rect">
            <a:avLst/>
          </a:prstGeom>
          <a:noFill/>
          <a:ln/>
        </p:spPr>
        <p:txBody>
          <a:bodyPr wrap="square" lIns="0" tIns="0" rIns="0" bIns="0" rtlCol="0" anchor="t"/>
          <a:lstStyle/>
          <a:p>
            <a:pPr indent="0" marL="0">
              <a:buNone/>
            </a:pPr>
            <a:r>
              <a:rPr lang="en-US" sz="1400" dirty="0">
                <a:solidFill>
                  <a:srgbClr val="1F2933"/>
                </a:solidFill>
              </a:rPr>
              <a:t>The memo's NPV (+$120M) contradicts Exhibit Q-1 (−$34.5M); it recommends A while M and Q-2 favour B</a:t>
            </a:r>
            <a:endParaRPr lang="en-US" sz="1400" dirty="0"/>
          </a:p>
        </p:txBody>
      </p:sp>
      <p:sp>
        <p:nvSpPr>
          <p:cNvPr id="11" name="watchnum2"/>
          <p:cNvSpPr txBox="1"/>
          <p:nvPr/>
        </p:nvSpPr>
        <p:spPr>
          <a:xfrm>
            <a:off x="502920" y="44897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471416"/>
            <a:ext cx="4910328" cy="813816"/>
          </a:xfrm>
          <a:prstGeom prst="rect">
            <a:avLst/>
          </a:prstGeom>
          <a:noFill/>
          <a:ln/>
        </p:spPr>
        <p:txBody>
          <a:bodyPr wrap="square" lIns="0" tIns="0" rIns="0" bIns="0" rtlCol="0" anchor="t"/>
          <a:lstStyle/>
          <a:p>
            <a:pPr indent="0" marL="0">
              <a:buNone/>
            </a:pPr>
            <a:r>
              <a:rPr lang="en-US" sz="1400" dirty="0">
                <a:solidFill>
                  <a:srgbClr val="1F2933"/>
                </a:solidFill>
              </a:rPr>
              <a:t>Ask it to rewrite a paragraph: it declines and offers the check instead</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7</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memo-draft-weak.docx (attach it)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GLO-BUS: a season loop that starts with management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GLO-BUS</a:t>
            </a:r>
            <a:endParaRPr lang="en-US" sz="1100" dirty="0"/>
          </a:p>
        </p:txBody>
      </p:sp>
      <p:pic>
        <p:nvPicPr>
          <p:cNvPr id="4" name="globus-diagram" descr="Strat-IQ process diagram: globus">    </p:cNvPr>
          <p:cNvPicPr>
            <a:picLocks noChangeAspect="1"/>
          </p:cNvPicPr>
          <p:nvPr/>
        </p:nvPicPr>
        <p:blipFill>
          <a:blip r:embed="rId1"/>
          <a:stretch>
            <a:fillRect/>
          </a:stretch>
        </p:blipFill>
        <p:spPr>
          <a:xfrm>
            <a:off x="502920" y="1188720"/>
            <a:ext cx="11155680" cy="1469303"/>
          </a:xfrm>
          <a:prstGeom prst="rect">
            <a:avLst/>
          </a:prstGeom>
        </p:spPr>
      </p:pic>
      <p:pic>
        <p:nvPicPr>
          <p:cNvPr id="5" name="loop-diagram" descr="Strat-IQ process diagram: loop">    </p:cNvPr>
          <p:cNvPicPr>
            <a:picLocks noChangeAspect="1"/>
          </p:cNvPicPr>
          <p:nvPr/>
        </p:nvPicPr>
        <p:blipFill>
          <a:blip r:embed="rId2"/>
          <a:stretch>
            <a:fillRect/>
          </a:stretch>
        </p:blipFill>
        <p:spPr>
          <a:xfrm>
            <a:off x="502920" y="2971800"/>
            <a:ext cx="11155680" cy="1281699"/>
          </a:xfrm>
          <a:prstGeom prst="rect">
            <a:avLst/>
          </a:prstGeom>
        </p:spPr>
      </p:pic>
      <p:sp>
        <p:nvSpPr>
          <p:cNvPr id="6"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Start with the management interview; capture is read-only, after you sign in</a:t>
            </a:r>
            <a:endParaRPr lang="en-US" sz="1400" dirty="0"/>
          </a:p>
        </p:txBody>
      </p:sp>
      <p:sp>
        <p:nvSpPr>
          <p:cNvPr id="7"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You enter every decision; the check catches typos</a:t>
            </a:r>
            <a:endParaRPr lang="en-US" sz="1400" dirty="0"/>
          </a:p>
        </p:txBody>
      </p:sp>
      <p:sp>
        <p:nvSpPr>
          <p:cNvPr id="8"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Every week: a memo and a short deck on your position, progress and rivals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GLO-BUS: read the field, then catch the typo</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8</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Analyse this competitor report for company C: strategic groups and white space for cameras and drones.</a:t>
            </a:r>
            <a:endParaRPr lang="en-US" sz="1400" dirty="0"/>
          </a:p>
        </p:txBody>
      </p:sp>
      <p:sp>
        <p:nvSpPr>
          <p:cNvPr id="6" name="demoprompt1"/>
          <p:cNvSpPr txBox="1"/>
          <p:nvPr/>
        </p:nvSpPr>
        <p:spPr>
          <a:xfrm>
            <a:off x="502920" y="2670048"/>
            <a:ext cx="5394960" cy="713232"/>
          </a:xfrm>
          <a:prstGeom prst="roundRect">
            <a:avLst>
              <a:gd name="adj" fmla="val 7692"/>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Check our Year 8 entries against the plan.</a:t>
            </a:r>
            <a:endParaRPr lang="en-US" sz="1400" dirty="0"/>
          </a:p>
        </p:txBody>
      </p:sp>
      <p:sp>
        <p:nvSpPr>
          <p:cNvPr id="7" name="watchlabel"/>
          <p:cNvSpPr txBox="1"/>
          <p:nvPr/>
        </p:nvSpPr>
        <p:spPr>
          <a:xfrm>
            <a:off x="502920" y="363016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8" name="watchnum0"/>
          <p:cNvSpPr txBox="1"/>
          <p:nvPr/>
        </p:nvSpPr>
        <p:spPr>
          <a:xfrm>
            <a:off x="502920" y="40325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9" name="watch0"/>
          <p:cNvSpPr txBox="1"/>
          <p:nvPr/>
        </p:nvSpPr>
        <p:spPr>
          <a:xfrm>
            <a:off x="987552" y="4014216"/>
            <a:ext cx="4910328" cy="664464"/>
          </a:xfrm>
          <a:prstGeom prst="rect">
            <a:avLst/>
          </a:prstGeom>
          <a:noFill/>
          <a:ln/>
        </p:spPr>
        <p:txBody>
          <a:bodyPr wrap="square" lIns="0" tIns="0" rIns="0" bIns="0" rtlCol="0" anchor="t"/>
          <a:lstStyle/>
          <a:p>
            <a:pPr indent="0" marL="0">
              <a:buNone/>
            </a:pPr>
            <a:r>
              <a:rPr lang="en-US" sz="1400" dirty="0">
                <a:solidFill>
                  <a:srgbClr val="1F2933"/>
                </a:solidFill>
              </a:rPr>
              <a:t>Company C leads cameras as a value leader, but sits with the low-cost group in Latin America</a:t>
            </a:r>
            <a:endParaRPr lang="en-US" sz="1400" dirty="0"/>
          </a:p>
        </p:txBody>
      </p:sp>
      <p:sp>
        <p:nvSpPr>
          <p:cNvPr id="10" name="watchnum1"/>
          <p:cNvSpPr txBox="1"/>
          <p:nvPr/>
        </p:nvSpPr>
        <p:spPr>
          <a:xfrm>
            <a:off x="502920" y="4751832"/>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1" name="watch1"/>
          <p:cNvSpPr txBox="1"/>
          <p:nvPr/>
        </p:nvSpPr>
        <p:spPr>
          <a:xfrm>
            <a:off x="987552" y="4733544"/>
            <a:ext cx="4910328" cy="664464"/>
          </a:xfrm>
          <a:prstGeom prst="rect">
            <a:avLst/>
          </a:prstGeom>
          <a:noFill/>
          <a:ln/>
        </p:spPr>
        <p:txBody>
          <a:bodyPr wrap="square" lIns="0" tIns="0" rIns="0" bIns="0" rtlCol="0" anchor="t"/>
          <a:lstStyle/>
          <a:p>
            <a:pPr indent="0" marL="0">
              <a:buNone/>
            </a:pPr>
            <a:r>
              <a:rPr lang="en-US" sz="1400" dirty="0">
                <a:solidFill>
                  <a:srgbClr val="1F2933"/>
                </a:solidFill>
              </a:rPr>
              <a:t>In drones C is a premium differentiator everywhere; low-cost rivals lead two regions</a:t>
            </a:r>
            <a:endParaRPr lang="en-US" sz="1400" dirty="0"/>
          </a:p>
        </p:txBody>
      </p:sp>
      <p:sp>
        <p:nvSpPr>
          <p:cNvPr id="12" name="watchnum2"/>
          <p:cNvSpPr txBox="1"/>
          <p:nvPr/>
        </p:nvSpPr>
        <p:spPr>
          <a:xfrm>
            <a:off x="502920" y="5471160"/>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3" name="watch2"/>
          <p:cNvSpPr txBox="1"/>
          <p:nvPr/>
        </p:nvSpPr>
        <p:spPr>
          <a:xfrm>
            <a:off x="987552" y="5452872"/>
            <a:ext cx="4910328" cy="664464"/>
          </a:xfrm>
          <a:prstGeom prst="rect">
            <a:avLst/>
          </a:prstGeom>
          <a:noFill/>
          <a:ln/>
        </p:spPr>
        <p:txBody>
          <a:bodyPr wrap="square" lIns="0" tIns="0" rIns="0" bIns="0" rtlCol="0" anchor="t"/>
          <a:lstStyle/>
          <a:p>
            <a:pPr indent="0" marL="0">
              <a:buNone/>
            </a:pPr>
            <a:r>
              <a:rPr lang="en-US" sz="1400" dirty="0">
                <a:solidFill>
                  <a:srgbClr val="1F2933"/>
                </a:solidFill>
              </a:rPr>
              <a:t>The plan check: North America camera price planned $239, entered $293</a:t>
            </a:r>
            <a:endParaRPr lang="en-US" sz="1400" dirty="0"/>
          </a:p>
        </p:txBody>
      </p:sp>
      <p:sp>
        <p:nvSpPr>
          <p:cNvPr id="14"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5"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8</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6"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globus/cir-Y7.csv, then the demo workbook and the Year 8 capture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Following the money: where each step reaches P&amp;L and value</a:t>
            </a:r>
            <a:endParaRPr lang="en-US" sz="3000" dirty="0"/>
          </a:p>
        </p:txBody>
      </p:sp>
      <p:sp>
        <p:nvSpPr>
          <p:cNvPr id="3" name="pl0"/>
          <p:cNvSpPr txBox="1"/>
          <p:nvPr/>
        </p:nvSpPr>
        <p:spPr>
          <a:xfrm>
            <a:off x="502920" y="1234440"/>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Revenue</a:t>
            </a:r>
            <a:endParaRPr lang="en-US" sz="1600" dirty="0"/>
          </a:p>
          <a:p>
            <a:pPr indent="0" marL="0">
              <a:buNone/>
            </a:pPr>
            <a:r>
              <a:rPr lang="en-US" sz="1200" dirty="0">
                <a:solidFill>
                  <a:srgbClr val="D9E2EC"/>
                </a:solidFill>
              </a:rPr>
              <a:t>price · volume · mix</a:t>
            </a:r>
            <a:endParaRPr lang="en-US" sz="1600" dirty="0"/>
          </a:p>
        </p:txBody>
      </p:sp>
      <p:sp>
        <p:nvSpPr>
          <p:cNvPr id="4" name="skills0"/>
          <p:cNvSpPr txBox="1"/>
          <p:nvPr/>
        </p:nvSpPr>
        <p:spPr>
          <a:xfrm>
            <a:off x="3429000" y="1234440"/>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Industry Overview · Strategic Mapping · Pricing · Go-to-Market</a:t>
            </a:r>
            <a:endParaRPr lang="en-US" sz="1500" dirty="0"/>
          </a:p>
        </p:txBody>
      </p:sp>
      <p:sp>
        <p:nvSpPr>
          <p:cNvPr id="5" name="pl1"/>
          <p:cNvSpPr txBox="1"/>
          <p:nvPr/>
        </p:nvSpPr>
        <p:spPr>
          <a:xfrm>
            <a:off x="502920" y="2039112"/>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Cost of goods</a:t>
            </a:r>
            <a:endParaRPr lang="en-US" sz="1600" dirty="0"/>
          </a:p>
          <a:p>
            <a:pPr indent="0" marL="0">
              <a:buNone/>
            </a:pPr>
            <a:r>
              <a:rPr lang="en-US" sz="1200" dirty="0">
                <a:solidFill>
                  <a:srgbClr val="D9E2EC"/>
                </a:solidFill>
              </a:rPr>
              <a:t>inputs · labour</a:t>
            </a:r>
            <a:endParaRPr lang="en-US" sz="1600" dirty="0"/>
          </a:p>
        </p:txBody>
      </p:sp>
      <p:sp>
        <p:nvSpPr>
          <p:cNvPr id="6" name="skills1"/>
          <p:cNvSpPr txBox="1"/>
          <p:nvPr/>
        </p:nvSpPr>
        <p:spPr>
          <a:xfrm>
            <a:off x="3429000" y="2039112"/>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Five Forces (suppliers) · Value Chain · Unit Economics · Negotiation Prep</a:t>
            </a:r>
            <a:endParaRPr lang="en-US" sz="1500" dirty="0"/>
          </a:p>
        </p:txBody>
      </p:sp>
      <p:sp>
        <p:nvSpPr>
          <p:cNvPr id="7" name="pl2"/>
          <p:cNvSpPr txBox="1"/>
          <p:nvPr/>
        </p:nvSpPr>
        <p:spPr>
          <a:xfrm>
            <a:off x="502920" y="2843784"/>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Operating expenses</a:t>
            </a:r>
            <a:endParaRPr lang="en-US" sz="1600" dirty="0"/>
          </a:p>
          <a:p>
            <a:pPr indent="0" marL="0">
              <a:buNone/>
            </a:pPr>
            <a:r>
              <a:rPr lang="en-US" sz="1200" dirty="0">
                <a:solidFill>
                  <a:srgbClr val="D9E2EC"/>
                </a:solidFill>
              </a:rPr>
              <a:t>SG&amp;A · R&amp;D</a:t>
            </a:r>
            <a:endParaRPr lang="en-US" sz="1600" dirty="0"/>
          </a:p>
        </p:txBody>
      </p:sp>
      <p:sp>
        <p:nvSpPr>
          <p:cNvPr id="8" name="skills2"/>
          <p:cNvSpPr txBox="1"/>
          <p:nvPr/>
        </p:nvSpPr>
        <p:spPr>
          <a:xfrm>
            <a:off x="3429000" y="2843784"/>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Full Potential · Operating Model · Go-to-Market (CAC)</a:t>
            </a:r>
            <a:endParaRPr lang="en-US" sz="1500" dirty="0"/>
          </a:p>
        </p:txBody>
      </p:sp>
      <p:sp>
        <p:nvSpPr>
          <p:cNvPr id="9" name="pl3"/>
          <p:cNvSpPr txBox="1"/>
          <p:nvPr/>
        </p:nvSpPr>
        <p:spPr>
          <a:xfrm>
            <a:off x="502920" y="3648456"/>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Investment</a:t>
            </a:r>
            <a:endParaRPr lang="en-US" sz="1600" dirty="0"/>
          </a:p>
          <a:p>
            <a:pPr indent="0" marL="0">
              <a:buNone/>
            </a:pPr>
            <a:r>
              <a:rPr lang="en-US" sz="1200" dirty="0">
                <a:solidFill>
                  <a:srgbClr val="D9E2EC"/>
                </a:solidFill>
              </a:rPr>
              <a:t>capex · working capital</a:t>
            </a:r>
            <a:endParaRPr lang="en-US" sz="1600" dirty="0"/>
          </a:p>
        </p:txBody>
      </p:sp>
      <p:sp>
        <p:nvSpPr>
          <p:cNvPr id="10" name="skills3"/>
          <p:cNvSpPr txBox="1"/>
          <p:nvPr/>
        </p:nvSpPr>
        <p:spPr>
          <a:xfrm>
            <a:off x="3429000" y="3648456"/>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Business Case · Initiative Prioritizer · Execution Roadmap gates</a:t>
            </a:r>
            <a:endParaRPr lang="en-US" sz="1500" dirty="0"/>
          </a:p>
        </p:txBody>
      </p:sp>
      <p:sp>
        <p:nvSpPr>
          <p:cNvPr id="11" name="pl4"/>
          <p:cNvSpPr txBox="1"/>
          <p:nvPr/>
        </p:nvSpPr>
        <p:spPr>
          <a:xfrm>
            <a:off x="502920" y="4453128"/>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Risk</a:t>
            </a:r>
            <a:endParaRPr lang="en-US" sz="1600" dirty="0"/>
          </a:p>
          <a:p>
            <a:pPr indent="0" marL="0">
              <a:buNone/>
            </a:pPr>
            <a:r>
              <a:rPr lang="en-US" sz="1200" dirty="0">
                <a:solidFill>
                  <a:srgbClr val="D9E2EC"/>
                </a:solidFill>
              </a:rPr>
              <a:t>cost of capital</a:t>
            </a:r>
            <a:endParaRPr lang="en-US" sz="1600" dirty="0"/>
          </a:p>
        </p:txBody>
      </p:sp>
      <p:sp>
        <p:nvSpPr>
          <p:cNvPr id="12" name="skills4"/>
          <p:cNvSpPr txBox="1"/>
          <p:nvPr/>
        </p:nvSpPr>
        <p:spPr>
          <a:xfrm>
            <a:off x="3429000" y="4453128"/>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Risk Analysis · Expected Value · Stress Test · Stakeholder Map</a:t>
            </a:r>
            <a:endParaRPr lang="en-US" sz="1500" dirty="0"/>
          </a:p>
        </p:txBody>
      </p:sp>
      <p:sp>
        <p:nvSpPr>
          <p:cNvPr id="13" name="pl5"/>
          <p:cNvSpPr txBox="1"/>
          <p:nvPr/>
        </p:nvSpPr>
        <p:spPr>
          <a:xfrm>
            <a:off x="502920" y="5257800"/>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Durability</a:t>
            </a:r>
            <a:endParaRPr lang="en-US" sz="1600" dirty="0"/>
          </a:p>
          <a:p>
            <a:pPr indent="0" marL="0">
              <a:buNone/>
            </a:pPr>
            <a:r>
              <a:rPr lang="en-US" sz="1200" dirty="0">
                <a:solidFill>
                  <a:srgbClr val="D9E2EC"/>
                </a:solidFill>
              </a:rPr>
              <a:t>terminal value</a:t>
            </a:r>
            <a:endParaRPr lang="en-US" sz="1600" dirty="0"/>
          </a:p>
        </p:txBody>
      </p:sp>
      <p:sp>
        <p:nvSpPr>
          <p:cNvPr id="14" name="skills5"/>
          <p:cNvSpPr txBox="1"/>
          <p:nvPr/>
        </p:nvSpPr>
        <p:spPr>
          <a:xfrm>
            <a:off x="3429000" y="5257800"/>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KSFs · VRIO · Value Realization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Strat-IQ Workbook: the analysis in live Excel</a:t>
            </a:r>
            <a:endParaRPr lang="en-US" sz="3000" dirty="0"/>
          </a:p>
        </p:txBody>
      </p:sp>
      <p:sp>
        <p:nvSpPr>
          <p:cNvPr id="3" name="wb0"/>
          <p:cNvSpPr txBox="1"/>
          <p:nvPr/>
        </p:nvSpPr>
        <p:spPr>
          <a:xfrm>
            <a:off x="502920" y="1280160"/>
            <a:ext cx="5120640" cy="1051560"/>
          </a:xfrm>
          <a:prstGeom prst="roundRect">
            <a:avLst>
              <a:gd name="adj" fmla="val 6957"/>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Part 1 · Industry</a:t>
            </a:r>
            <a:endParaRPr lang="en-US" sz="1700" dirty="0"/>
          </a:p>
          <a:p>
            <a:pPr indent="0" marL="0">
              <a:buNone/>
            </a:pPr>
            <a:r>
              <a:rPr lang="en-US" sz="1200" dirty="0">
                <a:solidFill>
                  <a:srgbClr val="1F2933"/>
                </a:solidFill>
              </a:rPr>
              <a:t>Management Interviews · Industry Overview · Competitive Analysis · PESTEL · Five Forces · Trending Factors · KSFs · Strategic Mapping</a:t>
            </a:r>
            <a:endParaRPr lang="en-US" sz="1700" dirty="0"/>
          </a:p>
        </p:txBody>
      </p:sp>
      <p:sp>
        <p:nvSpPr>
          <p:cNvPr id="4" name="wb1"/>
          <p:cNvSpPr txBox="1"/>
          <p:nvPr/>
        </p:nvSpPr>
        <p:spPr>
          <a:xfrm>
            <a:off x="502920" y="2468880"/>
            <a:ext cx="5120640" cy="1051560"/>
          </a:xfrm>
          <a:prstGeom prst="roundRect">
            <a:avLst>
              <a:gd name="adj" fmla="val 6957"/>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Part 2 · Company</a:t>
            </a:r>
            <a:endParaRPr lang="en-US" sz="1700" dirty="0"/>
          </a:p>
          <a:p>
            <a:pPr indent="0" marL="0">
              <a:buNone/>
            </a:pPr>
            <a:r>
              <a:rPr lang="en-US" sz="1200" dirty="0">
                <a:solidFill>
                  <a:srgbClr val="1F2933"/>
                </a:solidFill>
              </a:rPr>
              <a:t>Value Chain · Unit Economics · Resources &amp; Capabilities · VRIO · Full Potential · Growth Barriers · SWOT-TOWS</a:t>
            </a:r>
            <a:endParaRPr lang="en-US" sz="1700" dirty="0"/>
          </a:p>
        </p:txBody>
      </p:sp>
      <p:sp>
        <p:nvSpPr>
          <p:cNvPr id="5" name="wb2"/>
          <p:cNvSpPr txBox="1"/>
          <p:nvPr/>
        </p:nvSpPr>
        <p:spPr>
          <a:xfrm>
            <a:off x="502920" y="3657600"/>
            <a:ext cx="5120640" cy="1051560"/>
          </a:xfrm>
          <a:prstGeom prst="roundRect">
            <a:avLst>
              <a:gd name="adj" fmla="val 6957"/>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Part 3 · Strategy</a:t>
            </a:r>
            <a:endParaRPr lang="en-US" sz="1700" dirty="0"/>
          </a:p>
          <a:p>
            <a:pPr indent="0" marL="0">
              <a:buNone/>
            </a:pPr>
            <a:r>
              <a:rPr lang="en-US" sz="1200" dirty="0">
                <a:solidFill>
                  <a:srgbClr val="1F2933"/>
                </a:solidFill>
              </a:rPr>
              <a:t>Positioning · Options · Decision Matrix · Business Case · Expected Value · Risk · Pricing · Stress Test · Go-to-Market · Initiatives · Operating Model · Roadmap · Scorecard · Strategy Map</a:t>
            </a:r>
            <a:endParaRPr lang="en-US" sz="1700" dirty="0"/>
          </a:p>
        </p:txBody>
      </p:sp>
      <p:sp>
        <p:nvSpPr>
          <p:cNvPr id="6" name="wb3"/>
          <p:cNvSpPr txBox="1"/>
          <p:nvPr/>
        </p:nvSpPr>
        <p:spPr>
          <a:xfrm>
            <a:off x="502920" y="4846320"/>
            <a:ext cx="5120640" cy="1051560"/>
          </a:xfrm>
          <a:prstGeom prst="roundRect">
            <a:avLst>
              <a:gd name="adj" fmla="val 6957"/>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GLO-BUS</a:t>
            </a:r>
            <a:endParaRPr lang="en-US" sz="1700" dirty="0"/>
          </a:p>
          <a:p>
            <a:pPr indent="0" marL="0">
              <a:buNone/>
            </a:pPr>
            <a:r>
              <a:rPr lang="en-US" sz="1200" dirty="0">
                <a:solidFill>
                  <a:srgbClr val="1F2933"/>
                </a:solidFill>
              </a:rPr>
              <a:t>CIR · Planner · Season by Year · Competition by Year · KPI Charts · Findings &amp; Questions</a:t>
            </a:r>
            <a:endParaRPr lang="en-US" sz="1700" dirty="0"/>
          </a:p>
        </p:txBody>
      </p:sp>
      <p:graphicFrame>
        <p:nvGraphicFramePr>
          <p:cNvPr id="7" name="Chart 0" descr=""/>
          <p:cNvGraphicFramePr/>
          <p:nvPr/>
        </p:nvGraphicFramePr>
        <p:xfrm>
          <a:off x="6035040" y="1280160"/>
          <a:ext cx="56235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035040" y="5623560"/>
            <a:ext cx="5623560" cy="457200"/>
          </a:xfrm>
          <a:prstGeom prst="rect">
            <a:avLst/>
          </a:prstGeom>
          <a:noFill/>
          <a:ln/>
        </p:spPr>
        <p:txBody>
          <a:bodyPr wrap="square" lIns="0" tIns="0" rIns="0" bIns="0" rtlCol="0" anchor="ctr"/>
          <a:lstStyle/>
          <a:p>
            <a:pPr indent="0" marL="0">
              <a:buNone/>
            </a:pPr>
            <a:r>
              <a:rPr lang="en-US" sz="1300" i="1" dirty="0">
                <a:solidFill>
                  <a:srgbClr val="5F6B76"/>
                </a:solidFill>
              </a:rPr>
              <a:t>Every grey cell is a formula: change an input and the scores, ranks, NPV and charts update.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workbook: change one input, watch it move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9</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Build our Strat-IQ workbook from the ledger with our Year 6 and Year 7 GLO-BUS captures.</a:t>
            </a:r>
            <a:endParaRPr lang="en-US" sz="1400" dirty="0"/>
          </a:p>
        </p:txBody>
      </p:sp>
      <p:sp>
        <p:nvSpPr>
          <p:cNvPr id="6" name="watchlabel"/>
          <p:cNvSpPr txBox="1"/>
          <p:nvPr/>
        </p:nvSpPr>
        <p:spPr>
          <a:xfrm>
            <a:off x="502920" y="28072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32095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3191256"/>
            <a:ext cx="4910328" cy="813816"/>
          </a:xfrm>
          <a:prstGeom prst="rect">
            <a:avLst/>
          </a:prstGeom>
          <a:noFill/>
          <a:ln/>
        </p:spPr>
        <p:txBody>
          <a:bodyPr wrap="square" lIns="0" tIns="0" rIns="0" bIns="0" rtlCol="0" anchor="t"/>
          <a:lstStyle/>
          <a:p>
            <a:pPr indent="0" marL="0">
              <a:buNone/>
            </a:pPr>
            <a:r>
              <a:rPr lang="en-US" sz="1400" dirty="0">
                <a:solidFill>
                  <a:srgbClr val="1F2933"/>
                </a:solidFill>
              </a:rPr>
              <a:t>Risk Analysis: change Units low from −20% to −10%; the bar shrinks and the chance of a loss falls</a:t>
            </a:r>
            <a:endParaRPr lang="en-US" sz="1400" dirty="0"/>
          </a:p>
        </p:txBody>
      </p:sp>
      <p:sp>
        <p:nvSpPr>
          <p:cNvPr id="9" name="watchnum1"/>
          <p:cNvSpPr txBox="1"/>
          <p:nvPr/>
        </p:nvSpPr>
        <p:spPr>
          <a:xfrm>
            <a:off x="502920" y="40782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4059936"/>
            <a:ext cx="4910328" cy="813816"/>
          </a:xfrm>
          <a:prstGeom prst="rect">
            <a:avLst/>
          </a:prstGeom>
          <a:noFill/>
          <a:ln/>
        </p:spPr>
        <p:txBody>
          <a:bodyPr wrap="square" lIns="0" tIns="0" rIns="0" bIns="0" rtlCol="0" anchor="t"/>
          <a:lstStyle/>
          <a:p>
            <a:pPr indent="0" marL="0">
              <a:buNone/>
            </a:pPr>
            <a:r>
              <a:rPr lang="en-US" sz="1400" dirty="0">
                <a:solidFill>
                  <a:srgbClr val="1F2933"/>
                </a:solidFill>
              </a:rPr>
              <a:t>Expected Value: raise the pilot cost from 25 to 60; its net value turns negative</a:t>
            </a:r>
            <a:endParaRPr lang="en-US" sz="1400" dirty="0"/>
          </a:p>
        </p:txBody>
      </p:sp>
      <p:sp>
        <p:nvSpPr>
          <p:cNvPr id="11" name="watchnum2"/>
          <p:cNvSpPr txBox="1"/>
          <p:nvPr/>
        </p:nvSpPr>
        <p:spPr>
          <a:xfrm>
            <a:off x="502920" y="49469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928616"/>
            <a:ext cx="4910328" cy="813816"/>
          </a:xfrm>
          <a:prstGeom prst="rect">
            <a:avLst/>
          </a:prstGeom>
          <a:noFill/>
          <a:ln/>
        </p:spPr>
        <p:txBody>
          <a:bodyPr wrap="square" lIns="0" tIns="0" rIns="0" bIns="0" rtlCol="0" anchor="t"/>
          <a:lstStyle/>
          <a:p>
            <a:pPr indent="0" marL="0">
              <a:buNone/>
            </a:pPr>
            <a:r>
              <a:rPr lang="en-US" sz="1400" dirty="0">
                <a:solidFill>
                  <a:srgbClr val="1F2933"/>
                </a:solidFill>
              </a:rPr>
              <a:t>Tracking: EPS rose to $2.10 but stayed under the investor expectation</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9</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StratIQ_Workbook_demo.xlsx (prebuilt)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Four rules that keep the work yours</a:t>
            </a:r>
            <a:endParaRPr lang="en-US" sz="3000" dirty="0"/>
          </a:p>
        </p:txBody>
      </p:sp>
      <p:sp>
        <p:nvSpPr>
          <p:cNvPr id="3" name="rulecard0"/>
          <p:cNvSpPr/>
          <p:nvPr/>
        </p:nvSpPr>
        <p:spPr>
          <a:xfrm>
            <a:off x="502920" y="1325880"/>
            <a:ext cx="5440680" cy="2103120"/>
          </a:xfrm>
          <a:prstGeom prst="roundRect">
            <a:avLst>
              <a:gd name="adj" fmla="val 4348"/>
            </a:avLst>
          </a:prstGeom>
          <a:solidFill>
            <a:srgbClr val="F3F1EC"/>
          </a:solidFill>
          <a:ln w="12700">
            <a:solidFill>
              <a:srgbClr val="F3F1EC"/>
            </a:solidFill>
            <a:prstDash val="solid"/>
          </a:ln>
        </p:spPr>
      </p:sp>
      <p:sp>
        <p:nvSpPr>
          <p:cNvPr id="4" name="rulenum0"/>
          <p:cNvSpPr txBox="1"/>
          <p:nvPr/>
        </p:nvSpPr>
        <p:spPr>
          <a:xfrm>
            <a:off x="777240" y="160020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1</a:t>
            </a:r>
            <a:endParaRPr lang="en-US" sz="2000" dirty="0"/>
          </a:p>
        </p:txBody>
      </p:sp>
      <p:sp>
        <p:nvSpPr>
          <p:cNvPr id="5" name="ruletext0"/>
          <p:cNvSpPr txBox="1"/>
          <p:nvPr/>
        </p:nvSpPr>
        <p:spPr>
          <a:xfrm>
            <a:off x="1600200" y="155448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You choose the strategy</a:t>
            </a:r>
            <a:endParaRPr lang="en-US" sz="1900" dirty="0"/>
          </a:p>
          <a:p>
            <a:pPr indent="0" marL="0">
              <a:buNone/>
            </a:pPr>
            <a:r>
              <a:rPr lang="en-US" sz="1500" dirty="0">
                <a:solidFill>
                  <a:srgbClr val="1F2933"/>
                </a:solidFill>
              </a:rPr>
              <a:t>The interview asks and tests; it never picks. Options Claude adds are marked SUGGESTED.</a:t>
            </a:r>
            <a:endParaRPr lang="en-US" sz="1900" dirty="0"/>
          </a:p>
        </p:txBody>
      </p:sp>
      <p:sp>
        <p:nvSpPr>
          <p:cNvPr id="6" name="rulecard1"/>
          <p:cNvSpPr/>
          <p:nvPr/>
        </p:nvSpPr>
        <p:spPr>
          <a:xfrm>
            <a:off x="6172200" y="1325880"/>
            <a:ext cx="5440680" cy="2103120"/>
          </a:xfrm>
          <a:prstGeom prst="roundRect">
            <a:avLst>
              <a:gd name="adj" fmla="val 4348"/>
            </a:avLst>
          </a:prstGeom>
          <a:solidFill>
            <a:srgbClr val="F3F1EC"/>
          </a:solidFill>
          <a:ln w="12700">
            <a:solidFill>
              <a:srgbClr val="F3F1EC"/>
            </a:solidFill>
            <a:prstDash val="solid"/>
          </a:ln>
        </p:spPr>
      </p:sp>
      <p:sp>
        <p:nvSpPr>
          <p:cNvPr id="7" name="rulenum1"/>
          <p:cNvSpPr txBox="1"/>
          <p:nvPr/>
        </p:nvSpPr>
        <p:spPr>
          <a:xfrm>
            <a:off x="6446520" y="160020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2</a:t>
            </a:r>
            <a:endParaRPr lang="en-US" sz="2000" dirty="0"/>
          </a:p>
        </p:txBody>
      </p:sp>
      <p:sp>
        <p:nvSpPr>
          <p:cNvPr id="8" name="ruletext1"/>
          <p:cNvSpPr txBox="1"/>
          <p:nvPr/>
        </p:nvSpPr>
        <p:spPr>
          <a:xfrm>
            <a:off x="7269480" y="155448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You enter every decision</a:t>
            </a:r>
            <a:endParaRPr lang="en-US" sz="1900" dirty="0"/>
          </a:p>
          <a:p>
            <a:pPr indent="0" marL="0">
              <a:buNone/>
            </a:pPr>
            <a:r>
              <a:rPr lang="en-US" sz="1500" dirty="0">
                <a:solidFill>
                  <a:srgbClr val="1F2933"/>
                </a:solidFill>
              </a:rPr>
              <a:t>In GLO-BUS, Strat-IQ plans, checks and reviews. It never enters or submits anything.</a:t>
            </a:r>
            <a:endParaRPr lang="en-US" sz="1900" dirty="0"/>
          </a:p>
        </p:txBody>
      </p:sp>
      <p:sp>
        <p:nvSpPr>
          <p:cNvPr id="9" name="rulecard2"/>
          <p:cNvSpPr/>
          <p:nvPr/>
        </p:nvSpPr>
        <p:spPr>
          <a:xfrm>
            <a:off x="502920" y="3703320"/>
            <a:ext cx="5440680" cy="2103120"/>
          </a:xfrm>
          <a:prstGeom prst="roundRect">
            <a:avLst>
              <a:gd name="adj" fmla="val 4348"/>
            </a:avLst>
          </a:prstGeom>
          <a:solidFill>
            <a:srgbClr val="F3F1EC"/>
          </a:solidFill>
          <a:ln w="12700">
            <a:solidFill>
              <a:srgbClr val="F3F1EC"/>
            </a:solidFill>
            <a:prstDash val="solid"/>
          </a:ln>
        </p:spPr>
      </p:sp>
      <p:sp>
        <p:nvSpPr>
          <p:cNvPr id="10" name="rulenum2"/>
          <p:cNvSpPr txBox="1"/>
          <p:nvPr/>
        </p:nvSpPr>
        <p:spPr>
          <a:xfrm>
            <a:off x="777240" y="397764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3</a:t>
            </a:r>
            <a:endParaRPr lang="en-US" sz="2000" dirty="0"/>
          </a:p>
        </p:txBody>
      </p:sp>
      <p:sp>
        <p:nvSpPr>
          <p:cNvPr id="11" name="ruletext2"/>
          <p:cNvSpPr txBox="1"/>
          <p:nvPr/>
        </p:nvSpPr>
        <p:spPr>
          <a:xfrm>
            <a:off x="1600200" y="393192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Your memo stays yours</a:t>
            </a:r>
            <a:endParaRPr lang="en-US" sz="1900" dirty="0"/>
          </a:p>
          <a:p>
            <a:pPr indent="0" marL="0">
              <a:buNone/>
            </a:pPr>
            <a:r>
              <a:rPr lang="en-US" sz="1500" dirty="0">
                <a:solidFill>
                  <a:srgbClr val="1F2933"/>
                </a:solidFill>
              </a:rPr>
              <a:t>Exhibits leave every Impact Summary blank; the Memo Coach returns questions, not text.</a:t>
            </a:r>
            <a:endParaRPr lang="en-US" sz="1900" dirty="0"/>
          </a:p>
        </p:txBody>
      </p:sp>
      <p:sp>
        <p:nvSpPr>
          <p:cNvPr id="12" name="rulecard3"/>
          <p:cNvSpPr/>
          <p:nvPr/>
        </p:nvSpPr>
        <p:spPr>
          <a:xfrm>
            <a:off x="6172200" y="3703320"/>
            <a:ext cx="5440680" cy="2103120"/>
          </a:xfrm>
          <a:prstGeom prst="roundRect">
            <a:avLst>
              <a:gd name="adj" fmla="val 4348"/>
            </a:avLst>
          </a:prstGeom>
          <a:solidFill>
            <a:srgbClr val="F3F1EC"/>
          </a:solidFill>
          <a:ln w="12700">
            <a:solidFill>
              <a:srgbClr val="F3F1EC"/>
            </a:solidFill>
            <a:prstDash val="solid"/>
          </a:ln>
        </p:spPr>
      </p:sp>
      <p:sp>
        <p:nvSpPr>
          <p:cNvPr id="13" name="rulenum3"/>
          <p:cNvSpPr txBox="1"/>
          <p:nvPr/>
        </p:nvSpPr>
        <p:spPr>
          <a:xfrm>
            <a:off x="6446520" y="397764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4</a:t>
            </a:r>
            <a:endParaRPr lang="en-US" sz="2000" dirty="0"/>
          </a:p>
        </p:txBody>
      </p:sp>
      <p:sp>
        <p:nvSpPr>
          <p:cNvPr id="14" name="ruletext3"/>
          <p:cNvSpPr txBox="1"/>
          <p:nvPr/>
        </p:nvSpPr>
        <p:spPr>
          <a:xfrm>
            <a:off x="7269480" y="393192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Evidence or it doesn't count</a:t>
            </a:r>
            <a:endParaRPr lang="en-US" sz="1900" dirty="0"/>
          </a:p>
          <a:p>
            <a:pPr indent="0" marL="0">
              <a:buNone/>
            </a:pPr>
            <a:r>
              <a:rPr lang="en-US" sz="1500" dirty="0">
                <a:solidFill>
                  <a:srgbClr val="1F2933"/>
                </a:solidFill>
              </a:rPr>
              <a:t>Every claim carries a source; missing facts are marked, never invented.</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Install the Strat-IQ Toolkit in about fifteen minutes</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Release v3.1.0</a:t>
            </a:r>
            <a:endParaRPr lang="en-US" sz="1100" dirty="0"/>
          </a:p>
        </p:txBody>
      </p:sp>
      <p:sp>
        <p:nvSpPr>
          <p:cNvPr id="4" name="step0"/>
          <p:cNvSpPr txBox="1"/>
          <p:nvPr/>
        </p:nvSpPr>
        <p:spPr>
          <a:xfrm>
            <a:off x="502920" y="1344168"/>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1</a:t>
            </a:r>
            <a:endParaRPr lang="en-US" sz="1800" dirty="0"/>
          </a:p>
        </p:txBody>
      </p:sp>
      <p:sp>
        <p:nvSpPr>
          <p:cNvPr id="5" name="steptext0"/>
          <p:cNvSpPr txBox="1"/>
          <p:nvPr/>
        </p:nvSpPr>
        <p:spPr>
          <a:xfrm>
            <a:off x="1280160" y="1234440"/>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Delete the old skills   </a:t>
            </a:r>
            <a:pPr indent="0" marL="0">
              <a:buNone/>
            </a:pPr>
            <a:r>
              <a:rPr lang="en-US" sz="1500" dirty="0">
                <a:solidFill>
                  <a:srgbClr val="1F2933"/>
                </a:solidFill>
              </a:rPr>
              <a:t>StratOS is now the Strat-IQ Toolkit. Delete every skill whose name starts with stratos-.</a:t>
            </a:r>
            <a:endParaRPr lang="en-US" sz="1700" dirty="0"/>
          </a:p>
        </p:txBody>
      </p:sp>
      <p:sp>
        <p:nvSpPr>
          <p:cNvPr id="6" name="step1"/>
          <p:cNvSpPr txBox="1"/>
          <p:nvPr/>
        </p:nvSpPr>
        <p:spPr>
          <a:xfrm>
            <a:off x="502920" y="2331720"/>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2</a:t>
            </a:r>
            <a:endParaRPr lang="en-US" sz="1800" dirty="0"/>
          </a:p>
        </p:txBody>
      </p:sp>
      <p:sp>
        <p:nvSpPr>
          <p:cNvPr id="7" name="steptext1"/>
          <p:cNvSpPr txBox="1"/>
          <p:nvPr/>
        </p:nvSpPr>
        <p:spPr>
          <a:xfrm>
            <a:off x="1280160" y="2221992"/>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Download   </a:t>
            </a:r>
            <a:pPr indent="0" marL="0">
              <a:buNone/>
            </a:pPr>
            <a:r>
              <a:rPr lang="en-US" sz="1500" dirty="0">
                <a:solidFill>
                  <a:srgbClr val="1F2933"/>
                </a:solidFill>
              </a:rPr>
              <a:t>GitHub → Releases → latest → stratiq-toolkit-skills.zip. Unzip once: 40 skill zips inside. Don't unzip those.</a:t>
            </a:r>
            <a:endParaRPr lang="en-US" sz="1700" dirty="0"/>
          </a:p>
        </p:txBody>
      </p:sp>
      <p:sp>
        <p:nvSpPr>
          <p:cNvPr id="8" name="step2"/>
          <p:cNvSpPr txBox="1"/>
          <p:nvPr/>
        </p:nvSpPr>
        <p:spPr>
          <a:xfrm>
            <a:off x="502920" y="3319272"/>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3</a:t>
            </a:r>
            <a:endParaRPr lang="en-US" sz="1800" dirty="0"/>
          </a:p>
        </p:txBody>
      </p:sp>
      <p:sp>
        <p:nvSpPr>
          <p:cNvPr id="9" name="steptext2"/>
          <p:cNvSpPr txBox="1"/>
          <p:nvPr/>
        </p:nvSpPr>
        <p:spPr>
          <a:xfrm>
            <a:off x="1280160" y="3209544"/>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Upload all 40   </a:t>
            </a:r>
            <a:pPr indent="0" marL="0">
              <a:buNone/>
            </a:pPr>
            <a:r>
              <a:rPr lang="en-US" sz="1500" dirty="0">
                <a:solidFill>
                  <a:srgbClr val="1F2933"/>
                </a:solidFill>
              </a:rPr>
              <a:t>Settings → Capabilities → Skills → Upload skill, once per zip. You should see 40 Strat-IQ skills on.</a:t>
            </a:r>
            <a:endParaRPr lang="en-US" sz="1700" dirty="0"/>
          </a:p>
        </p:txBody>
      </p:sp>
      <p:sp>
        <p:nvSpPr>
          <p:cNvPr id="10" name="step3"/>
          <p:cNvSpPr txBox="1"/>
          <p:nvPr/>
        </p:nvSpPr>
        <p:spPr>
          <a:xfrm>
            <a:off x="502920" y="4306824"/>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4</a:t>
            </a:r>
            <a:endParaRPr lang="en-US" sz="1800" dirty="0"/>
          </a:p>
        </p:txBody>
      </p:sp>
      <p:sp>
        <p:nvSpPr>
          <p:cNvPr id="11" name="steptext3"/>
          <p:cNvSpPr txBox="1"/>
          <p:nvPr/>
        </p:nvSpPr>
        <p:spPr>
          <a:xfrm>
            <a:off x="1280160" y="4197096"/>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Update the Project   </a:t>
            </a:r>
            <a:pPr indent="0" marL="0">
              <a:buNone/>
            </a:pPr>
            <a:r>
              <a:rPr lang="en-US" sz="1500" dirty="0">
                <a:solidFill>
                  <a:srgbClr val="1F2933"/>
                </a:solidFill>
              </a:rPr>
              <a:t>Replace industries.json with version 2 (cameras and drones) and keep your latest ledger there.</a:t>
            </a:r>
            <a:endParaRPr lang="en-US" sz="1700" dirty="0"/>
          </a:p>
        </p:txBody>
      </p:sp>
      <p:sp>
        <p:nvSpPr>
          <p:cNvPr id="12" name="step4"/>
          <p:cNvSpPr txBox="1"/>
          <p:nvPr/>
        </p:nvSpPr>
        <p:spPr>
          <a:xfrm>
            <a:off x="502920" y="5294376"/>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5</a:t>
            </a:r>
            <a:endParaRPr lang="en-US" sz="1800" dirty="0"/>
          </a:p>
        </p:txBody>
      </p:sp>
      <p:sp>
        <p:nvSpPr>
          <p:cNvPr id="13" name="steptext4"/>
          <p:cNvSpPr txBox="1"/>
          <p:nvPr/>
        </p:nvSpPr>
        <p:spPr>
          <a:xfrm>
            <a:off x="1280160" y="5184648"/>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Start   </a:t>
            </a:r>
            <a:pPr indent="0" marL="0">
              <a:buNone/>
            </a:pPr>
            <a:r>
              <a:rPr lang="en-US" sz="1500" dirty="0">
                <a:solidFill>
                  <a:srgbClr val="1F2933"/>
                </a:solidFill>
              </a:rPr>
              <a:t>Open a new chat in the Project and type: Run Strat-IQ. Teams start with the management interview.</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Open the process map yourself</a:t>
            </a:r>
            <a:endParaRPr lang="en-US" sz="3000" dirty="0"/>
          </a:p>
        </p:txBody>
      </p:sp>
      <p:pic>
        <p:nvPicPr>
          <p:cNvPr id="3" name="overview-small" descr="Strat-IQ process overview diagram">    </p:cNvPr>
          <p:cNvPicPr>
            <a:picLocks noChangeAspect="1"/>
          </p:cNvPicPr>
          <p:nvPr/>
        </p:nvPicPr>
        <p:blipFill>
          <a:blip r:embed="rId1"/>
          <a:stretch>
            <a:fillRect/>
          </a:stretch>
        </p:blipFill>
        <p:spPr>
          <a:xfrm>
            <a:off x="6400800" y="1325880"/>
            <a:ext cx="5257800" cy="2781854"/>
          </a:xfrm>
          <a:prstGeom prst="rect">
            <a:avLst/>
          </a:prstGeom>
        </p:spPr>
      </p:pic>
      <p:sp>
        <p:nvSpPr>
          <p:cNvPr id="4" name="how0"/>
          <p:cNvSpPr txBox="1"/>
          <p:nvPr/>
        </p:nvSpPr>
        <p:spPr>
          <a:xfrm>
            <a:off x="502920" y="1280160"/>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Download</a:t>
            </a:r>
            <a:endParaRPr lang="en-US" sz="1700" dirty="0"/>
          </a:p>
          <a:p>
            <a:pPr indent="0" marL="0">
              <a:buNone/>
            </a:pPr>
            <a:r>
              <a:rPr lang="en-US" sz="1500" dirty="0">
                <a:solidFill>
                  <a:srgbClr val="1F2933"/>
                </a:solidFill>
              </a:rPr>
              <a:t>StratIQ_Process_Flow.excalidraw (detail) and StratIQ_Process_Overview.excalidraw (one page), posted with this video.</a:t>
            </a:r>
            <a:endParaRPr lang="en-US" sz="1700" dirty="0"/>
          </a:p>
        </p:txBody>
      </p:sp>
      <p:sp>
        <p:nvSpPr>
          <p:cNvPr id="5" name="how1"/>
          <p:cNvSpPr txBox="1"/>
          <p:nvPr/>
        </p:nvSpPr>
        <p:spPr>
          <a:xfrm>
            <a:off x="502920" y="2487168"/>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Open</a:t>
            </a:r>
            <a:endParaRPr lang="en-US" sz="1700" dirty="0"/>
          </a:p>
          <a:p>
            <a:pPr indent="0" marL="0">
              <a:buNone/>
            </a:pPr>
            <a:r>
              <a:rPr lang="en-US" sz="1500" dirty="0">
                <a:solidFill>
                  <a:srgbClr val="1F2933"/>
                </a:solidFill>
              </a:rPr>
              <a:t>Go to excalidraw.com, then Menu → Open, or drag the file onto the page. Free, no account needed.</a:t>
            </a:r>
            <a:endParaRPr lang="en-US" sz="1700" dirty="0"/>
          </a:p>
        </p:txBody>
      </p:sp>
      <p:sp>
        <p:nvSpPr>
          <p:cNvPr id="6" name="how2"/>
          <p:cNvSpPr txBox="1"/>
          <p:nvPr/>
        </p:nvSpPr>
        <p:spPr>
          <a:xfrm>
            <a:off x="502920" y="3694176"/>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Explore</a:t>
            </a:r>
            <a:endParaRPr lang="en-US" sz="1700" dirty="0"/>
          </a:p>
          <a:p>
            <a:pPr indent="0" marL="0">
              <a:buNone/>
            </a:pPr>
            <a:r>
              <a:rPr lang="en-US" sz="1500" dirty="0">
                <a:solidFill>
                  <a:srgbClr val="1F2933"/>
                </a:solidFill>
              </a:rPr>
              <a:t>Scroll to zoom, drag the canvas to move. Find a skill's row to see what it does and passes down.</a:t>
            </a:r>
            <a:endParaRPr lang="en-US" sz="1700" dirty="0"/>
          </a:p>
        </p:txBody>
      </p:sp>
      <p:sp>
        <p:nvSpPr>
          <p:cNvPr id="7" name="how3"/>
          <p:cNvSpPr txBox="1"/>
          <p:nvPr/>
        </p:nvSpPr>
        <p:spPr>
          <a:xfrm>
            <a:off x="502920" y="4901184"/>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Keep a copy</a:t>
            </a:r>
            <a:endParaRPr lang="en-US" sz="1700" dirty="0"/>
          </a:p>
          <a:p>
            <a:pPr indent="0" marL="0">
              <a:buNone/>
            </a:pPr>
            <a:r>
              <a:rPr lang="en-US" sz="1500" dirty="0">
                <a:solidFill>
                  <a:srgbClr val="1F2933"/>
                </a:solidFill>
              </a:rPr>
              <a:t>Menu → Export image saves a PNG. Your edits stay on your computer.</a:t>
            </a:r>
            <a:endParaRPr lang="en-US" sz="1700" dirty="0"/>
          </a:p>
        </p:txBody>
      </p:sp>
      <p:sp>
        <p:nvSpPr>
          <p:cNvPr id="8" name="Text 5"/>
          <p:cNvSpPr txBox="1"/>
          <p:nvPr/>
        </p:nvSpPr>
        <p:spPr>
          <a:xfrm>
            <a:off x="6400800" y="4160520"/>
            <a:ext cx="5257800" cy="457200"/>
          </a:xfrm>
          <a:prstGeom prst="rect">
            <a:avLst/>
          </a:prstGeom>
          <a:noFill/>
          <a:ln/>
        </p:spPr>
        <p:txBody>
          <a:bodyPr wrap="square" lIns="0" tIns="0" rIns="0" bIns="0" rtlCol="0" anchor="ctr"/>
          <a:lstStyle/>
          <a:p>
            <a:pPr indent="0" marL="0">
              <a:buNone/>
            </a:pPr>
            <a:r>
              <a:rPr lang="en-US" sz="1300" i="1" dirty="0">
                <a:solidFill>
                  <a:srgbClr val="5F6B76"/>
                </a:solidFill>
              </a:rPr>
              <a:t>A PNG of each diagram is posted too, if you'd rather not open the file.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Try these this week</a:t>
            </a:r>
            <a:endParaRPr lang="en-US" sz="3000" dirty="0"/>
          </a:p>
        </p:txBody>
      </p:sp>
      <p:sp>
        <p:nvSpPr>
          <p:cNvPr id="3" name="prompt0"/>
          <p:cNvSpPr txBox="1"/>
          <p:nvPr/>
        </p:nvSpPr>
        <p:spPr>
          <a:xfrm>
            <a:off x="502920" y="1234440"/>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Run Strat-IQ and make the strategy work.</a:t>
            </a:r>
            <a:endParaRPr lang="en-US" sz="1600" dirty="0"/>
          </a:p>
        </p:txBody>
      </p:sp>
      <p:sp>
        <p:nvSpPr>
          <p:cNvPr id="4" name="promptlabel0"/>
          <p:cNvSpPr txBox="1"/>
          <p:nvPr/>
        </p:nvSpPr>
        <p:spPr>
          <a:xfrm>
            <a:off x="8869680" y="1234440"/>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Part 3, mode D</a:t>
            </a:r>
            <a:endParaRPr lang="en-US" sz="1600" dirty="0"/>
          </a:p>
        </p:txBody>
      </p:sp>
      <p:sp>
        <p:nvSpPr>
          <p:cNvPr id="5" name="prompt1"/>
          <p:cNvSpPr txBox="1"/>
          <p:nvPr/>
        </p:nvSpPr>
        <p:spPr>
          <a:xfrm>
            <a:off x="502920" y="2084832"/>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Run a risk analysis on my business case.</a:t>
            </a:r>
            <a:endParaRPr lang="en-US" sz="1600" dirty="0"/>
          </a:p>
        </p:txBody>
      </p:sp>
      <p:sp>
        <p:nvSpPr>
          <p:cNvPr id="6" name="promptlabel1"/>
          <p:cNvSpPr txBox="1"/>
          <p:nvPr/>
        </p:nvSpPr>
        <p:spPr>
          <a:xfrm>
            <a:off x="8869680" y="2084832"/>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Exhibit Q-3</a:t>
            </a:r>
            <a:endParaRPr lang="en-US" sz="1600" dirty="0"/>
          </a:p>
        </p:txBody>
      </p:sp>
      <p:sp>
        <p:nvSpPr>
          <p:cNvPr id="7" name="prompt2"/>
          <p:cNvSpPr txBox="1"/>
          <p:nvPr/>
        </p:nvSpPr>
        <p:spPr>
          <a:xfrm>
            <a:off x="502920" y="2935224"/>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Run the Strategy Interview for our GLO-BUS company.</a:t>
            </a:r>
            <a:endParaRPr lang="en-US" sz="1600" dirty="0"/>
          </a:p>
        </p:txBody>
      </p:sp>
      <p:sp>
        <p:nvSpPr>
          <p:cNvPr id="8" name="promptlabel2"/>
          <p:cNvSpPr txBox="1"/>
          <p:nvPr/>
        </p:nvSpPr>
        <p:spPr>
          <a:xfrm>
            <a:off x="8869680" y="2935224"/>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Choose your strategy</a:t>
            </a:r>
            <a:endParaRPr lang="en-US" sz="1600" dirty="0"/>
          </a:p>
        </p:txBody>
      </p:sp>
      <p:sp>
        <p:nvSpPr>
          <p:cNvPr id="9" name="prompt3"/>
          <p:cNvSpPr txBox="1"/>
          <p:nvPr/>
        </p:nvSpPr>
        <p:spPr>
          <a:xfrm>
            <a:off x="502920" y="3785616"/>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Build our Strat-IQ workbook with the GLO-BUS planner.</a:t>
            </a:r>
            <a:endParaRPr lang="en-US" sz="1600" dirty="0"/>
          </a:p>
        </p:txBody>
      </p:sp>
      <p:sp>
        <p:nvSpPr>
          <p:cNvPr id="10" name="promptlabel3"/>
          <p:cNvSpPr txBox="1"/>
          <p:nvPr/>
        </p:nvSpPr>
        <p:spPr>
          <a:xfrm>
            <a:off x="8869680" y="3785616"/>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Plan the year</a:t>
            </a:r>
            <a:endParaRPr lang="en-US" sz="1600" dirty="0"/>
          </a:p>
        </p:txBody>
      </p:sp>
      <p:sp>
        <p:nvSpPr>
          <p:cNvPr id="11" name="prompt4"/>
          <p:cNvSpPr txBox="1"/>
          <p:nvPr/>
        </p:nvSpPr>
        <p:spPr>
          <a:xfrm>
            <a:off x="502920" y="4636008"/>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Check our GLO-BUS entries against the plan.</a:t>
            </a:r>
            <a:endParaRPr lang="en-US" sz="1600" dirty="0"/>
          </a:p>
        </p:txBody>
      </p:sp>
      <p:sp>
        <p:nvSpPr>
          <p:cNvPr id="12" name="promptlabel4"/>
          <p:cNvSpPr txBox="1"/>
          <p:nvPr/>
        </p:nvSpPr>
        <p:spPr>
          <a:xfrm>
            <a:off x="8869680" y="4636008"/>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Catch typos</a:t>
            </a:r>
            <a:endParaRPr lang="en-US" sz="1600" dirty="0"/>
          </a:p>
        </p:txBody>
      </p:sp>
      <p:sp>
        <p:nvSpPr>
          <p:cNvPr id="13" name="prompt5"/>
          <p:cNvSpPr txBox="1"/>
          <p:nvPr/>
        </p:nvSpPr>
        <p:spPr>
          <a:xfrm>
            <a:off x="502920" y="5486400"/>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Rebuild our workbook with all our GLO-BUS captures.</a:t>
            </a:r>
            <a:endParaRPr lang="en-US" sz="1600" dirty="0"/>
          </a:p>
        </p:txBody>
      </p:sp>
      <p:sp>
        <p:nvSpPr>
          <p:cNvPr id="14" name="promptlabel5"/>
          <p:cNvSpPr txBox="1"/>
          <p:nvPr/>
        </p:nvSpPr>
        <p:spPr>
          <a:xfrm>
            <a:off x="8869680" y="5486400"/>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Results and trends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1463040"/>
            <a:ext cx="10515600" cy="16459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Strategy is one argument, built from evidence, that ends in a decision.</a:t>
            </a:r>
            <a:endParaRPr lang="en-US" sz="3600" dirty="0"/>
          </a:p>
        </p:txBody>
      </p:sp>
      <p:sp>
        <p:nvSpPr>
          <p:cNvPr id="3" name="Text 1"/>
          <p:cNvSpPr txBox="1"/>
          <p:nvPr/>
        </p:nvSpPr>
        <p:spPr>
          <a:xfrm>
            <a:off x="731520" y="3246120"/>
            <a:ext cx="10058400" cy="548640"/>
          </a:xfrm>
          <a:prstGeom prst="rect">
            <a:avLst/>
          </a:prstGeom>
          <a:noFill/>
          <a:ln/>
        </p:spPr>
        <p:txBody>
          <a:bodyPr wrap="square" lIns="0" tIns="0" rIns="0" bIns="0" rtlCol="0" anchor="ctr"/>
          <a:lstStyle/>
          <a:p>
            <a:pPr indent="0" marL="0">
              <a:buNone/>
            </a:pPr>
            <a:r>
              <a:rPr lang="en-US" sz="2000" dirty="0">
                <a:solidFill>
                  <a:srgbClr val="C9A55C"/>
                </a:solidFill>
              </a:rPr>
              <a:t>Industry → Company → Strategy → Results, then back again as evidence.</a:t>
            </a:r>
            <a:endParaRPr lang="en-US" sz="2000" dirty="0"/>
          </a:p>
        </p:txBody>
      </p:sp>
      <p:sp>
        <p:nvSpPr>
          <p:cNvPr id="4" name="Text 2"/>
          <p:cNvSpPr txBox="1"/>
          <p:nvPr/>
        </p:nvSpPr>
        <p:spPr>
          <a:xfrm>
            <a:off x="731520" y="4389120"/>
            <a:ext cx="10058400" cy="822960"/>
          </a:xfrm>
          <a:prstGeom prst="rect">
            <a:avLst/>
          </a:prstGeom>
          <a:noFill/>
          <a:ln/>
        </p:spPr>
        <p:txBody>
          <a:bodyPr wrap="square" lIns="0" tIns="0" rIns="0" bIns="0" rtlCol="0" anchor="ctr"/>
          <a:lstStyle/>
          <a:p>
            <a:pPr indent="0" marL="0">
              <a:buNone/>
            </a:pPr>
            <a:r>
              <a:rPr lang="en-US" sz="1800" dirty="0">
                <a:solidFill>
                  <a:srgbClr val="D9E2EC"/>
                </a:solidFill>
              </a:rPr>
              <a:t>Thursday Zoom Sync: bring your strategy statement, your GLO-BUS plan and your toughest question (link on Canvas).</a:t>
            </a:r>
            <a:endParaRPr lang="en-US" sz="1800" dirty="0"/>
          </a:p>
        </p:txBody>
      </p:sp>
    </p:spTree>
  </p:cSld>
  <p:clrMapOvr>
    <a:masterClrMapping/>
  </p:clrMapOvr>
</p:sld>
</file>

<file path=ppt/theme/theme1.xml><?xml version="1.0" encoding="utf-8"?>
<a:theme xmlns:a="http://schemas.openxmlformats.org/drawingml/2006/main" name="Strat-IQ">
  <a:themeElements>
    <a:clrScheme name="Strat-IQ">
      <a:dk1>
        <a:srgbClr val="1F2933"/>
      </a:dk1>
      <a:lt1>
        <a:srgbClr val="FFFFFF"/>
      </a:lt1>
      <a:dk2>
        <a:srgbClr val="1D3557"/>
      </a:dk2>
      <a:lt2>
        <a:srgbClr val="F3F1EC"/>
      </a:lt2>
      <a:accent1>
        <a:srgbClr val="1D3557"/>
      </a:accent1>
      <a:accent2>
        <a:srgbClr val="C9A55C"/>
      </a:accent2>
      <a:accent3>
        <a:srgbClr val="2D936C"/>
      </a:accent3>
      <a:accent4>
        <a:srgbClr val="B5651D"/>
      </a:accent4>
      <a:accent5>
        <a:srgbClr val="6C757D"/>
      </a:accent5>
      <a:accent6>
        <a:srgbClr val="C44536"/>
      </a:accent6>
      <a:hlink>
        <a:srgbClr val="1D3557"/>
      </a:hlink>
      <a:folHlink>
        <a:srgbClr val="6C757D"/>
      </a:folHlink>
    </a:clrScheme>
    <a:fontScheme name="Strat-I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Strat-IQ Toolkit v3: The Complete Process</dc:title>
  <dc:subject>PptxGenJS Presentation</dc:subject>
  <dc:creator>G. Bradley Scheller</dc:creator>
  <cp:lastModifiedBy>G. Bradley Scheller</cp:lastModifiedBy>
  <cp:revision>1</cp:revision>
  <dcterms:created xsi:type="dcterms:W3CDTF">2026-10-08T00:17:30Z</dcterms:created>
  <dcterms:modified xsi:type="dcterms:W3CDTF">2026-10-08T00:17:30Z</dcterms:modified>
</cp:coreProperties>
</file>