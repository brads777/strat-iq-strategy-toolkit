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8"/>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22696202-2519-3773-5c8f-b9fa500c5c09}">
          <p14:sldIdLst>
            <p14:sldId id="256"/>
            <p14:sldId id="257"/>
            <p14:sldId id="258"/>
          </p14:sldIdLst>
        </p14:section>
        <p14:section name="Set up" id="{984e2ddd-7f74-e372-c4e4-3a0da3418283}">
          <p14:sldIdLst>
            <p14:sldId id="259"/>
            <p14:sldId id="260"/>
            <p14:sldId id="261"/>
          </p14:sldIdLst>
        </p14:section>
        <p14:section name="Choose" id="{646c6579-4ffd-1832-9afb-f4897e3d1283}">
          <p14:sldIdLst>
            <p14:sldId id="262"/>
            <p14:sldId id="263"/>
            <p14:sldId id="264"/>
            <p14:sldId id="265"/>
          </p14:sldIdLst>
        </p14:section>
        <p14:section name="Test" id="{a841af62-f050-d770-f30f-2fcb2ef170dc}">
          <p14:sldIdLst>
            <p14:sldId id="266"/>
          </p14:sldIdLst>
        </p14:section>
        <p14:section name="Plan and track" id="{c76e7dc9-6cee-2bd8-3a55-7156d9d9b9a6}">
          <p14:sldIdLst>
            <p14:sldId id="267"/>
            <p14:sldId id="268"/>
            <p14:sldId id="269"/>
            <p14:sldId id="270"/>
            <p14:sldId id="271"/>
          </p14:sldIdLst>
        </p14:section>
        <p14:section name="Using it" id="{2c6c55f2-b795-b4e3-91cb-564138803860}">
          <p14:sldIdLst>
            <p14:sldId id="272"/>
            <p14:sldId id="273"/>
            <p14:sldId id="274"/>
            <p14:sldId id="275"/>
          </p14:sldIdLst>
        </p14:section>
        <p14:section name="Wrap-up" id="{2ba4c6be-3573-efbb-ef27-fa4adba5538f}">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2.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65D"/>
                </a:solidFill>
                <a:latin typeface="+mn-lt"/>
              </a:defRPr>
            </a:pPr>
            <a:r>
              <a:rPr sz="1300" b="0" i="0" u="none" strike="noStrike">
                <a:solidFill>
                  <a:srgbClr val="1B365D"/>
                </a:solidFill>
                <a:latin typeface="+mn-lt"/>
              </a:rPr>
              <a:t>Illustrative NPV at 10% as revenue misses or beats plan ($M)</a:t>
            </a:r>
          </a:p>
        </c:rich>
      </c:tx>
      <c:layout/>
      <c:overlay val="0"/>
    </c:title>
    <c:autoTitleDeleted val="0"/>
    <c:plotArea>
      <c:layout/>
      <c:barChart>
        <c:barDir val="col"/>
        <c:grouping val="clustered"/>
        <c:varyColors val="0"/>
        <c:ser>
          <c:idx val="0"/>
          <c:order val="0"/>
          <c:tx>
            <c:strRef>
              <c:f>Sheet1!$B$1</c:f>
              <c:strCache>
                <c:ptCount val="1"/>
                <c:pt idx="0">
                  <c:v>NPV ($M)</c:v>
                </c:pt>
              </c:strCache>
            </c:strRef>
          </c:tx>
          <c:spPr>
            <a:solidFill>
              <a:srgbClr val="1B365D"/>
            </a:solidFill>
            <a:effectLst/>
          </c:spPr>
          <c:invertIfNegative val="0"/>
          <c:dLbls>
            <c:numFmt formatCode="#,##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dPt>
            <c:idx val="0"/>
            <c:invertIfNegative val="0"/>
            <c:bubble3D val="0"/>
            <c:spPr>
              <a:solidFill>
                <a:srgbClr val="B5523B"/>
              </a:solidFill>
              <a:effectLst/>
            </c:spPr>
          </c:dPt>
          <c:dPt>
            <c:idx val="1"/>
            <c:invertIfNegative val="0"/>
            <c:bubble3D val="0"/>
            <c:spPr>
              <a:solidFill>
                <a:srgbClr val="B5523B"/>
              </a:solidFill>
              <a:effectLst/>
            </c:spPr>
          </c:dPt>
          <c:dPt>
            <c:idx val="2"/>
            <c:invertIfNegative val="0"/>
            <c:bubble3D val="0"/>
            <c:spPr>
              <a:solidFill>
                <a:srgbClr val="B5523B"/>
              </a:solidFill>
              <a:effectLst/>
            </c:spPr>
          </c:dPt>
          <c:dPt>
            <c:idx val="3"/>
            <c:invertIfNegative val="0"/>
            <c:bubble3D val="0"/>
            <c:spPr>
              <a:solidFill>
                <a:srgbClr val="B5523B"/>
              </a:solidFill>
              <a:effectLst/>
            </c:spPr>
          </c:dPt>
          <c:dPt>
            <c:idx val="4"/>
            <c:invertIfNegative val="0"/>
            <c:bubble3D val="0"/>
            <c:spPr>
              <a:solidFill>
                <a:srgbClr val="1B365D"/>
              </a:solidFill>
              <a:effectLst/>
            </c:spPr>
          </c:dPt>
          <c:cat>
            <c:strRef>
              <c:f>Sheet1!$A$2:$A$6</c:f>
              <c:strCache>
                <c:ptCount val="5"/>
                <c:pt idx="0">
                  <c:v>−30%</c:v>
                </c:pt>
                <c:pt idx="1">
                  <c:v>−20%</c:v>
                </c:pt>
                <c:pt idx="2">
                  <c:v>−10%</c:v>
                </c:pt>
                <c:pt idx="3">
                  <c:v>Plan</c:v>
                </c:pt>
                <c:pt idx="4">
                  <c:v>+10%</c:v>
                </c:pt>
              </c:strCache>
            </c:strRef>
          </c:cat>
          <c:val>
            <c:numRef>
              <c:f>Sheet1!$B$2:$B$6</c:f>
              <c:numCache>
                <c:formatCode>#,##0</c:formatCode>
                <c:ptCount val="5"/>
                <c:pt idx="0">
                  <c:v>-2300</c:v>
                </c:pt>
                <c:pt idx="1">
                  <c:v>-1529</c:v>
                </c:pt>
                <c:pt idx="2">
                  <c:v>-782</c:v>
                </c:pt>
                <c:pt idx="3">
                  <c:v>-35</c:v>
                </c:pt>
                <c:pt idx="4">
                  <c:v>713</c:v>
                </c:pt>
              </c:numCache>
            </c:numRef>
          </c:val>
        </c:ser>
        <c:dLbls>
          <c:numFmt formatCode="#,##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65D"/>
                </a:solidFill>
                <a:latin typeface="+mn-lt"/>
              </a:defRPr>
            </a:pPr>
            <a:endParaRPr lang="en-US"/>
          </a:p>
        </c:txPr>
        <c:crossAx val="2094734552"/>
        <c:crosses val="autoZero"/>
        <c:auto val="1"/>
        <c:lblAlgn val="ctr"/>
        <c:noMultiLvlLbl val="1"/>
      </c:catAx>
      <c:valAx>
        <c:axId val="2094734552"/>
        <c:scaling>
          <c:orientation val="minMax"/>
          <c:max val="1000.0"/>
          <c:min val="-2500.0"/>
        </c:scaling>
        <c:delete val="0"/>
        <c:axPos val="l"/>
        <c:majorGridlines>
          <c:spPr>
            <a:ln w="6350" cap="flat">
              <a:solidFill>
                <a:srgbClr val="E5E5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majorUnit val="5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65D"/>
                </a:solidFill>
                <a:latin typeface="+mn-lt"/>
              </a:defRPr>
            </a:pPr>
            <a:r>
              <a:rPr sz="1300" b="0" i="0" u="none" strike="noStrike">
                <a:solidFill>
                  <a:srgbClr val="1B365D"/>
                </a:solidFill>
                <a:latin typeface="+mn-lt"/>
              </a:rPr>
              <a:t>Course handout example ($M)</a:t>
            </a:r>
          </a:p>
        </c:rich>
      </c:tx>
      <c:layout/>
      <c:overlay val="0"/>
    </c:title>
    <c:autoTitleDeleted val="0"/>
    <c:plotArea>
      <c:layout/>
      <c:barChart>
        <c:barDir val="col"/>
        <c:grouping val="clustered"/>
        <c:varyColors val="0"/>
        <c:ser>
          <c:idx val="0"/>
          <c:order val="0"/>
          <c:tx>
            <c:strRef>
              <c:f>Sheet1!$B$1</c:f>
              <c:strCache>
                <c:ptCount val="1"/>
                <c:pt idx="0">
                  <c:v>Expected NPV</c:v>
                </c:pt>
              </c:strCache>
            </c:strRef>
          </c:tx>
          <c:spPr>
            <a:solidFill>
              <a:srgbClr val="1B365D"/>
            </a:solidFill>
            <a:effectLst/>
          </c:spPr>
          <c:invertIfNegative val="0"/>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cat>
            <c:multiLvlStrRef>
              <c:f>Sheet1!$A$2:$A$4</c:f>
              <c:multiLvlStrCache>
                <c:ptCount val="3"/>
                <c:lvl>
                  <c:pt idx="0">
                    <c:v>A: Move upmarket</c:v>
                  </c:pt>
                  <c:pt idx="1">
                    <c:v>B: Cut costs</c:v>
                  </c:pt>
                  <c:pt idx="2">
                    <c:v>C: Do nothing</c:v>
                  </c:pt>
                </c:lvl>
              </c:multiLvlStrCache>
            </c:multiLvlStrRef>
          </c:cat>
          <c:val>
            <c:numRef>
              <c:f>Sheet1!$B$2:$B$4</c:f>
              <c:numCache>
                <c:formatCode>General</c:formatCode>
                <c:ptCount val="3"/>
                <c:pt idx="0">
                  <c:v>4.4</c:v>
                </c:pt>
                <c:pt idx="1">
                  <c:v>4</c:v>
                </c:pt>
                <c:pt idx="2">
                  <c:v>0</c:v>
                </c:pt>
              </c:numCache>
            </c:numRef>
          </c:val>
        </c:ser>
        <c:ser>
          <c:idx val="1"/>
          <c:order val="1"/>
          <c:tx>
            <c:strRef>
              <c:f>Sheet1!$C$1</c:f>
              <c:strCache>
                <c:ptCount val="1"/>
                <c:pt idx="0">
                  <c:v>Worst case</c:v>
                </c:pt>
              </c:strCache>
            </c:strRef>
          </c:tx>
          <c:spPr>
            <a:solidFill>
              <a:srgbClr val="B5523B"/>
            </a:solidFill>
            <a:effectLst/>
          </c:spPr>
          <c:invertIfNegative val="0"/>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cat>
            <c:multiLvlStrRef>
              <c:f>Sheet1!$A$2:$A$4</c:f>
              <c:multiLvlStrCache>
                <c:ptCount val="3"/>
                <c:lvl>
                  <c:pt idx="0">
                    <c:v>A: Move upmarket</c:v>
                  </c:pt>
                  <c:pt idx="1">
                    <c:v>B: Cut costs</c:v>
                  </c:pt>
                  <c:pt idx="2">
                    <c:v>C: Do nothing</c:v>
                  </c:pt>
                </c:lvl>
              </c:multiLvlStrCache>
            </c:multiLvlStrRef>
          </c:cat>
          <c:val>
            <c:numRef>
              <c:f>Sheet1!$C$2:$C$4</c:f>
              <c:numCache>
                <c:formatCode>General</c:formatCode>
                <c:ptCount val="3"/>
                <c:pt idx="0">
                  <c:v>-6</c:v>
                </c:pt>
                <c:pt idx="1">
                  <c:v>1</c:v>
                </c:pt>
                <c:pt idx="2">
                  <c:v>0</c:v>
                </c:pt>
              </c:numCache>
            </c:numRef>
          </c:val>
        </c:ser>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65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5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65D"/>
                </a:solidFill>
                <a:latin typeface="+mn-lt"/>
              </a:defRPr>
            </a:pPr>
            <a:r>
              <a:rPr sz="1300" b="0" i="0" u="none" strike="noStrike">
                <a:solidFill>
                  <a:srgbClr val="1B365D"/>
                </a:solidFill>
                <a:latin typeface="+mn-lt"/>
              </a:rPr>
              <a:t>Illustrative CAC by channel, worked back from the volume target</a:t>
            </a:r>
          </a:p>
        </c:rich>
      </c:tx>
      <c:layout/>
      <c:overlay val="0"/>
    </c:title>
    <c:autoTitleDeleted val="0"/>
    <c:plotArea>
      <c:layout/>
      <c:barChart>
        <c:barDir val="bar"/>
        <c:grouping val="clustered"/>
        <c:varyColors val="0"/>
        <c:ser>
          <c:idx val="0"/>
          <c:order val="0"/>
          <c:tx>
            <c:strRef>
              <c:f>Sheet1!$B$1</c:f>
              <c:strCache>
                <c:ptCount val="1"/>
                <c:pt idx="0">
                  <c:v>CAC per customer ($)</c:v>
                </c:pt>
              </c:strCache>
            </c:strRef>
          </c:tx>
          <c:spPr>
            <a:solidFill>
              <a:srgbClr val="1B365D"/>
            </a:solidFill>
            <a:effectLst/>
          </c:spPr>
          <c:invertIfNegative val="0"/>
          <c:dLbls>
            <c:numFmt formatCode="$#,##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cat>
            <c:multiLvlStrRef>
              <c:f>Sheet1!$A$2:$A$4</c:f>
              <c:multiLvlStrCache>
                <c:ptCount val="3"/>
                <c:lvl>
                  <c:pt idx="0">
                    <c:v>Fleet direct sales</c:v>
                  </c:pt>
                  <c:pt idx="1">
                    <c:v>Online direct</c:v>
                  </c:pt>
                  <c:pt idx="2">
                    <c:v>Blended</c:v>
                  </c:pt>
                </c:lvl>
              </c:multiLvlStrCache>
            </c:multiLvlStrRef>
          </c:cat>
          <c:val>
            <c:numRef>
              <c:f>Sheet1!$B$2:$B$4</c:f>
              <c:numCache>
                <c:formatCode>General</c:formatCode>
                <c:ptCount val="3"/>
                <c:pt idx="0">
                  <c:v>1121</c:v>
                </c:pt>
                <c:pt idx="1">
                  <c:v>1833</c:v>
                </c:pt>
                <c:pt idx="2">
                  <c:v>1548</c:v>
                </c:pt>
              </c:numCache>
            </c:numRef>
          </c:val>
        </c:ser>
        <c:dLbls>
          <c:numFmt formatCode="$#,##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365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365D"/>
                </a:solidFill>
                <a:latin typeface="+mn-lt"/>
              </a:defRPr>
            </a:pPr>
            <a:r>
              <a:rPr sz="1300" b="0" i="0" u="none" strike="noStrike">
                <a:solidFill>
                  <a:srgbClr val="1B365D"/>
                </a:solidFill>
                <a:latin typeface="+mn-lt"/>
              </a:rPr>
              <a:t>Illustrative initiative ranking (RICE)</a:t>
            </a:r>
          </a:p>
        </c:rich>
      </c:tx>
      <c:layout/>
      <c:overlay val="0"/>
    </c:title>
    <c:autoTitleDeleted val="0"/>
    <c:plotArea>
      <c:layout/>
      <c:barChart>
        <c:barDir val="bar"/>
        <c:grouping val="clustered"/>
        <c:varyColors val="0"/>
        <c:ser>
          <c:idx val="0"/>
          <c:order val="0"/>
          <c:tx>
            <c:strRef>
              <c:f>Sheet1!$B$1</c:f>
              <c:strCache>
                <c:ptCount val="1"/>
                <c:pt idx="0">
                  <c:v>RICE score</c:v>
                </c:pt>
              </c:strCache>
            </c:strRef>
          </c:tx>
          <c:spPr>
            <a:solidFill>
              <a:srgbClr val="1B365D"/>
            </a:solidFill>
            <a:effectLst/>
          </c:spPr>
          <c:invertIfNegative val="0"/>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cat>
            <c:multiLvlStrRef>
              <c:f>Sheet1!$A$2:$A$6</c:f>
              <c:multiLvlStrCache>
                <c:ptCount val="5"/>
                <c:lvl>
                  <c:pt idx="0">
                    <c:v>Second LFP cell supplier</c:v>
                  </c:pt>
                  <c:pt idx="1">
                    <c:v>Cut Plant 2 conversion cost</c:v>
                  </c:pt>
                  <c:pt idx="2">
                    <c:v>Rebuild ordering app</c:v>
                  </c:pt>
                  <c:pt idx="3">
                    <c:v>Fleet charging subscription</c:v>
                  </c:pt>
                  <c:pt idx="4">
                    <c:v>Expand service centres</c:v>
                  </c:pt>
                </c:lvl>
              </c:multiLvlStrCache>
            </c:multiLvlStrRef>
          </c:cat>
          <c:val>
            <c:numRef>
              <c:f>Sheet1!$B$2:$B$6</c:f>
              <c:numCache>
                <c:formatCode>General</c:formatCode>
                <c:ptCount val="5"/>
                <c:pt idx="0">
                  <c:v>47.2</c:v>
                </c:pt>
                <c:pt idx="1">
                  <c:v>20</c:v>
                </c:pt>
                <c:pt idx="2">
                  <c:v>9</c:v>
                </c:pt>
                <c:pt idx="3">
                  <c:v>8</c:v>
                </c:pt>
                <c:pt idx="4">
                  <c:v>4</c:v>
                </c:pt>
              </c:numCache>
            </c:numRef>
          </c:val>
        </c:ser>
        <c:dLbls>
          <c:numFmt formatCode="0.0" sourceLinked="0"/>
          <c:txPr>
            <a:bodyPr/>
            <a:lstStyle/>
            <a:p>
              <a:pPr>
                <a:defRPr b="0" i="0" strike="noStrike" sz="1100" u="none">
                  <a:solidFill>
                    <a:srgbClr val="1B365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365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Strat-IQ version 3, which adds Part 3 of the Strategy Lab, the last of the three parts. In Part 1 you read the industry. In Part 2 you read the company. But analysis on its own never tells you what to do. Part 3 is the set of supporting tools that turn your analysis into a strategy that works: generating real options, putting money and probabilities on them, attacking the leading option before anyone commits, and then planning, staffing, negotiating and measuring it. As before, this is optional and ungraded, and it works from the same saved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 are. Part 1 told you what the industry rewards. Part 2 told you what your base company can actually do about it, and it ended with the SWOT and its TOWS matrix: strategic options built by crossing strengths and weaknesses with opportunities and threats. Part 3 picks up exactly there. Those TOWS options become the first candidates in Strategic Options. And because everything lives in one ledger, every number in Part 3 can be traced back to the evidence in Parts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analysis still doesn't choose a strategy, and a chosen strategy still doesn't execute itself. Part 3 works in four moves. Choose: build real options and evaluate them with criteria, a business case and expected value. Test: attack the leading option before committing, its assumptions, competitors' responses, the risks, and the hardest questions you'll face. Plan: decide what to do first, how to organise, who has to say yes, which deals to strike, and what happens in the first hundred days. Track: set the KPIs now, and later compare actual results with the plan, which feeds the next Strat-IQ run. The discipline that ties it together: nothing new appears in the plan; everything traces back to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3 installs Parts 2 and 3 together and takes about fifteen minutes. One: make sure code execution and file creation are on in Settings, Capabilities. If Parts 1 and 2 already work for you, they are. Two: go to the Strat-IQ repository on GitHub, open Releases, choose the latest, version 3.0.0, and under Assets download stratiq-part2-3-skills.zip. Unzip it once. Inside you'll find twenty-nine smaller zips, one per skill. Don't unzip those; Claude needs them zipped. Three: in Settings, Capabilities, Skills, first delete your old copies of the four updated skills, the orchestrator, case exhibits, strategic mapping and the GLO-BUS coach, plus any Part 2 skills from version 1.7. Then choose Upload skill and upload all twenty-nine zips: the Part 2 skills, the seventeen Part 3 skills listed on the right, and the four updated ones. Four: in your Project knowledge, replace industries.json with version 2, which adds the camera and drone industries for GLO-BUS. Five: check the list. You should see thirty-nine Strat-IQ skills switched on, with the original Part 1 orchestrator still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start real work, do a quick check. Open a new chat inside your Strat-IQ Project, with your latest ledger in Project knowledge, and type 'Run Strat-IQ'. The intro screen should show Part 3 and a mode D, 'make the strategy work'. If you see the old eight-step intro, the Part 1 orchestrator is still switched on. If there's no mode D or E, the version 1.7 orchestrator is still installed: replace it with the version 3 copy. If a step says it ran without its skill, upload or switch on that skill. And if your account limits how many skills you can enable, keep the orchestrator and the stages you're using this week switched on. Once the check passes, type 'Run Strat-IQ and make the strategy work.' If you use Claude Code instead, copy the part2 and part3 skills folders into your skills directory. The full step-by-step guide is on the Strat-IQ GitHub Pages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new chat in your Project and type: 'Run Strat-IQ and make the strategy work.' The orchestrator reads your ledger, tells you what it found, and asks which one to three decisions Part 3 should answer. Then it runs mode D: choose, test, plan, track, with a checkpoint after every step where you can continue, revise or stop. One important point for your case memos. In a case, the alternatives, the numbers you'll defend, and the recommendation are yours. Part 3 will suggest options and ranges, clearly marked 'suggested', calculate the inputs you confirm, and coach your draft. It will never write your recommendation, memo text, or an Impact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Choose step is Strategic Options. It starts by framing the decision in three lines: the situation everyone agrees on, the complication that broke it, citing the Part 1 driver or Part 2 gap behind it, and one decision question phrased as a choice. Then it builds at least three options that are structurally different, not one idea at three levels of aggressiveness, for example build, partner or reposition, plus 'do nothing' as the baseline every option has to beat. Each option names what it exploits, a TOWS option, a KSF gap, a whitespace. Finally, for any big or irreversible bet, it designs a staged version: the smallest first step that tells you which future is unfolding, and the gate that releases the next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options are scored on the decision matrix, the Business Case puts money on each one. Revenue is built from drivers, units times price, costs are split into what scales and what doesn't, and the full investment includes working capital. The script returns NPV, IRR, payback, and a sensitivity grid. This illustrative case is a good teaching example: at plan, NPV is slightly negative and IRR is nine and a half percent, just under the ten percent hurdle, and revenue only has to beat plan by half a percent to break even. The chart shows how fast NPV falls if revenue misses. The skill states the break-even in plain words: this case holds only if revenue beats plan. That one sentence is worth more than the NPV itself. It also tells you which question to ask next: does a terminal value or a staged start change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Value follows the handout I posted on choosing among strategic alternatives. List the options plus do nothing, define strong, moderate and weak outcomes, give each a probability that sums to a hundred percent, estimate the NPV of each outcome, then multiply and add. In the handout example, A, moving upmarket, wins on expected value, 4.4 million against 4.0. But the tool adds the checks the average hides. A's worst case loses six million; B never loses money, so B is the maximin choice. The decision is fragile: if the chance of weak demand rises from twenty percent to just under twenty-nine, B wins. And the value of perfect information is 1.4 million: that's the most it's worth spending on a pilot or market test that tells you which demand scenario is real before you commit. That links straight back to staging the big bets.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run only when an option needs them. Pricing, when price is a lever: it maps competitor prices against the generic strategy, bounds the price with willingness to pay using Van Westendorp's four questions, tests revenue and contribution at different prices with a stated elasticity, and asks whether rivals would match a cut. Synergy Case, when an option is an acquisition, JV or alliance: cost and revenue synergies built line by line, revenue synergies haircut because they're the most overstated number in deal-making, integration costs netted out, and the test that matters: do the synergies cover the premium? And Negotiation Prep, when a deal must be struck, with a cell supplier, say: a concrete, priced BATNA for each side, a walk-away point set from that BATNA, the zone of possible agreement, and an opening anchor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Stress Test runs on the leading option before any planning starts. It has four modules. The assumption audit pulls out the load-bearing assumptions, grades their evidence as proven, analogous or belief, and for each dangerous one names the cheapest test and the early-warning trigger. The competitor war-game asks how each rival will respond, using the capability and balance-sheet evidence from Part 1, and checks the option still beats doing nothing afterwards. The risk register scores likelihood, impact and velocity; every high or critical risk needs an owner and a real mitigation, and 'monitor closely' doesn't count. And the hostile Q&amp;A drill asks you ten hard questions, one at a time, scores your answers, and shows you the evidence you didn't use. It's the best preparation I know for a board meeting, or a cold call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version 3 is the Go-to-Market skill. A strategy says where to compete; go-to-market says how you'll win the first customers there, and then the next ones. It works in seven steps. Pick one beachhead segment, reachable through one channel, with an urgent need you meet better than rivals. Define the ideal customer: who buys, who signs, what they use today. Write the value proposition against a named alternative, with proof from your KSFs and VRIO. Take price and packaging from the Pricing skill. Choose channels and the sales motion: online, dealers, fleet sales, partners. Then the calculator works backwards from the business case's volume target, through each channel's conversion rates, to the spend and cost of acquiring each customer. In this illustration, winning a customer costs about twelve percent of the contribution per car, which the business case can afford. Finally, launch phases with gates before more money is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starts with the Initiative Prioritizer. A strategy with fifteen priorities has none. Every initiative traces to something in the analysis: a full-potential gap, the binding growth constraint, a capability gap, a staged step, or a stress-test mitigation. Each is scored on reach, impact, confidence and effort, the RICE score, plus its cost of delay. The script ranks them, respects dependencies, and cuts the list to the capacity you actually have. Notice the top item here: securing a second cell supplier. That's the binding constraint from Growth Barriers in Part 2, which is exactly where the first effort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people questions come next. The Operating Model asks how the organisation must work to execute the strategy. It starts from the three to five things the strategy needs done exceptionally well, assigns decision rights with RAPID, so every key decision has one person who decides, chooses a structure for a stated reason, and runs a 7S check, because a speed strategy with incentives that punish mistakes will quietly fail. The Stakeholder Map lists everyone who can help or block the strategy, inside and outside: the board, unions, dealers, suppliers, regulators. Each gets a power and interest score and a stance based on evidence. Then the coalition math: if the opposition's power equals the supporters', that's the headline finding, and every powerful sceptic gets an individual plan before any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Roadmap turns the ranked initiatives into time. It starts with the first hundred days. Days one to thirty: diagnose, with a listening tour and the cheapest tests of the riskiest assumptions, before any big announcement. In parallel, one or two quick wins the organisation actually values. Days thirty-one to sixty: state three to five priorities and make the hard structural calls, not before the diagnosis and not long after. Days sixty-one to a hundred: launch the first initiatives, each with an owner and an early milestone, and set the operating rhythm. Then comes the longer roadmap: workstreams, dated milestones, and stage gates whose go, hold and exit thresholds are written down in advance, so the decision at each gate isn't made up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Realization closes the loop. Before launch it sets four to eight KPIs, each tied to something in the analysis, a KSF, a growth constraint, a unit-economics line or a danger-zone assumption, with a leading indicator, a target, an owner and a trigger. These are illustrative. Once results arrive, it compares actuals with the business case driver by driver, because a headline that hits plan can hide drivers that missed in opposite directions, and it attributes each variance to one of three causes: the assumption was wrong, execution fell short, or an external shock hit. The new actuals become evidence in the ledger, so the next Strat-IQ run starts from reality, not from last year's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 Coach is designed around one rule: your memo stays yours. Paste your draft and say 'coach my memo'. It checks the things I check when I grade: does each recommendation open with a clear answer; are there about three distinct reasons, each pointing to an exhibit; which claims have no exhibit behind them; does the recommendation agree with your decision criteria and matrix, or explain why not; and does it break the memo guide's rules, 'I', 'we', beliefs, predictions, or retelling the case. What it returns is questions and gaps, never rewritten text. It won't draft an Impact Summary or pick your recommendation. Then practise defending your choice with the hostile Q&amp;A drill.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new in version 3: the Executive and VC Pitch skill. It turns your finished analysis into the pitch that gets the strategy funded, in two versions. A board pitch puts the decision and the ask first, then the options considered, the business case and expected value, and the risks and gates. A VC pitch follows the sequence investors expect: problem, solution, why now, market size, product, traction, business model and unit economics, go-to-market, competition, team, financials, risks, and the ask with the use of funds. Market size is built two ways, top-down from the industry total and bottom-up from reachable customers times price, and the tool flags it if they don't agree. Every number comes from your ledger, and it will never invent traction. It ends with a readiness scorecard and offers the hostile Q&amp;A drill in an investor's voice. For a graded assignment, it follows your instructor's policy: by default it builds the structure and critiques your draft rather than writing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case memos, Part 3 can add six optional exhibits that aren't in the course template. P lays out your confirmed alternatives with the decision framing. Q-1 is the business case and Q-2 the expected value, both from inputs you confirm. R stress-tests your recommendation. S is the implementation plan, and T, new in version 3, is the go-to-market plan. Use them when they strengthen your argument, not to pad the memo. Each one leaves its Impact Summary blank for you, and none of them contains the recommendation itself. That's still your job, along with Exhibits A and B and the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five things to try. Ask for BYD's real strategic options in Europe, and notice that 'do nothing' is always on the list. Ask for a business case for Rivian partnering for cells, and look for the break-even sentence. Ask which option is the better bet under uncertainty, and how fragile that answer is. Ask for the go-to-market plan for a sub-thirty-five-thousand-dollar model, and check the cost per customer against the unit economics. And ask for the VC pitch. Each request runs only the steps it needs, and tells you which ones it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the Strat-IQ loop. Part 1 tells you what the industry rewards. Part 2 tells you what your company can do about it. Part 3 tells you what to do, tests it, and makes it work, and then feeds real results back in as evidence for the next run. That's the pattern I want you to take into your careers: find the tools that already exist, combine them, add memory and evidence rules, and point them at a process that matters. Bring your options, your expected-value tree, and your toughest question to the Thursday Zoom Sync. See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of you told me GLO-BUS is hard to read, so version 3 upgrades the GLO-BUS Coach. It has three modes. Mode 1 runs a quick Strat-IQ analysis of the real industry behind each product line: DJI, Skydio, Autel, Parrot and Yuneec for drones, and GoPro, Garmin, DJI Osmo, Insta360 and Akaso for cameras. It explains which GLO-BUS lever each finding maps to, like why retailer discounts eat margin or why R and D scale lowers cost per unit. These companies are analogues, not answer keys: never copy their numbers into the game. Mode 2 is the one to use after every round. Ask for the fill-in template, spend three to five minutes copying the CIR and Camera and Drone Journal figures, and paste it back. You get strategic group maps of price against P/Q for cameras and drones, who won share and whether it was profitable, the weakest rival, the white space you can actually reach, and three to five moves for next year. Mode 3 coaches your decisions against the five scored KPIs and the guardrails. And new: sign in to GLO-BUS yourself in Chrome, type 'capture our GLO-BUS year and review it', and Claude in Chrome walks the menus read-only, saves your decision screens and the class reports, and the coach comments on your inputs against what happened. It never sees your password and never changes a decision. Without the extension, upload screenshots or PDFs instead. Your team still makes and enters every decision, and tests each move in the projections before keeping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365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6"/>
                </a:solidFill>
                <a:latin typeface="Arial" pitchFamily="34" charset="0"/>
                <a:ea typeface="Arial" pitchFamily="34" charset="-122"/>
                <a:cs typeface="Arial" pitchFamily="34" charset="-120"/>
              </a:rPr>
              <a:t>Strat-IQ Toolkit  ·  MGT4850  ·  ©2026 G. Bradley Scheller</a:t>
            </a:r>
            <a:endParaRPr lang="en-US" sz="1000" dirty="0"/>
          </a:p>
        </p:txBody>
      </p:sp>
      <p:sp>
        <p:nvSpPr>
          <p:cNvPr id="3" name="Text 1"/>
          <p:cNvSpPr/>
          <p:nvPr>
            <p:ph idx="101" type="title" hasCustomPrompt="1"/>
          </p:nvPr>
        </p:nvSpPr>
        <p:spPr>
          <a:xfrm>
            <a:off x="548640" y="365760"/>
            <a:ext cx="9235440" cy="822960"/>
          </a:xfrm>
          <a:prstGeom prst="rect">
            <a:avLst/>
          </a:prstGeom>
          <a:noFill/>
          <a:ln/>
        </p:spPr>
        <p:txBody>
          <a:bodyPr wrap="square" rtlCol="0"/>
          <a:lstStyle>
            <a:lvl1pPr algn="l" indent="0" marL="0">
              <a:buNone/>
              <a:defRPr lang="en-US" sz="2800" b="1" dirty="0">
                <a:solidFill>
                  <a:schemeClr val="tx1"/>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tretch>
            <a:fillRect/>
          </a:stretch>
        </p:blipFill>
        <p:spPr>
          <a:xfrm>
            <a:off x="7863840" y="1097280"/>
            <a:ext cx="4754880" cy="4754880"/>
          </a:xfrm>
          <a:prstGeom prst="rect">
            <a:avLst/>
          </a:prstGeom>
        </p:spPr>
      </p:pic>
      <p:sp>
        <p:nvSpPr>
          <p:cNvPr id="3" name="Text 0"/>
          <p:cNvSpPr txBox="1"/>
          <p:nvPr/>
        </p:nvSpPr>
        <p:spPr>
          <a:xfrm>
            <a:off x="731520" y="731520"/>
            <a:ext cx="7315200" cy="365760"/>
          </a:xfrm>
          <a:prstGeom prst="rect">
            <a:avLst/>
          </a:prstGeom>
          <a:noFill/>
          <a:ln/>
        </p:spPr>
        <p:txBody>
          <a:bodyPr wrap="square" lIns="0" tIns="0" rIns="0" bIns="0" rtlCol="0" anchor="ctr"/>
          <a:lstStyle/>
          <a:p>
            <a:pPr indent="0" marL="0">
              <a:buNone/>
            </a:pPr>
            <a:r>
              <a:rPr lang="en-US" sz="1200" b="1" spc="200" kern="0" dirty="0">
                <a:solidFill>
                  <a:srgbClr val="C4A35A"/>
                </a:solidFill>
                <a:latin typeface="Arial" pitchFamily="34" charset="0"/>
                <a:ea typeface="Arial" pitchFamily="34" charset="-122"/>
                <a:cs typeface="Arial" pitchFamily="34" charset="-120"/>
              </a:rPr>
              <a:t>MGT4850  ·  NORTHEASTERN UNIVERSITY  ·  FALL 2026</a:t>
            </a:r>
            <a:endParaRPr lang="en-US" sz="1200" dirty="0"/>
          </a:p>
        </p:txBody>
      </p:sp>
      <p:sp>
        <p:nvSpPr>
          <p:cNvPr id="4" name="Text 1"/>
          <p:cNvSpPr txBox="1"/>
          <p:nvPr/>
        </p:nvSpPr>
        <p:spPr>
          <a:xfrm>
            <a:off x="731520" y="1737360"/>
            <a:ext cx="7498080" cy="1737360"/>
          </a:xfrm>
          <a:prstGeom prst="rect">
            <a:avLst/>
          </a:prstGeom>
          <a:noFill/>
          <a:ln/>
        </p:spPr>
        <p:txBody>
          <a:bodyPr wrap="square" lIns="0" tIns="0" rIns="0" bIns="0" rtlCol="0" anchor="b"/>
          <a:lstStyle/>
          <a:p>
            <a:pPr indent="0" marL="0">
              <a:buNone/>
            </a:pPr>
            <a:r>
              <a:rPr lang="en-US" sz="4400" b="1" dirty="0">
                <a:solidFill>
                  <a:srgbClr val="FFFFFF"/>
                </a:solidFill>
                <a:latin typeface="Georgia" pitchFamily="34" charset="0"/>
                <a:ea typeface="Georgia" pitchFamily="34" charset="-122"/>
                <a:cs typeface="Georgia" pitchFamily="34" charset="-120"/>
              </a:rPr>
              <a:t>Strat-IQ v3: Making the Strategy Work</a:t>
            </a:r>
            <a:endParaRPr lang="en-US" sz="4400" dirty="0"/>
          </a:p>
        </p:txBody>
      </p:sp>
      <p:sp>
        <p:nvSpPr>
          <p:cNvPr id="5" name="Text 2"/>
          <p:cNvSpPr txBox="1"/>
          <p:nvPr/>
        </p:nvSpPr>
        <p:spPr>
          <a:xfrm>
            <a:off x="731520" y="3611880"/>
            <a:ext cx="7315200" cy="822960"/>
          </a:xfrm>
          <a:prstGeom prst="rect">
            <a:avLst/>
          </a:prstGeom>
          <a:noFill/>
          <a:ln/>
        </p:spPr>
        <p:txBody>
          <a:bodyPr wrap="square" lIns="0" tIns="0" rIns="0" bIns="0" rtlCol="0" anchor="t"/>
          <a:lstStyle/>
          <a:p>
            <a:pPr indent="0" marL="0">
              <a:buNone/>
            </a:pPr>
            <a:r>
              <a:rPr lang="en-US" sz="2200" i="1" dirty="0">
                <a:solidFill>
                  <a:srgbClr val="D8DEE8"/>
                </a:solidFill>
                <a:latin typeface="Georgia" pitchFamily="34" charset="0"/>
                <a:ea typeface="Georgia" pitchFamily="34" charset="-122"/>
                <a:cs typeface="Georgia" pitchFamily="34" charset="-120"/>
              </a:rPr>
              <a:t>Part 3 of the Strategy Lab: from analysis to a decision, a plan and a pitch</a:t>
            </a:r>
            <a:endParaRPr lang="en-US" sz="2200" dirty="0"/>
          </a:p>
        </p:txBody>
      </p:sp>
      <p:sp>
        <p:nvSpPr>
          <p:cNvPr id="6" name="Text 3"/>
          <p:cNvSpPr txBox="1"/>
          <p:nvPr/>
        </p:nvSpPr>
        <p:spPr>
          <a:xfrm>
            <a:off x="731520" y="5486400"/>
            <a:ext cx="7315200" cy="640080"/>
          </a:xfrm>
          <a:prstGeom prst="rect">
            <a:avLst/>
          </a:prstGeom>
          <a:noFill/>
          <a:ln/>
        </p:spPr>
        <p:txBody>
          <a:bodyPr wrap="square" lIns="0" tIns="0" rIns="0" bIns="0" rtlCol="0" anchor="ctr"/>
          <a:lstStyle/>
          <a:p>
            <a:pPr indent="0" marL="0">
              <a:buNone/>
            </a:pPr>
            <a:r>
              <a:rPr lang="en-US" sz="1300" dirty="0">
                <a:solidFill>
                  <a:srgbClr val="D8DEE8"/>
                </a:solidFill>
                <a:latin typeface="Arial" pitchFamily="34" charset="0"/>
                <a:ea typeface="Arial" pitchFamily="34" charset="-122"/>
                <a:cs typeface="Arial" pitchFamily="34" charset="-120"/>
              </a:rPr>
              <a:t>Created by G. Bradley Scheller</a:t>
            </a:r>
            <a:endParaRPr lang="en-US" sz="1300" dirty="0"/>
          </a:p>
          <a:p>
            <a:pPr indent="0" marL="0">
              <a:buNone/>
            </a:pPr>
            <a:r>
              <a:rPr lang="en-US" sz="1300" dirty="0">
                <a:solidFill>
                  <a:srgbClr val="D8DEE8"/>
                </a:solidFill>
                <a:latin typeface="Arial" pitchFamily="34" charset="0"/>
                <a:ea typeface="Arial" pitchFamily="34" charset="-122"/>
                <a:cs typeface="Arial" pitchFamily="34" charset="-120"/>
              </a:rPr>
              <a:t>©2026 G. Bradley Scheller  ·  The Strat-IQ Toolkit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Three parts, one connected analysis</a:t>
            </a:r>
            <a:endParaRPr lang="en-US" sz="2800" dirty="0"/>
          </a:p>
        </p:txBody>
      </p:sp>
      <p:sp>
        <p:nvSpPr>
          <p:cNvPr id="3" name="card"/>
          <p:cNvSpPr/>
          <p:nvPr/>
        </p:nvSpPr>
        <p:spPr>
          <a:xfrm>
            <a:off x="548640" y="1463040"/>
            <a:ext cx="3520440" cy="3657600"/>
          </a:xfrm>
          <a:prstGeom prst="roundRect">
            <a:avLst>
              <a:gd name="adj" fmla="val 2078"/>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Part 1 · The industry</a:t>
            </a:r>
            <a:endParaRPr lang="en-US" sz="1600" dirty="0"/>
          </a:p>
        </p:txBody>
      </p:sp>
      <p:sp>
        <p:nvSpPr>
          <p:cNvPr id="7" name="Text 4"/>
          <p:cNvSpPr txBox="1"/>
          <p:nvPr/>
        </p:nvSpPr>
        <p:spPr>
          <a:xfrm>
            <a:off x="777240" y="2331720"/>
            <a:ext cx="3063240" cy="2651760"/>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Arial" pitchFamily="34" charset="0"/>
                <a:ea typeface="Arial" pitchFamily="34" charset="-122"/>
                <a:cs typeface="Arial" pitchFamily="34" charset="-120"/>
              </a:rPr>
              <a:t>What the industry rewards</a:t>
            </a:r>
            <a:endParaRPr lang="en-US" sz="1500" dirty="0"/>
          </a:p>
        </p:txBody>
      </p:sp>
      <p:sp>
        <p:nvSpPr>
          <p:cNvPr id="8" name="Shape 5"/>
          <p:cNvSpPr/>
          <p:nvPr/>
        </p:nvSpPr>
        <p:spPr>
          <a:xfrm>
            <a:off x="777240" y="4526280"/>
            <a:ext cx="1737360" cy="329184"/>
          </a:xfrm>
          <a:prstGeom prst="roundRect">
            <a:avLst>
              <a:gd name="adj" fmla="val 50000"/>
            </a:avLst>
          </a:prstGeom>
          <a:solidFill>
            <a:srgbClr val="D9D4C7"/>
          </a:solidFill>
          <a:ln w="12700">
            <a:solidFill>
              <a:srgbClr val="D9D4C7"/>
            </a:solidFill>
            <a:prstDash val="solid"/>
          </a:ln>
        </p:spPr>
        <p:txBody>
          <a:bodyPr/>
          <a:p/>
        </p:txBody>
      </p:sp>
      <p:sp>
        <p:nvSpPr>
          <p:cNvPr id="9" name="Text 6"/>
          <p:cNvSpPr txBox="1"/>
          <p:nvPr/>
        </p:nvSpPr>
        <p:spPr>
          <a:xfrm>
            <a:off x="777240" y="4526280"/>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Two weeks ago</a:t>
            </a:r>
            <a:endParaRPr lang="en-US" sz="1100" dirty="0"/>
          </a:p>
        </p:txBody>
      </p:sp>
      <p:sp>
        <p:nvSpPr>
          <p:cNvPr id="10" name="card"/>
          <p:cNvSpPr/>
          <p:nvPr/>
        </p:nvSpPr>
        <p:spPr>
          <a:xfrm>
            <a:off x="4297680" y="1463040"/>
            <a:ext cx="3520440" cy="3657600"/>
          </a:xfrm>
          <a:prstGeom prst="roundRect">
            <a:avLst>
              <a:gd name="adj" fmla="val 2078"/>
            </a:avLst>
          </a:prstGeom>
          <a:solidFill>
            <a:srgbClr val="F5F3EE"/>
          </a:solidFill>
          <a:ln w="12700">
            <a:solidFill>
              <a:srgbClr val="F5F3EE"/>
            </a:solidFill>
            <a:prstDash val="solid"/>
          </a:ln>
        </p:spPr>
        <p:txBody>
          <a:bodyPr/>
          <a:p/>
        </p:txBody>
      </p:sp>
      <p:sp>
        <p:nvSpPr>
          <p:cNvPr id="11" name="Shape 8"/>
          <p:cNvSpPr/>
          <p:nvPr/>
        </p:nvSpPr>
        <p:spPr>
          <a:xfrm>
            <a:off x="4526280" y="1664208"/>
            <a:ext cx="566928" cy="566928"/>
          </a:xfrm>
          <a:prstGeom prst="ellipse">
            <a:avLst/>
          </a:prstGeom>
          <a:solidFill>
            <a:srgbClr val="1B365D"/>
          </a:solidFill>
          <a:ln w="12700">
            <a:solidFill>
              <a:srgbClr val="1B365D"/>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654296" y="1792224"/>
            <a:ext cx="310896" cy="310896"/>
          </a:xfrm>
          <a:prstGeom prst="rect">
            <a:avLst/>
          </a:prstGeom>
        </p:spPr>
      </p:pic>
      <p:sp>
        <p:nvSpPr>
          <p:cNvPr id="13" name="Text 9"/>
          <p:cNvSpPr txBox="1"/>
          <p:nvPr/>
        </p:nvSpPr>
        <p:spPr>
          <a:xfrm>
            <a:off x="525780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Part 2 · The company</a:t>
            </a:r>
            <a:endParaRPr lang="en-US" sz="1600" dirty="0"/>
          </a:p>
        </p:txBody>
      </p:sp>
      <p:sp>
        <p:nvSpPr>
          <p:cNvPr id="14" name="Text 10"/>
          <p:cNvSpPr txBox="1"/>
          <p:nvPr/>
        </p:nvSpPr>
        <p:spPr>
          <a:xfrm>
            <a:off x="4526280" y="2331720"/>
            <a:ext cx="3063240" cy="2651760"/>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Arial" pitchFamily="34" charset="0"/>
                <a:ea typeface="Arial" pitchFamily="34" charset="-122"/>
                <a:cs typeface="Arial" pitchFamily="34" charset="-120"/>
              </a:rPr>
              <a:t>What the company can do about it, ending in SWOT and the TOWS options</a:t>
            </a:r>
            <a:endParaRPr lang="en-US" sz="1500" dirty="0"/>
          </a:p>
        </p:txBody>
      </p:sp>
      <p:sp>
        <p:nvSpPr>
          <p:cNvPr id="15" name="Shape 11"/>
          <p:cNvSpPr/>
          <p:nvPr/>
        </p:nvSpPr>
        <p:spPr>
          <a:xfrm>
            <a:off x="4526280" y="4526280"/>
            <a:ext cx="1737360" cy="329184"/>
          </a:xfrm>
          <a:prstGeom prst="roundRect">
            <a:avLst>
              <a:gd name="adj" fmla="val 50000"/>
            </a:avLst>
          </a:prstGeom>
          <a:solidFill>
            <a:srgbClr val="D9D4C7"/>
          </a:solidFill>
          <a:ln w="12700">
            <a:solidFill>
              <a:srgbClr val="D9D4C7"/>
            </a:solidFill>
            <a:prstDash val="solid"/>
          </a:ln>
        </p:spPr>
        <p:txBody>
          <a:bodyPr/>
          <a:p/>
        </p:txBody>
      </p:sp>
      <p:sp>
        <p:nvSpPr>
          <p:cNvPr id="16" name="Text 12"/>
          <p:cNvSpPr txBox="1"/>
          <p:nvPr/>
        </p:nvSpPr>
        <p:spPr>
          <a:xfrm>
            <a:off x="4526280" y="4526280"/>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Last week</a:t>
            </a:r>
            <a:endParaRPr lang="en-US" sz="1100" dirty="0"/>
          </a:p>
        </p:txBody>
      </p:sp>
      <p:sp>
        <p:nvSpPr>
          <p:cNvPr id="17" name="card"/>
          <p:cNvSpPr/>
          <p:nvPr/>
        </p:nvSpPr>
        <p:spPr>
          <a:xfrm>
            <a:off x="8046720" y="1463040"/>
            <a:ext cx="3520440" cy="3657600"/>
          </a:xfrm>
          <a:prstGeom prst="roundRect">
            <a:avLst>
              <a:gd name="adj" fmla="val 2078"/>
            </a:avLst>
          </a:prstGeom>
          <a:solidFill>
            <a:srgbClr val="1B365D"/>
          </a:solidFill>
          <a:ln w="12700">
            <a:solidFill>
              <a:srgbClr val="1B365D"/>
            </a:solidFill>
            <a:prstDash val="solid"/>
          </a:ln>
        </p:spPr>
        <p:txBody>
          <a:bodyPr/>
          <a:p/>
        </p:txBody>
      </p:sp>
      <p:sp>
        <p:nvSpPr>
          <p:cNvPr id="18" name="Shape 14"/>
          <p:cNvSpPr/>
          <p:nvPr/>
        </p:nvSpPr>
        <p:spPr>
          <a:xfrm>
            <a:off x="8275320" y="1664208"/>
            <a:ext cx="566928" cy="566928"/>
          </a:xfrm>
          <a:prstGeom prst="ellipse">
            <a:avLst/>
          </a:prstGeom>
          <a:solidFill>
            <a:srgbClr val="C4A35A"/>
          </a:solidFill>
          <a:ln w="12700">
            <a:solidFill>
              <a:srgbClr val="C4A35A"/>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8403336" y="1792224"/>
            <a:ext cx="310896" cy="310896"/>
          </a:xfrm>
          <a:prstGeom prst="rect">
            <a:avLst/>
          </a:prstGeom>
        </p:spPr>
      </p:pic>
      <p:sp>
        <p:nvSpPr>
          <p:cNvPr id="20" name="Text 15"/>
          <p:cNvSpPr txBox="1"/>
          <p:nvPr/>
        </p:nvSpPr>
        <p:spPr>
          <a:xfrm>
            <a:off x="9006840" y="1627632"/>
            <a:ext cx="2377440" cy="6400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Part 3 · The strategy</a:t>
            </a:r>
            <a:endParaRPr lang="en-US" sz="1600" dirty="0"/>
          </a:p>
        </p:txBody>
      </p:sp>
      <p:sp>
        <p:nvSpPr>
          <p:cNvPr id="21" name="Text 16"/>
          <p:cNvSpPr txBox="1"/>
          <p:nvPr/>
        </p:nvSpPr>
        <p:spPr>
          <a:xfrm>
            <a:off x="8275320" y="2331720"/>
            <a:ext cx="3063240" cy="2651760"/>
          </a:xfrm>
          <a:prstGeom prst="rect">
            <a:avLst/>
          </a:prstGeom>
          <a:noFill/>
          <a:ln/>
        </p:spPr>
        <p:txBody>
          <a:bodyPr wrap="square" lIns="0" tIns="0" rIns="0" bIns="0" rtlCol="0" anchor="t"/>
          <a:lstStyle/>
          <a:p>
            <a:pPr indent="0" marL="0">
              <a:spcAft>
                <a:spcPts val="400"/>
              </a:spcAft>
              <a:buNone/>
            </a:pPr>
            <a:r>
              <a:rPr lang="en-US" sz="1500" dirty="0">
                <a:solidFill>
                  <a:srgbClr val="FFFFFF"/>
                </a:solidFill>
                <a:latin typeface="Arial" pitchFamily="34" charset="0"/>
                <a:ea typeface="Arial" pitchFamily="34" charset="-122"/>
                <a:cs typeface="Arial" pitchFamily="34" charset="-120"/>
              </a:rPr>
              <a:t>What it should do, whether that survives attack, and how to make it work</a:t>
            </a:r>
            <a:endParaRPr lang="en-US" sz="1500" dirty="0"/>
          </a:p>
        </p:txBody>
      </p:sp>
      <p:sp>
        <p:nvSpPr>
          <p:cNvPr id="22" name="Shape 17"/>
          <p:cNvSpPr/>
          <p:nvPr/>
        </p:nvSpPr>
        <p:spPr>
          <a:xfrm>
            <a:off x="8275320" y="4526280"/>
            <a:ext cx="1737360" cy="329184"/>
          </a:xfrm>
          <a:prstGeom prst="roundRect">
            <a:avLst>
              <a:gd name="adj" fmla="val 50000"/>
            </a:avLst>
          </a:prstGeom>
          <a:solidFill>
            <a:srgbClr val="C4A35A"/>
          </a:solidFill>
          <a:ln w="12700">
            <a:solidFill>
              <a:srgbClr val="C4A35A"/>
            </a:solidFill>
            <a:prstDash val="solid"/>
          </a:ln>
        </p:spPr>
        <p:txBody>
          <a:bodyPr/>
          <a:p/>
        </p:txBody>
      </p:sp>
      <p:sp>
        <p:nvSpPr>
          <p:cNvPr id="23" name="Text 18"/>
          <p:cNvSpPr txBox="1"/>
          <p:nvPr/>
        </p:nvSpPr>
        <p:spPr>
          <a:xfrm>
            <a:off x="8275320" y="4526280"/>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This week</a:t>
            </a:r>
            <a:endParaRPr lang="en-US" sz="1100" dirty="0"/>
          </a:p>
        </p:txBody>
      </p:sp>
      <p:sp>
        <p:nvSpPr>
          <p:cNvPr id="24" name="Text 19"/>
          <p:cNvSpPr txBox="1"/>
          <p:nvPr/>
        </p:nvSpPr>
        <p:spPr>
          <a:xfrm>
            <a:off x="548640" y="5394960"/>
            <a:ext cx="11064240" cy="548640"/>
          </a:xfrm>
          <a:prstGeom prst="rect">
            <a:avLst/>
          </a:prstGeom>
          <a:noFill/>
          <a:ln/>
        </p:spPr>
        <p:txBody>
          <a:bodyPr wrap="square" lIns="0" tIns="0" rIns="0" bIns="0" rtlCol="0" anchor="ctr"/>
          <a:lstStyle/>
          <a:p>
            <a:pPr indent="0" marL="0">
              <a:buNone/>
            </a:pPr>
            <a:r>
              <a:rPr lang="en-US" sz="1500" i="1" dirty="0">
                <a:solidFill>
                  <a:schemeClr val="tx1"/>
                </a:solidFill>
                <a:latin typeface="Georgia" pitchFamily="34" charset="0"/>
                <a:ea typeface="Georgia" pitchFamily="34" charset="-122"/>
                <a:cs typeface="Georgia" pitchFamily="34" charset="-120"/>
              </a:rPr>
              <a:t>Part 3 starts where Part 2 ended: the TOWS options in your SWOT become the first candidate strategies.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Analysis doesn't choose the strategy</a:t>
            </a:r>
            <a:endParaRPr lang="en-US" sz="2800" dirty="0"/>
          </a:p>
        </p:txBody>
      </p:sp>
      <p:sp>
        <p:nvSpPr>
          <p:cNvPr id="3" name="Shape 1"/>
          <p:cNvSpPr/>
          <p:nvPr/>
        </p:nvSpPr>
        <p:spPr>
          <a:xfrm>
            <a:off x="1325880" y="1554480"/>
            <a:ext cx="1097280" cy="1097280"/>
          </a:xfrm>
          <a:prstGeom prst="ellipse">
            <a:avLst/>
          </a:prstGeom>
          <a:solidFill>
            <a:srgbClr val="1B365D"/>
          </a:solidFill>
          <a:ln w="12700">
            <a:solidFill>
              <a:srgbClr val="1B365D"/>
            </a:solidFill>
            <a:prstDash val="solid"/>
          </a:ln>
        </p:spPr>
        <p:txBody>
          <a:bodyPr/>
          <a:p/>
        </p:txBody>
      </p:sp>
      <p:pic>
        <p:nvPicPr>
          <p:cNvPr id="4" name="Image 0" descr="preencoded.png">    </p:cNvPr>
          <p:cNvPicPr>
            <a:picLocks noChangeAspect="1"/>
          </p:cNvPicPr>
          <p:nvPr/>
        </p:nvPicPr>
        <p:blipFill>
          <a:blip r:embed="rId1"/>
          <a:stretch>
            <a:fillRect/>
          </a:stretch>
        </p:blipFill>
        <p:spPr>
          <a:xfrm>
            <a:off x="1618488" y="1847088"/>
            <a:ext cx="512064" cy="512064"/>
          </a:xfrm>
          <a:prstGeom prst="rect">
            <a:avLst/>
          </a:prstGeom>
        </p:spPr>
      </p:pic>
      <p:sp>
        <p:nvSpPr>
          <p:cNvPr id="5" name="Shape 2"/>
          <p:cNvSpPr/>
          <p:nvPr/>
        </p:nvSpPr>
        <p:spPr>
          <a:xfrm>
            <a:off x="2560320" y="2103120"/>
            <a:ext cx="685800" cy="0"/>
          </a:xfrm>
          <a:prstGeom prst="line">
            <a:avLst/>
          </a:prstGeom>
          <a:noFill/>
          <a:ln w="25400">
            <a:solidFill>
              <a:srgbClr val="1B365D"/>
            </a:solidFill>
            <a:prstDash val="solid"/>
            <a:tailEnd type="triangle"/>
          </a:ln>
        </p:spPr>
        <p:txBody>
          <a:bodyPr/>
          <a:p/>
        </p:txBody>
      </p:sp>
      <p:sp>
        <p:nvSpPr>
          <p:cNvPr id="6" name="Text 3"/>
          <p:cNvSpPr txBox="1"/>
          <p:nvPr/>
        </p:nvSpPr>
        <p:spPr>
          <a:xfrm>
            <a:off x="548640" y="2788920"/>
            <a:ext cx="265176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Georgia" pitchFamily="34" charset="0"/>
                <a:ea typeface="Georgia" pitchFamily="34" charset="-122"/>
                <a:cs typeface="Georgia" pitchFamily="34" charset="-120"/>
              </a:rPr>
              <a:t>Choose</a:t>
            </a:r>
            <a:endParaRPr lang="en-US" sz="2200" dirty="0"/>
          </a:p>
        </p:txBody>
      </p:sp>
      <p:sp>
        <p:nvSpPr>
          <p:cNvPr id="7" name="Text 4"/>
          <p:cNvSpPr txBox="1"/>
          <p:nvPr/>
        </p:nvSpPr>
        <p:spPr>
          <a:xfrm>
            <a:off x="685800" y="3291840"/>
            <a:ext cx="2377440" cy="914400"/>
          </a:xfrm>
          <a:prstGeom prst="rect">
            <a:avLst/>
          </a:prstGeom>
          <a:noFill/>
          <a:ln/>
        </p:spPr>
        <p:txBody>
          <a:bodyPr wrap="square" lIns="0" tIns="0" rIns="0" bIns="0" rtlCol="0" anchor="t"/>
          <a:lstStyle/>
          <a:p>
            <a:pPr algn="ctr" indent="0" marL="0">
              <a:buNone/>
            </a:pPr>
            <a:r>
              <a:rPr lang="en-US" sz="1300" dirty="0">
                <a:solidFill>
                  <a:schemeClr val="tx1"/>
                </a:solidFill>
                <a:latin typeface="Arial" pitchFamily="34" charset="0"/>
                <a:ea typeface="Arial" pitchFamily="34" charset="-122"/>
                <a:cs typeface="Arial" pitchFamily="34" charset="-120"/>
              </a:rPr>
              <a:t>Options, criteria, business case, expected value</a:t>
            </a:r>
            <a:endParaRPr lang="en-US" sz="1300" dirty="0"/>
          </a:p>
        </p:txBody>
      </p:sp>
      <p:sp>
        <p:nvSpPr>
          <p:cNvPr id="8" name="Shape 5"/>
          <p:cNvSpPr/>
          <p:nvPr/>
        </p:nvSpPr>
        <p:spPr>
          <a:xfrm>
            <a:off x="4160520" y="1554480"/>
            <a:ext cx="1097280" cy="1097280"/>
          </a:xfrm>
          <a:prstGeom prst="ellipse">
            <a:avLst/>
          </a:prstGeom>
          <a:solidFill>
            <a:srgbClr val="C4A35A"/>
          </a:solidFill>
          <a:ln w="12700">
            <a:solidFill>
              <a:srgbClr val="C4A35A"/>
            </a:solidFill>
            <a:prstDash val="solid"/>
          </a:ln>
        </p:spPr>
        <p:txBody>
          <a:bodyPr/>
          <a:p/>
        </p:txBody>
      </p:sp>
      <p:pic>
        <p:nvPicPr>
          <p:cNvPr id="9" name="Image 1" descr="preencoded.png">    </p:cNvPr>
          <p:cNvPicPr>
            <a:picLocks noChangeAspect="1"/>
          </p:cNvPicPr>
          <p:nvPr/>
        </p:nvPicPr>
        <p:blipFill>
          <a:blip r:embed="rId2"/>
          <a:stretch>
            <a:fillRect/>
          </a:stretch>
        </p:blipFill>
        <p:spPr>
          <a:xfrm>
            <a:off x="4453128" y="1847088"/>
            <a:ext cx="512064" cy="512064"/>
          </a:xfrm>
          <a:prstGeom prst="rect">
            <a:avLst/>
          </a:prstGeom>
        </p:spPr>
      </p:pic>
      <p:sp>
        <p:nvSpPr>
          <p:cNvPr id="10" name="Shape 6"/>
          <p:cNvSpPr/>
          <p:nvPr/>
        </p:nvSpPr>
        <p:spPr>
          <a:xfrm>
            <a:off x="5394960" y="2103120"/>
            <a:ext cx="685800" cy="0"/>
          </a:xfrm>
          <a:prstGeom prst="line">
            <a:avLst/>
          </a:prstGeom>
          <a:noFill/>
          <a:ln w="25400">
            <a:solidFill>
              <a:srgbClr val="1B365D"/>
            </a:solidFill>
            <a:prstDash val="solid"/>
            <a:tailEnd type="triangle"/>
          </a:ln>
        </p:spPr>
        <p:txBody>
          <a:bodyPr/>
          <a:p/>
        </p:txBody>
      </p:sp>
      <p:sp>
        <p:nvSpPr>
          <p:cNvPr id="11" name="Text 7"/>
          <p:cNvSpPr txBox="1"/>
          <p:nvPr/>
        </p:nvSpPr>
        <p:spPr>
          <a:xfrm>
            <a:off x="3383280" y="2788920"/>
            <a:ext cx="265176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Georgia" pitchFamily="34" charset="0"/>
                <a:ea typeface="Georgia" pitchFamily="34" charset="-122"/>
                <a:cs typeface="Georgia" pitchFamily="34" charset="-120"/>
              </a:rPr>
              <a:t>Test</a:t>
            </a:r>
            <a:endParaRPr lang="en-US" sz="2200" dirty="0"/>
          </a:p>
        </p:txBody>
      </p:sp>
      <p:sp>
        <p:nvSpPr>
          <p:cNvPr id="12" name="Text 8"/>
          <p:cNvSpPr txBox="1"/>
          <p:nvPr/>
        </p:nvSpPr>
        <p:spPr>
          <a:xfrm>
            <a:off x="3520440" y="3291840"/>
            <a:ext cx="2377440" cy="914400"/>
          </a:xfrm>
          <a:prstGeom prst="rect">
            <a:avLst/>
          </a:prstGeom>
          <a:noFill/>
          <a:ln/>
        </p:spPr>
        <p:txBody>
          <a:bodyPr wrap="square" lIns="0" tIns="0" rIns="0" bIns="0" rtlCol="0" anchor="t"/>
          <a:lstStyle/>
          <a:p>
            <a:pPr algn="ctr" indent="0" marL="0">
              <a:buNone/>
            </a:pPr>
            <a:r>
              <a:rPr lang="en-US" sz="1300" dirty="0">
                <a:solidFill>
                  <a:schemeClr val="tx1"/>
                </a:solidFill>
                <a:latin typeface="Arial" pitchFamily="34" charset="0"/>
                <a:ea typeface="Arial" pitchFamily="34" charset="-122"/>
                <a:cs typeface="Arial" pitchFamily="34" charset="-120"/>
              </a:rPr>
              <a:t>Assumptions, competitor response, risks, hard questions</a:t>
            </a:r>
            <a:endParaRPr lang="en-US" sz="1300" dirty="0"/>
          </a:p>
        </p:txBody>
      </p:sp>
      <p:sp>
        <p:nvSpPr>
          <p:cNvPr id="13" name="Shape 9"/>
          <p:cNvSpPr/>
          <p:nvPr/>
        </p:nvSpPr>
        <p:spPr>
          <a:xfrm>
            <a:off x="6995160" y="1554480"/>
            <a:ext cx="1097280" cy="1097280"/>
          </a:xfrm>
          <a:prstGeom prst="ellipse">
            <a:avLst/>
          </a:prstGeom>
          <a:solidFill>
            <a:srgbClr val="1B365D"/>
          </a:solidFill>
          <a:ln w="12700">
            <a:solidFill>
              <a:srgbClr val="1B365D"/>
            </a:solidFill>
            <a:prstDash val="solid"/>
          </a:ln>
        </p:spPr>
        <p:txBody>
          <a:bodyPr/>
          <a:p/>
        </p:txBody>
      </p:sp>
      <p:pic>
        <p:nvPicPr>
          <p:cNvPr id="14" name="Image 2" descr="preencoded.png">    </p:cNvPr>
          <p:cNvPicPr>
            <a:picLocks noChangeAspect="1"/>
          </p:cNvPicPr>
          <p:nvPr/>
        </p:nvPicPr>
        <p:blipFill>
          <a:blip r:embed="rId3"/>
          <a:stretch>
            <a:fillRect/>
          </a:stretch>
        </p:blipFill>
        <p:spPr>
          <a:xfrm>
            <a:off x="7287768" y="1847088"/>
            <a:ext cx="512064" cy="512064"/>
          </a:xfrm>
          <a:prstGeom prst="rect">
            <a:avLst/>
          </a:prstGeom>
        </p:spPr>
      </p:pic>
      <p:sp>
        <p:nvSpPr>
          <p:cNvPr id="15" name="Shape 10"/>
          <p:cNvSpPr/>
          <p:nvPr/>
        </p:nvSpPr>
        <p:spPr>
          <a:xfrm>
            <a:off x="8229600" y="2103120"/>
            <a:ext cx="685800" cy="0"/>
          </a:xfrm>
          <a:prstGeom prst="line">
            <a:avLst/>
          </a:prstGeom>
          <a:noFill/>
          <a:ln w="25400">
            <a:solidFill>
              <a:srgbClr val="1B365D"/>
            </a:solidFill>
            <a:prstDash val="solid"/>
            <a:tailEnd type="triangle"/>
          </a:ln>
        </p:spPr>
        <p:txBody>
          <a:bodyPr/>
          <a:p/>
        </p:txBody>
      </p:sp>
      <p:sp>
        <p:nvSpPr>
          <p:cNvPr id="16" name="Text 11"/>
          <p:cNvSpPr txBox="1"/>
          <p:nvPr/>
        </p:nvSpPr>
        <p:spPr>
          <a:xfrm>
            <a:off x="6217920" y="2788920"/>
            <a:ext cx="265176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Georgia" pitchFamily="34" charset="0"/>
                <a:ea typeface="Georgia" pitchFamily="34" charset="-122"/>
                <a:cs typeface="Georgia" pitchFamily="34" charset="-120"/>
              </a:rPr>
              <a:t>Plan</a:t>
            </a:r>
            <a:endParaRPr lang="en-US" sz="2200" dirty="0"/>
          </a:p>
        </p:txBody>
      </p:sp>
      <p:sp>
        <p:nvSpPr>
          <p:cNvPr id="17" name="Text 12"/>
          <p:cNvSpPr txBox="1"/>
          <p:nvPr/>
        </p:nvSpPr>
        <p:spPr>
          <a:xfrm>
            <a:off x="6355080" y="3291840"/>
            <a:ext cx="2377440" cy="914400"/>
          </a:xfrm>
          <a:prstGeom prst="rect">
            <a:avLst/>
          </a:prstGeom>
          <a:noFill/>
          <a:ln/>
        </p:spPr>
        <p:txBody>
          <a:bodyPr wrap="square" lIns="0" tIns="0" rIns="0" bIns="0" rtlCol="0" anchor="t"/>
          <a:lstStyle/>
          <a:p>
            <a:pPr algn="ctr" indent="0" marL="0">
              <a:buNone/>
            </a:pPr>
            <a:r>
              <a:rPr lang="en-US" sz="1300" dirty="0">
                <a:solidFill>
                  <a:schemeClr val="tx1"/>
                </a:solidFill>
                <a:latin typeface="Arial" pitchFamily="34" charset="0"/>
                <a:ea typeface="Arial" pitchFamily="34" charset="-122"/>
                <a:cs typeface="Arial" pitchFamily="34" charset="-120"/>
              </a:rPr>
              <a:t>Go-to-market, priorities, organisation, stakeholders, deals, 100 days</a:t>
            </a:r>
            <a:endParaRPr lang="en-US" sz="1300" dirty="0"/>
          </a:p>
        </p:txBody>
      </p:sp>
      <p:sp>
        <p:nvSpPr>
          <p:cNvPr id="18" name="Shape 13"/>
          <p:cNvSpPr/>
          <p:nvPr/>
        </p:nvSpPr>
        <p:spPr>
          <a:xfrm>
            <a:off x="9829800" y="1554480"/>
            <a:ext cx="1097280" cy="1097280"/>
          </a:xfrm>
          <a:prstGeom prst="ellipse">
            <a:avLst/>
          </a:prstGeom>
          <a:solidFill>
            <a:srgbClr val="C4A35A"/>
          </a:solidFill>
          <a:ln w="12700">
            <a:solidFill>
              <a:srgbClr val="C4A35A"/>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10122408" y="1847088"/>
            <a:ext cx="512064" cy="512064"/>
          </a:xfrm>
          <a:prstGeom prst="rect">
            <a:avLst/>
          </a:prstGeom>
        </p:spPr>
      </p:pic>
      <p:sp>
        <p:nvSpPr>
          <p:cNvPr id="20" name="Text 14"/>
          <p:cNvSpPr txBox="1"/>
          <p:nvPr/>
        </p:nvSpPr>
        <p:spPr>
          <a:xfrm>
            <a:off x="9052560" y="2788920"/>
            <a:ext cx="2651760" cy="457200"/>
          </a:xfrm>
          <a:prstGeom prst="rect">
            <a:avLst/>
          </a:prstGeom>
          <a:noFill/>
          <a:ln/>
        </p:spPr>
        <p:txBody>
          <a:bodyPr wrap="square" lIns="0" tIns="0" rIns="0" bIns="0" rtlCol="0" anchor="ctr"/>
          <a:lstStyle/>
          <a:p>
            <a:pPr algn="ctr" indent="0" marL="0">
              <a:buNone/>
            </a:pPr>
            <a:r>
              <a:rPr lang="en-US" sz="2200" b="1" dirty="0">
                <a:solidFill>
                  <a:schemeClr val="tx1"/>
                </a:solidFill>
                <a:latin typeface="Georgia" pitchFamily="34" charset="0"/>
                <a:ea typeface="Georgia" pitchFamily="34" charset="-122"/>
                <a:cs typeface="Georgia" pitchFamily="34" charset="-120"/>
              </a:rPr>
              <a:t>Track</a:t>
            </a:r>
            <a:endParaRPr lang="en-US" sz="2200" dirty="0"/>
          </a:p>
        </p:txBody>
      </p:sp>
      <p:sp>
        <p:nvSpPr>
          <p:cNvPr id="21" name="Text 15"/>
          <p:cNvSpPr txBox="1"/>
          <p:nvPr/>
        </p:nvSpPr>
        <p:spPr>
          <a:xfrm>
            <a:off x="9189720" y="3291840"/>
            <a:ext cx="2377440" cy="914400"/>
          </a:xfrm>
          <a:prstGeom prst="rect">
            <a:avLst/>
          </a:prstGeom>
          <a:noFill/>
          <a:ln/>
        </p:spPr>
        <p:txBody>
          <a:bodyPr wrap="square" lIns="0" tIns="0" rIns="0" bIns="0" rtlCol="0" anchor="t"/>
          <a:lstStyle/>
          <a:p>
            <a:pPr algn="ctr" indent="0" marL="0">
              <a:buNone/>
            </a:pPr>
            <a:r>
              <a:rPr lang="en-US" sz="1300" dirty="0">
                <a:solidFill>
                  <a:schemeClr val="tx1"/>
                </a:solidFill>
                <a:latin typeface="Arial" pitchFamily="34" charset="0"/>
                <a:ea typeface="Arial" pitchFamily="34" charset="-122"/>
                <a:cs typeface="Arial" pitchFamily="34" charset="-120"/>
              </a:rPr>
              <a:t>KPIs, plan vs actual, and the pitch that gets it funded</a:t>
            </a:r>
            <a:endParaRPr lang="en-US" sz="1300" dirty="0"/>
          </a:p>
        </p:txBody>
      </p:sp>
      <p:sp>
        <p:nvSpPr>
          <p:cNvPr id="22" name="Shape 16"/>
          <p:cNvSpPr/>
          <p:nvPr/>
        </p:nvSpPr>
        <p:spPr>
          <a:xfrm>
            <a:off x="548640" y="4572000"/>
            <a:ext cx="11064240" cy="1325880"/>
          </a:xfrm>
          <a:prstGeom prst="roundRect">
            <a:avLst>
              <a:gd name="adj" fmla="val 5517"/>
            </a:avLst>
          </a:prstGeom>
          <a:solidFill>
            <a:srgbClr val="F5F3EE"/>
          </a:solidFill>
          <a:ln w="12700">
            <a:solidFill>
              <a:srgbClr val="F5F3EE"/>
            </a:solidFill>
            <a:prstDash val="solid"/>
          </a:ln>
        </p:spPr>
        <p:txBody>
          <a:bodyPr/>
          <a:p/>
        </p:txBody>
      </p:sp>
      <p:sp>
        <p:nvSpPr>
          <p:cNvPr id="23" name="Text 17"/>
          <p:cNvSpPr txBox="1"/>
          <p:nvPr/>
        </p:nvSpPr>
        <p:spPr>
          <a:xfrm>
            <a:off x="822960" y="4572000"/>
            <a:ext cx="10515600" cy="132588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Most strategies fail in the gap between the slide and the budget. </a:t>
            </a:r>
            <a:pPr indent="0" marL="0">
              <a:buNone/>
            </a:pPr>
            <a:r>
              <a:rPr lang="en-US" sz="1500" dirty="0">
                <a:solidFill>
                  <a:schemeClr val="tx1"/>
                </a:solidFill>
                <a:latin typeface="Arial" pitchFamily="34" charset="0"/>
                <a:ea typeface="Arial" pitchFamily="34" charset="-122"/>
                <a:cs typeface="Arial" pitchFamily="34" charset="-120"/>
              </a:rPr>
              <a:t>Part 3 closes it: every option traces to the analysis, the leader is attacked before anyone plans, and every initiative, milestone and KPI traces back to a finding.</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Install Parts 2 + 3: about fifteen minutes</a:t>
            </a:r>
            <a:endParaRPr lang="en-US" sz="2800" dirty="0"/>
          </a:p>
        </p:txBody>
      </p:sp>
      <p:sp>
        <p:nvSpPr>
          <p:cNvPr id="3" name="Shape 1"/>
          <p:cNvSpPr/>
          <p:nvPr/>
        </p:nvSpPr>
        <p:spPr>
          <a:xfrm>
            <a:off x="9875520" y="612648"/>
            <a:ext cx="173736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9875520" y="612648"/>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Release v3.0.0</a:t>
            </a:r>
            <a:endParaRPr lang="en-US" sz="1100" dirty="0"/>
          </a:p>
        </p:txBody>
      </p:sp>
      <p:sp>
        <p:nvSpPr>
          <p:cNvPr id="5" name="Shape 3"/>
          <p:cNvSpPr/>
          <p:nvPr/>
        </p:nvSpPr>
        <p:spPr>
          <a:xfrm>
            <a:off x="548640" y="1527048"/>
            <a:ext cx="548640" cy="548640"/>
          </a:xfrm>
          <a:prstGeom prst="ellipse">
            <a:avLst/>
          </a:prstGeom>
          <a:solidFill>
            <a:srgbClr val="1B365D"/>
          </a:solidFill>
          <a:ln w="12700">
            <a:solidFill>
              <a:srgbClr val="1B365D"/>
            </a:solidFill>
            <a:prstDash val="solid"/>
          </a:ln>
        </p:spPr>
        <p:txBody>
          <a:bodyPr/>
          <a:p/>
        </p:txBody>
      </p:sp>
      <p:sp>
        <p:nvSpPr>
          <p:cNvPr id="6" name="Text 4"/>
          <p:cNvSpPr txBox="1"/>
          <p:nvPr/>
        </p:nvSpPr>
        <p:spPr>
          <a:xfrm>
            <a:off x="548640" y="152704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325880" y="1417320"/>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Turn on code execution</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Settings → Capabilities → Code execution and file creation (already on if Parts 1-2 work).</a:t>
            </a:r>
            <a:endParaRPr lang="en-US" sz="1600" dirty="0"/>
          </a:p>
        </p:txBody>
      </p:sp>
      <p:sp>
        <p:nvSpPr>
          <p:cNvPr id="8" name="Shape 6"/>
          <p:cNvSpPr/>
          <p:nvPr/>
        </p:nvSpPr>
        <p:spPr>
          <a:xfrm>
            <a:off x="548640" y="2478024"/>
            <a:ext cx="548640" cy="548640"/>
          </a:xfrm>
          <a:prstGeom prst="ellipse">
            <a:avLst/>
          </a:prstGeom>
          <a:solidFill>
            <a:srgbClr val="1B365D"/>
          </a:solidFill>
          <a:ln w="12700">
            <a:solidFill>
              <a:srgbClr val="1B365D"/>
            </a:solidFill>
            <a:prstDash val="solid"/>
          </a:ln>
        </p:spPr>
        <p:txBody>
          <a:bodyPr/>
          <a:p/>
        </p:txBody>
      </p:sp>
      <p:sp>
        <p:nvSpPr>
          <p:cNvPr id="9" name="Text 7"/>
          <p:cNvSpPr txBox="1"/>
          <p:nvPr/>
        </p:nvSpPr>
        <p:spPr>
          <a:xfrm>
            <a:off x="548640" y="247802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325880" y="2368296"/>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Download the one upload</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github.com/Brads777/Strat-IQ-Strategy-Toolkit → Releases → latest → Assets → stratiq-part2-3-skills.zip. Unzip it once: 29 skill zips inside. Don't unzip those.</a:t>
            </a:r>
            <a:endParaRPr lang="en-US" sz="1600" dirty="0"/>
          </a:p>
        </p:txBody>
      </p:sp>
      <p:sp>
        <p:nvSpPr>
          <p:cNvPr id="11" name="Shape 9"/>
          <p:cNvSpPr/>
          <p:nvPr/>
        </p:nvSpPr>
        <p:spPr>
          <a:xfrm>
            <a:off x="548640" y="3429000"/>
            <a:ext cx="548640" cy="548640"/>
          </a:xfrm>
          <a:prstGeom prst="ellipse">
            <a:avLst/>
          </a:prstGeom>
          <a:solidFill>
            <a:srgbClr val="1B365D"/>
          </a:solidFill>
          <a:ln w="12700">
            <a:solidFill>
              <a:srgbClr val="1B365D"/>
            </a:solidFill>
            <a:prstDash val="solid"/>
          </a:ln>
        </p:spPr>
        <p:txBody>
          <a:bodyPr/>
          <a:p/>
        </p:txBody>
      </p:sp>
      <p:sp>
        <p:nvSpPr>
          <p:cNvPr id="12" name="Text 10"/>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325880" y="3319272"/>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Delete, then upload all 29</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Delete the old copies of the skills marked Replace (and any v1.7 Part 2 skills), then Upload skill once per zip.</a:t>
            </a:r>
            <a:endParaRPr lang="en-US" sz="1600" dirty="0"/>
          </a:p>
        </p:txBody>
      </p:sp>
      <p:sp>
        <p:nvSpPr>
          <p:cNvPr id="14" name="Shape 12"/>
          <p:cNvSpPr/>
          <p:nvPr/>
        </p:nvSpPr>
        <p:spPr>
          <a:xfrm>
            <a:off x="548640" y="4379976"/>
            <a:ext cx="548640" cy="548640"/>
          </a:xfrm>
          <a:prstGeom prst="ellipse">
            <a:avLst/>
          </a:prstGeom>
          <a:solidFill>
            <a:srgbClr val="1B365D"/>
          </a:solidFill>
          <a:ln w="12700">
            <a:solidFill>
              <a:srgbClr val="1B365D"/>
            </a:solidFill>
            <a:prstDash val="solid"/>
          </a:ln>
        </p:spPr>
        <p:txBody>
          <a:bodyPr/>
          <a:p/>
        </p:txBody>
      </p:sp>
      <p:sp>
        <p:nvSpPr>
          <p:cNvPr id="15" name="Text 13"/>
          <p:cNvSpPr txBox="1"/>
          <p:nvPr/>
        </p:nvSpPr>
        <p:spPr>
          <a:xfrm>
            <a:off x="548640" y="437997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6" name="Text 14"/>
          <p:cNvSpPr txBox="1"/>
          <p:nvPr/>
        </p:nvSpPr>
        <p:spPr>
          <a:xfrm>
            <a:off x="1325880" y="4270248"/>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Update Project knowledge</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Replace industries.json with version 2 (adds cameras and drones); keep your latest ledger there.</a:t>
            </a:r>
            <a:endParaRPr lang="en-US" sz="1600" dirty="0"/>
          </a:p>
        </p:txBody>
      </p:sp>
      <p:sp>
        <p:nvSpPr>
          <p:cNvPr id="17" name="Shape 15"/>
          <p:cNvSpPr/>
          <p:nvPr/>
        </p:nvSpPr>
        <p:spPr>
          <a:xfrm>
            <a:off x="548640" y="5330952"/>
            <a:ext cx="548640" cy="548640"/>
          </a:xfrm>
          <a:prstGeom prst="ellipse">
            <a:avLst/>
          </a:prstGeom>
          <a:solidFill>
            <a:srgbClr val="1B365D"/>
          </a:solidFill>
          <a:ln w="12700">
            <a:solidFill>
              <a:srgbClr val="1B365D"/>
            </a:solidFill>
            <a:prstDash val="solid"/>
          </a:ln>
        </p:spPr>
        <p:txBody>
          <a:bodyPr/>
          <a:p/>
        </p:txBody>
      </p:sp>
      <p:sp>
        <p:nvSpPr>
          <p:cNvPr id="18" name="Text 16"/>
          <p:cNvSpPr txBox="1"/>
          <p:nvPr/>
        </p:nvSpPr>
        <p:spPr>
          <a:xfrm>
            <a:off x="548640" y="533095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9" name="Text 17"/>
          <p:cNvSpPr txBox="1"/>
          <p:nvPr/>
        </p:nvSpPr>
        <p:spPr>
          <a:xfrm>
            <a:off x="1325880" y="5221224"/>
            <a:ext cx="5760720" cy="8412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Check the list</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39 Strat-IQ skills on. The Part 1 stratiq-orchestrator stays off.</a:t>
            </a:r>
            <a:endParaRPr lang="en-US" sz="1600" dirty="0"/>
          </a:p>
        </p:txBody>
      </p:sp>
      <p:sp>
        <p:nvSpPr>
          <p:cNvPr id="20" name="Shape 18"/>
          <p:cNvSpPr/>
          <p:nvPr/>
        </p:nvSpPr>
        <p:spPr>
          <a:xfrm>
            <a:off x="7315200" y="1417320"/>
            <a:ext cx="4297680" cy="4572000"/>
          </a:xfrm>
          <a:prstGeom prst="roundRect">
            <a:avLst>
              <a:gd name="adj" fmla="val 1702"/>
            </a:avLst>
          </a:prstGeom>
          <a:solidFill>
            <a:srgbClr val="F5F3EE"/>
          </a:solidFill>
          <a:ln w="12700">
            <a:solidFill>
              <a:srgbClr val="F5F3EE"/>
            </a:solidFill>
            <a:prstDash val="solid"/>
          </a:ln>
        </p:spPr>
        <p:txBody>
          <a:bodyPr/>
          <a:p/>
        </p:txBody>
      </p:sp>
      <p:sp>
        <p:nvSpPr>
          <p:cNvPr id="21" name="Text 19"/>
          <p:cNvSpPr txBox="1"/>
          <p:nvPr/>
        </p:nvSpPr>
        <p:spPr>
          <a:xfrm>
            <a:off x="7543800" y="1600200"/>
            <a:ext cx="3840480" cy="4206240"/>
          </a:xfrm>
          <a:prstGeom prst="rect">
            <a:avLst/>
          </a:prstGeom>
          <a:noFill/>
          <a:ln/>
        </p:spPr>
        <p:txBody>
          <a:bodyPr wrap="square" lIns="0" tIns="0" rIns="0" bIns="0" rtlCol="0" anchor="t"/>
          <a:lstStyle/>
          <a:p>
            <a:pPr indent="0" marL="0">
              <a:buNone/>
            </a:pPr>
            <a:r>
              <a:rPr lang="en-US" sz="1400" b="1" dirty="0">
                <a:solidFill>
                  <a:srgbClr val="1B365D"/>
                </a:solidFill>
                <a:latin typeface="Arial" pitchFamily="34" charset="0"/>
                <a:ea typeface="Arial" pitchFamily="34" charset="-122"/>
                <a:cs typeface="Arial" pitchFamily="34" charset="-120"/>
              </a:rPr>
              <a:t>Choose</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stratiq-strategy-interview · stratiq-strategic-options · stratiq-business-case · stratiq-pricing · stratiq-synergy-case · stratiq-expected-value</a:t>
            </a:r>
            <a:endParaRPr lang="en-US" sz="1400" dirty="0"/>
          </a:p>
          <a:p>
            <a:pPr indent="0" marL="0">
              <a:buNone/>
            </a:pPr>
            <a:r>
              <a:rPr lang="en-US" sz="1400" b="1" dirty="0">
                <a:solidFill>
                  <a:srgbClr val="1B365D"/>
                </a:solidFill>
                <a:latin typeface="Arial" pitchFamily="34" charset="0"/>
                <a:ea typeface="Arial" pitchFamily="34" charset="-122"/>
                <a:cs typeface="Arial" pitchFamily="34" charset="-120"/>
              </a:rPr>
              <a:t>Test</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stratiq-stress-test</a:t>
            </a:r>
            <a:endParaRPr lang="en-US" sz="1400" dirty="0"/>
          </a:p>
          <a:p>
            <a:pPr indent="0" marL="0">
              <a:buNone/>
            </a:pPr>
            <a:r>
              <a:rPr lang="en-US" sz="1400" b="1" dirty="0">
                <a:solidFill>
                  <a:srgbClr val="1B365D"/>
                </a:solidFill>
                <a:latin typeface="Arial" pitchFamily="34" charset="0"/>
                <a:ea typeface="Arial" pitchFamily="34" charset="-122"/>
                <a:cs typeface="Arial" pitchFamily="34" charset="-120"/>
              </a:rPr>
              <a:t>Plan</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stratiq-gtm · stratiq-initiative-prioritizer · stratiq-operating-model · stratiq-stakeholder-map · stratiq-negotiation-prep · stratiq-execution-roadmap</a:t>
            </a:r>
            <a:endParaRPr lang="en-US" sz="1400" dirty="0"/>
          </a:p>
          <a:p>
            <a:pPr indent="0" marL="0">
              <a:buNone/>
            </a:pPr>
            <a:r>
              <a:rPr lang="en-US" sz="1400" b="1" dirty="0">
                <a:solidFill>
                  <a:srgbClr val="1B365D"/>
                </a:solidFill>
                <a:latin typeface="Arial" pitchFamily="34" charset="0"/>
                <a:ea typeface="Arial" pitchFamily="34" charset="-122"/>
                <a:cs typeface="Arial" pitchFamily="34" charset="-120"/>
              </a:rPr>
              <a:t>Track and pitch</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stratiq-value-realization · stratiq-memo-coach · stratiq-pitch · stratiq-workbook</a:t>
            </a:r>
            <a:endParaRPr lang="en-US" sz="1400" dirty="0"/>
          </a:p>
          <a:p>
            <a:pPr indent="0" marL="0">
              <a:buNone/>
            </a:pPr>
            <a:r>
              <a:rPr lang="en-US" sz="1400" b="1" dirty="0">
                <a:solidFill>
                  <a:srgbClr val="B5523B"/>
                </a:solidFill>
                <a:latin typeface="Arial" pitchFamily="34" charset="0"/>
                <a:ea typeface="Arial" pitchFamily="34" charset="-122"/>
                <a:cs typeface="Arial" pitchFamily="34" charset="-120"/>
              </a:rPr>
              <a:t>Part 2 · and Replace</a:t>
            </a:r>
            <a:endParaRPr lang="en-US" sz="1400" dirty="0"/>
          </a:p>
          <a:p>
            <a:pPr indent="0" marL="0">
              <a:spcAft>
                <a:spcPts val="800"/>
              </a:spcAft>
              <a:buNone/>
            </a:pPr>
            <a:r>
              <a:rPr lang="en-US" sz="1200" dirty="0">
                <a:solidFill>
                  <a:srgbClr val="1B365D"/>
                </a:solidFill>
                <a:latin typeface="Arial" pitchFamily="34" charset="0"/>
                <a:ea typeface="Arial" pitchFamily="34" charset="-122"/>
                <a:cs typeface="Arial" pitchFamily="34" charset="-120"/>
              </a:rPr>
              <a:t>stratiq-value-chain · stratiq-unit-economics · stratiq-resources-capabilities · stratiq-vrio · stratiq-full-potential · stratiq-growth-barriers · stratiq-swot · stratiq-globus-capture · Replace: stratiq-orchestrator-final · stratiq-case-exhibits · stratiq-strategic-mapping · stratiq-globus-coach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Check the install, then start</a:t>
            </a:r>
            <a:endParaRPr lang="en-US" sz="2800" dirty="0"/>
          </a:p>
        </p:txBody>
      </p:sp>
      <p:sp>
        <p:nvSpPr>
          <p:cNvPr id="3" name="card"/>
          <p:cNvSpPr/>
          <p:nvPr/>
        </p:nvSpPr>
        <p:spPr>
          <a:xfrm>
            <a:off x="548640" y="1463040"/>
            <a:ext cx="5440680" cy="2880360"/>
          </a:xfrm>
          <a:prstGeom prst="roundRect">
            <a:avLst>
              <a:gd name="adj" fmla="val 2540"/>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Quick check</a:t>
            </a:r>
            <a:endParaRPr lang="en-US" sz="1600" dirty="0"/>
          </a:p>
        </p:txBody>
      </p:sp>
      <p:sp>
        <p:nvSpPr>
          <p:cNvPr id="7" name="Text 4"/>
          <p:cNvSpPr txBox="1"/>
          <p:nvPr/>
        </p:nvSpPr>
        <p:spPr>
          <a:xfrm>
            <a:off x="777240" y="2331720"/>
            <a:ext cx="4983480" cy="18745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New chat in your Strat-IQ Project, ledger in Project knowledge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Type: Run Strat-IQ</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The intro shows Part 3 and a mode D</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If you see the old 8-step intro, the Part 1 orchestrator is still on</a:t>
            </a:r>
            <a:endParaRPr lang="en-US" sz="1400" dirty="0"/>
          </a:p>
        </p:txBody>
      </p:sp>
      <p:sp>
        <p:nvSpPr>
          <p:cNvPr id="8" name="card"/>
          <p:cNvSpPr/>
          <p:nvPr/>
        </p:nvSpPr>
        <p:spPr>
          <a:xfrm>
            <a:off x="6172200" y="1463040"/>
            <a:ext cx="5440680" cy="2880360"/>
          </a:xfrm>
          <a:prstGeom prst="roundRect">
            <a:avLst>
              <a:gd name="adj" fmla="val 2540"/>
            </a:avLst>
          </a:prstGeom>
          <a:solidFill>
            <a:srgbClr val="F5F3EE"/>
          </a:solidFill>
          <a:ln w="12700">
            <a:solidFill>
              <a:srgbClr val="F5F3EE"/>
            </a:solidFill>
            <a:prstDash val="solid"/>
          </a:ln>
        </p:spPr>
        <p:txBody>
          <a:bodyPr/>
          <a:p/>
        </p:txBody>
      </p:sp>
      <p:sp>
        <p:nvSpPr>
          <p:cNvPr id="9" name="Shape 6"/>
          <p:cNvSpPr/>
          <p:nvPr/>
        </p:nvSpPr>
        <p:spPr>
          <a:xfrm>
            <a:off x="6400800" y="1664208"/>
            <a:ext cx="566928" cy="566928"/>
          </a:xfrm>
          <a:prstGeom prst="ellipse">
            <a:avLst/>
          </a:prstGeom>
          <a:solidFill>
            <a:srgbClr val="1B365D"/>
          </a:solidFill>
          <a:ln w="12700">
            <a:solidFill>
              <a:srgbClr val="1B365D"/>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6528816" y="1792224"/>
            <a:ext cx="310896" cy="310896"/>
          </a:xfrm>
          <a:prstGeom prst="rect">
            <a:avLst/>
          </a:prstGeom>
        </p:spPr>
      </p:pic>
      <p:sp>
        <p:nvSpPr>
          <p:cNvPr id="11" name="Text 7"/>
          <p:cNvSpPr txBox="1"/>
          <p:nvPr/>
        </p:nvSpPr>
        <p:spPr>
          <a:xfrm>
            <a:off x="713232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If something is off</a:t>
            </a:r>
            <a:endParaRPr lang="en-US" sz="1600" dirty="0"/>
          </a:p>
        </p:txBody>
      </p:sp>
      <p:sp>
        <p:nvSpPr>
          <p:cNvPr id="12" name="Text 8"/>
          <p:cNvSpPr txBox="1"/>
          <p:nvPr/>
        </p:nvSpPr>
        <p:spPr>
          <a:xfrm>
            <a:off x="6400800" y="2331720"/>
            <a:ext cx="4983480" cy="18745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No mode D or E: the v1.7 orchestrator is still installed; replace it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'Ran without its skill': upload or switch on that skill</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Skill limit reached: keep the orchestrator plus this week's stages on; others still run from the standard framework</a:t>
            </a:r>
            <a:endParaRPr lang="en-US" sz="1400" dirty="0"/>
          </a:p>
        </p:txBody>
      </p:sp>
      <p:sp>
        <p:nvSpPr>
          <p:cNvPr id="13" name="Shape 9"/>
          <p:cNvSpPr/>
          <p:nvPr/>
        </p:nvSpPr>
        <p:spPr>
          <a:xfrm>
            <a:off x="548640" y="4572000"/>
            <a:ext cx="11064240" cy="594360"/>
          </a:xfrm>
          <a:prstGeom prst="roundRect">
            <a:avLst>
              <a:gd name="adj" fmla="val 9231"/>
            </a:avLst>
          </a:prstGeom>
          <a:solidFill>
            <a:srgbClr val="0F2340"/>
          </a:solidFill>
          <a:ln w="12700">
            <a:solidFill>
              <a:srgbClr val="0F2340"/>
            </a:solidFill>
            <a:prstDash val="solid"/>
          </a:ln>
        </p:spPr>
        <p:txBody>
          <a:bodyPr/>
          <a:p/>
        </p:txBody>
      </p:sp>
      <p:sp>
        <p:nvSpPr>
          <p:cNvPr id="14" name="Text 10"/>
          <p:cNvSpPr txBox="1"/>
          <p:nvPr/>
        </p:nvSpPr>
        <p:spPr>
          <a:xfrm>
            <a:off x="731520" y="4572000"/>
            <a:ext cx="10698480" cy="5943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Strat-IQ and make the strategy work.</a:t>
            </a:r>
            <a:endParaRPr lang="en-US" sz="1400" dirty="0"/>
          </a:p>
        </p:txBody>
      </p:sp>
      <p:sp>
        <p:nvSpPr>
          <p:cNvPr id="15" name="Text 11"/>
          <p:cNvSpPr txBox="1"/>
          <p:nvPr/>
        </p:nvSpPr>
        <p:spPr>
          <a:xfrm>
            <a:off x="548640" y="5394960"/>
            <a:ext cx="11064240" cy="50292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Claude Code: </a:t>
            </a:r>
            <a:pPr indent="0" marL="0">
              <a:buNone/>
            </a:pPr>
            <a:r>
              <a:rPr lang="en-US" sz="1200" dirty="0">
                <a:solidFill>
                  <a:schemeClr val="tx1"/>
                </a:solidFill>
                <a:latin typeface="Arial" pitchFamily="34" charset="0"/>
                <a:ea typeface="Arial" pitchFamily="34" charset="-122"/>
                <a:cs typeface="Arial" pitchFamily="34" charset="-120"/>
              </a:rPr>
              <a:t>cp -r …/part2/skills/stratiq-* …/part3/skills/stratiq-* ~/.claude/skills/   ·   Full guide: brads777.github.io/Strat-IQ-Strategy-Toolkit/part2-3-guide.html</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Run Part 3 from your saved ledger</a:t>
            </a:r>
            <a:endParaRPr lang="en-US" sz="2800" dirty="0"/>
          </a:p>
        </p:txBody>
      </p:sp>
      <p:sp>
        <p:nvSpPr>
          <p:cNvPr id="3" name="Shape 1"/>
          <p:cNvSpPr/>
          <p:nvPr/>
        </p:nvSpPr>
        <p:spPr>
          <a:xfrm>
            <a:off x="548640" y="1417320"/>
            <a:ext cx="11064240" cy="594360"/>
          </a:xfrm>
          <a:prstGeom prst="roundRect">
            <a:avLst>
              <a:gd name="adj" fmla="val 9231"/>
            </a:avLst>
          </a:prstGeom>
          <a:solidFill>
            <a:srgbClr val="0F2340"/>
          </a:solidFill>
          <a:ln w="12700">
            <a:solidFill>
              <a:srgbClr val="0F2340"/>
            </a:solidFill>
            <a:prstDash val="solid"/>
          </a:ln>
        </p:spPr>
        <p:txBody>
          <a:bodyPr/>
          <a:p/>
        </p:txBody>
      </p:sp>
      <p:sp>
        <p:nvSpPr>
          <p:cNvPr id="4" name="Text 2"/>
          <p:cNvSpPr txBox="1"/>
          <p:nvPr/>
        </p:nvSpPr>
        <p:spPr>
          <a:xfrm>
            <a:off x="731520" y="1417320"/>
            <a:ext cx="10698480" cy="5943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Strat-IQ and make the strategy work.</a:t>
            </a:r>
            <a:endParaRPr lang="en-US" sz="1400" dirty="0"/>
          </a:p>
        </p:txBody>
      </p:sp>
      <p:sp>
        <p:nvSpPr>
          <p:cNvPr id="5" name="card"/>
          <p:cNvSpPr/>
          <p:nvPr/>
        </p:nvSpPr>
        <p:spPr>
          <a:xfrm>
            <a:off x="548640" y="2286000"/>
            <a:ext cx="3520440" cy="2011680"/>
          </a:xfrm>
          <a:prstGeom prst="roundRect">
            <a:avLst>
              <a:gd name="adj" fmla="val 3636"/>
            </a:avLst>
          </a:prstGeom>
          <a:solidFill>
            <a:srgbClr val="F5F3EE"/>
          </a:solidFill>
          <a:ln w="12700">
            <a:solidFill>
              <a:srgbClr val="F5F3EE"/>
            </a:solidFill>
            <a:prstDash val="solid"/>
          </a:ln>
        </p:spPr>
        <p:txBody>
          <a:bodyPr/>
          <a:p/>
        </p:txBody>
      </p:sp>
      <p:sp>
        <p:nvSpPr>
          <p:cNvPr id="6" name="Shape 4"/>
          <p:cNvSpPr/>
          <p:nvPr/>
        </p:nvSpPr>
        <p:spPr>
          <a:xfrm>
            <a:off x="777240" y="2487168"/>
            <a:ext cx="566928" cy="566928"/>
          </a:xfrm>
          <a:prstGeom prst="ellipse">
            <a:avLst/>
          </a:prstGeom>
          <a:solidFill>
            <a:srgbClr val="1B365D"/>
          </a:solidFill>
          <a:ln w="12700">
            <a:solidFill>
              <a:srgbClr val="1B365D"/>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05256" y="2615184"/>
            <a:ext cx="310896" cy="310896"/>
          </a:xfrm>
          <a:prstGeom prst="rect">
            <a:avLst/>
          </a:prstGeom>
        </p:spPr>
      </p:pic>
      <p:sp>
        <p:nvSpPr>
          <p:cNvPr id="8" name="Text 5"/>
          <p:cNvSpPr txBox="1"/>
          <p:nvPr/>
        </p:nvSpPr>
        <p:spPr>
          <a:xfrm>
            <a:off x="1508760" y="245059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Reads the ledger</a:t>
            </a:r>
            <a:endParaRPr lang="en-US" sz="1600" dirty="0"/>
          </a:p>
        </p:txBody>
      </p:sp>
      <p:sp>
        <p:nvSpPr>
          <p:cNvPr id="9" name="Text 6"/>
          <p:cNvSpPr txBox="1"/>
          <p:nvPr/>
        </p:nvSpPr>
        <p:spPr>
          <a:xfrm>
            <a:off x="777240" y="3154680"/>
            <a:ext cx="3063240" cy="10058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Parts 1 and 2 complete? It says what it found, with the date.</a:t>
            </a:r>
            <a:endParaRPr lang="en-US" sz="1400" dirty="0"/>
          </a:p>
        </p:txBody>
      </p:sp>
      <p:sp>
        <p:nvSpPr>
          <p:cNvPr id="10" name="card"/>
          <p:cNvSpPr/>
          <p:nvPr/>
        </p:nvSpPr>
        <p:spPr>
          <a:xfrm>
            <a:off x="4297680" y="2286000"/>
            <a:ext cx="3520440" cy="2011680"/>
          </a:xfrm>
          <a:prstGeom prst="roundRect">
            <a:avLst>
              <a:gd name="adj" fmla="val 3636"/>
            </a:avLst>
          </a:prstGeom>
          <a:solidFill>
            <a:srgbClr val="F5F3EE"/>
          </a:solidFill>
          <a:ln w="12700">
            <a:solidFill>
              <a:srgbClr val="F5F3EE"/>
            </a:solidFill>
            <a:prstDash val="solid"/>
          </a:ln>
        </p:spPr>
        <p:txBody>
          <a:bodyPr/>
          <a:p/>
        </p:txBody>
      </p:sp>
      <p:sp>
        <p:nvSpPr>
          <p:cNvPr id="11" name="Shape 8"/>
          <p:cNvSpPr/>
          <p:nvPr/>
        </p:nvSpPr>
        <p:spPr>
          <a:xfrm>
            <a:off x="4526280" y="2487168"/>
            <a:ext cx="566928" cy="566928"/>
          </a:xfrm>
          <a:prstGeom prst="ellipse">
            <a:avLst/>
          </a:prstGeom>
          <a:solidFill>
            <a:srgbClr val="1B365D"/>
          </a:solidFill>
          <a:ln w="12700">
            <a:solidFill>
              <a:srgbClr val="1B365D"/>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654296" y="2615184"/>
            <a:ext cx="310896" cy="310896"/>
          </a:xfrm>
          <a:prstGeom prst="rect">
            <a:avLst/>
          </a:prstGeom>
        </p:spPr>
      </p:pic>
      <p:sp>
        <p:nvSpPr>
          <p:cNvPr id="13" name="Text 9"/>
          <p:cNvSpPr txBox="1"/>
          <p:nvPr/>
        </p:nvSpPr>
        <p:spPr>
          <a:xfrm>
            <a:off x="5257800" y="245059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Confirms the decision</a:t>
            </a:r>
            <a:endParaRPr lang="en-US" sz="1600" dirty="0"/>
          </a:p>
        </p:txBody>
      </p:sp>
      <p:sp>
        <p:nvSpPr>
          <p:cNvPr id="14" name="Text 10"/>
          <p:cNvSpPr txBox="1"/>
          <p:nvPr/>
        </p:nvSpPr>
        <p:spPr>
          <a:xfrm>
            <a:off x="4526280" y="3154680"/>
            <a:ext cx="3063240" cy="10058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The 1-3 questions Part 3 must answer, e.g. how to compete below $35k by 2029.</a:t>
            </a:r>
            <a:endParaRPr lang="en-US" sz="1400" dirty="0"/>
          </a:p>
        </p:txBody>
      </p:sp>
      <p:sp>
        <p:nvSpPr>
          <p:cNvPr id="15" name="card"/>
          <p:cNvSpPr/>
          <p:nvPr/>
        </p:nvSpPr>
        <p:spPr>
          <a:xfrm>
            <a:off x="8046720" y="2286000"/>
            <a:ext cx="3520440" cy="2011680"/>
          </a:xfrm>
          <a:prstGeom prst="roundRect">
            <a:avLst>
              <a:gd name="adj" fmla="val 3636"/>
            </a:avLst>
          </a:prstGeom>
          <a:solidFill>
            <a:srgbClr val="F5F3EE"/>
          </a:solidFill>
          <a:ln w="12700">
            <a:solidFill>
              <a:srgbClr val="F5F3EE"/>
            </a:solidFill>
            <a:prstDash val="solid"/>
          </a:ln>
        </p:spPr>
        <p:txBody>
          <a:bodyPr/>
          <a:p/>
        </p:txBody>
      </p:sp>
      <p:sp>
        <p:nvSpPr>
          <p:cNvPr id="16" name="Shape 12"/>
          <p:cNvSpPr/>
          <p:nvPr/>
        </p:nvSpPr>
        <p:spPr>
          <a:xfrm>
            <a:off x="8275320" y="2487168"/>
            <a:ext cx="566928" cy="566928"/>
          </a:xfrm>
          <a:prstGeom prst="ellipse">
            <a:avLst/>
          </a:prstGeom>
          <a:solidFill>
            <a:srgbClr val="1B365D"/>
          </a:solidFill>
          <a:ln w="12700">
            <a:solidFill>
              <a:srgbClr val="1B365D"/>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8403336" y="2615184"/>
            <a:ext cx="310896" cy="310896"/>
          </a:xfrm>
          <a:prstGeom prst="rect">
            <a:avLst/>
          </a:prstGeom>
        </p:spPr>
      </p:pic>
      <p:sp>
        <p:nvSpPr>
          <p:cNvPr id="18" name="Text 13"/>
          <p:cNvSpPr txBox="1"/>
          <p:nvPr/>
        </p:nvSpPr>
        <p:spPr>
          <a:xfrm>
            <a:off x="9006840" y="245059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Mode D</a:t>
            </a:r>
            <a:endParaRPr lang="en-US" sz="1600" dirty="0"/>
          </a:p>
        </p:txBody>
      </p:sp>
      <p:sp>
        <p:nvSpPr>
          <p:cNvPr id="19" name="Text 14"/>
          <p:cNvSpPr txBox="1"/>
          <p:nvPr/>
        </p:nvSpPr>
        <p:spPr>
          <a:xfrm>
            <a:off x="8275320" y="3154680"/>
            <a:ext cx="3063240" cy="10058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Choose → Test → Plan → Track, with a checkpoint after every step.</a:t>
            </a:r>
            <a:endParaRPr lang="en-US" sz="1400" dirty="0"/>
          </a:p>
        </p:txBody>
      </p:sp>
      <p:sp>
        <p:nvSpPr>
          <p:cNvPr id="20" name="Shape 15"/>
          <p:cNvSpPr/>
          <p:nvPr/>
        </p:nvSpPr>
        <p:spPr>
          <a:xfrm>
            <a:off x="548640" y="4572000"/>
            <a:ext cx="11064240" cy="1325880"/>
          </a:xfrm>
          <a:prstGeom prst="roundRect">
            <a:avLst>
              <a:gd name="adj" fmla="val 5517"/>
            </a:avLst>
          </a:prstGeom>
          <a:solidFill>
            <a:srgbClr val="1B365D"/>
          </a:solidFill>
          <a:ln w="12700">
            <a:solidFill>
              <a:srgbClr val="1B365D"/>
            </a:solidFill>
            <a:prstDash val="solid"/>
          </a:ln>
        </p:spPr>
        <p:txBody>
          <a:bodyPr/>
          <a:p/>
        </p:txBody>
      </p:sp>
      <p:sp>
        <p:nvSpPr>
          <p:cNvPr id="21" name="Text 16"/>
          <p:cNvSpPr txBox="1"/>
          <p:nvPr/>
        </p:nvSpPr>
        <p:spPr>
          <a:xfrm>
            <a:off x="822960" y="4572000"/>
            <a:ext cx="10515600" cy="1325880"/>
          </a:xfrm>
          <a:prstGeom prst="rect">
            <a:avLst/>
          </a:prstGeom>
          <a:noFill/>
          <a:ln/>
        </p:spPr>
        <p:txBody>
          <a:bodyPr wrap="square" lIns="0" tIns="0" rIns="0" bIns="0" rtlCol="0" anchor="ctr"/>
          <a:lstStyle/>
          <a:p>
            <a:pPr indent="0" marL="0">
              <a:buNone/>
            </a:pPr>
            <a:r>
              <a:rPr lang="en-US" sz="1500" b="1" dirty="0">
                <a:solidFill>
                  <a:srgbClr val="C4A35A"/>
                </a:solidFill>
                <a:latin typeface="Arial" pitchFamily="34" charset="0"/>
                <a:ea typeface="Arial" pitchFamily="34" charset="-122"/>
                <a:cs typeface="Arial" pitchFamily="34" charset="-120"/>
              </a:rPr>
              <a:t>For a case: </a:t>
            </a:r>
            <a:pPr indent="0" marL="0">
              <a:buNone/>
            </a:pPr>
            <a:r>
              <a:rPr lang="en-US" sz="1500" dirty="0">
                <a:solidFill>
                  <a:srgbClr val="FFFFFF"/>
                </a:solidFill>
                <a:latin typeface="Arial" pitchFamily="34" charset="0"/>
                <a:ea typeface="Arial" pitchFamily="34" charset="-122"/>
                <a:cs typeface="Arial" pitchFamily="34" charset="-120"/>
              </a:rPr>
              <a:t>the alternatives, the numbers you'll defend, and the recommendation are yours. Part 3 suggests (marked SUGGESTED), calculates your inputs, and coaches. It never writes the recommendation, memo text or an Impact Summary.</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Choose · Strategic Options</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P</a:t>
            </a:r>
            <a:endParaRPr lang="en-US" sz="1100" dirty="0"/>
          </a:p>
        </p:txBody>
      </p:sp>
      <p:sp>
        <p:nvSpPr>
          <p:cNvPr id="5" name="Shape 3"/>
          <p:cNvSpPr/>
          <p:nvPr/>
        </p:nvSpPr>
        <p:spPr>
          <a:xfrm>
            <a:off x="548640" y="1463040"/>
            <a:ext cx="3520440" cy="1005840"/>
          </a:xfrm>
          <a:prstGeom prst="roundRect">
            <a:avLst>
              <a:gd name="adj" fmla="val 7273"/>
            </a:avLst>
          </a:prstGeom>
          <a:solidFill>
            <a:srgbClr val="1B365D"/>
          </a:solidFill>
          <a:ln w="12700">
            <a:solidFill>
              <a:srgbClr val="1B365D"/>
            </a:solidFill>
            <a:prstDash val="solid"/>
          </a:ln>
        </p:spPr>
        <p:txBody>
          <a:bodyPr/>
          <a:p/>
        </p:txBody>
      </p:sp>
      <p:sp>
        <p:nvSpPr>
          <p:cNvPr id="6" name="Text 4"/>
          <p:cNvSpPr txBox="1"/>
          <p:nvPr/>
        </p:nvSpPr>
        <p:spPr>
          <a:xfrm>
            <a:off x="777240" y="1463040"/>
            <a:ext cx="3108960" cy="1005840"/>
          </a:xfrm>
          <a:prstGeom prst="rect">
            <a:avLst/>
          </a:prstGeom>
          <a:noFill/>
          <a:ln/>
        </p:spPr>
        <p:txBody>
          <a:bodyPr wrap="square" lIns="0" tIns="0" rIns="0" bIns="0" rtlCol="0" anchor="ctr"/>
          <a:lstStyle/>
          <a:p>
            <a:pPr indent="0" marL="0">
              <a:buNone/>
            </a:pPr>
            <a:r>
              <a:rPr lang="en-US" sz="1600" b="1" dirty="0">
                <a:solidFill>
                  <a:srgbClr val="C4A35A"/>
                </a:solidFill>
                <a:latin typeface="Arial" pitchFamily="34" charset="0"/>
                <a:ea typeface="Arial" pitchFamily="34" charset="-122"/>
                <a:cs typeface="Arial" pitchFamily="34" charset="-120"/>
              </a:rPr>
              <a:t>Situation</a:t>
            </a:r>
            <a:endParaRPr lang="en-US" sz="1600" dirty="0"/>
          </a:p>
          <a:p>
            <a:pPr indent="0" marL="0">
              <a:buNone/>
            </a:pPr>
            <a:r>
              <a:rPr lang="en-US" sz="1300" dirty="0">
                <a:solidFill>
                  <a:srgbClr val="FFFFFF"/>
                </a:solidFill>
                <a:latin typeface="Arial" pitchFamily="34" charset="0"/>
                <a:ea typeface="Arial" pitchFamily="34" charset="-122"/>
                <a:cs typeface="Arial" pitchFamily="34" charset="-120"/>
              </a:rPr>
              <a:t>What everyone agrees on</a:t>
            </a:r>
            <a:endParaRPr lang="en-US" sz="1600" dirty="0"/>
          </a:p>
        </p:txBody>
      </p:sp>
      <p:sp>
        <p:nvSpPr>
          <p:cNvPr id="7" name="Shape 5"/>
          <p:cNvSpPr/>
          <p:nvPr/>
        </p:nvSpPr>
        <p:spPr>
          <a:xfrm>
            <a:off x="4297680" y="1463040"/>
            <a:ext cx="3520440" cy="1005840"/>
          </a:xfrm>
          <a:prstGeom prst="roundRect">
            <a:avLst>
              <a:gd name="adj" fmla="val 7273"/>
            </a:avLst>
          </a:prstGeom>
          <a:solidFill>
            <a:srgbClr val="1B365D"/>
          </a:solidFill>
          <a:ln w="12700">
            <a:solidFill>
              <a:srgbClr val="1B365D"/>
            </a:solidFill>
            <a:prstDash val="solid"/>
          </a:ln>
        </p:spPr>
        <p:txBody>
          <a:bodyPr/>
          <a:p/>
        </p:txBody>
      </p:sp>
      <p:sp>
        <p:nvSpPr>
          <p:cNvPr id="8" name="Text 6"/>
          <p:cNvSpPr txBox="1"/>
          <p:nvPr/>
        </p:nvSpPr>
        <p:spPr>
          <a:xfrm>
            <a:off x="4526280" y="1463040"/>
            <a:ext cx="3108960" cy="1005840"/>
          </a:xfrm>
          <a:prstGeom prst="rect">
            <a:avLst/>
          </a:prstGeom>
          <a:noFill/>
          <a:ln/>
        </p:spPr>
        <p:txBody>
          <a:bodyPr wrap="square" lIns="0" tIns="0" rIns="0" bIns="0" rtlCol="0" anchor="ctr"/>
          <a:lstStyle/>
          <a:p>
            <a:pPr indent="0" marL="0">
              <a:buNone/>
            </a:pPr>
            <a:r>
              <a:rPr lang="en-US" sz="1600" b="1" dirty="0">
                <a:solidFill>
                  <a:srgbClr val="C4A35A"/>
                </a:solidFill>
                <a:latin typeface="Arial" pitchFamily="34" charset="0"/>
                <a:ea typeface="Arial" pitchFamily="34" charset="-122"/>
                <a:cs typeface="Arial" pitchFamily="34" charset="-120"/>
              </a:rPr>
              <a:t>Complication</a:t>
            </a:r>
            <a:endParaRPr lang="en-US" sz="1600" dirty="0"/>
          </a:p>
          <a:p>
            <a:pPr indent="0" marL="0">
              <a:buNone/>
            </a:pPr>
            <a:r>
              <a:rPr lang="en-US" sz="1300" dirty="0">
                <a:solidFill>
                  <a:srgbClr val="FFFFFF"/>
                </a:solidFill>
                <a:latin typeface="Arial" pitchFamily="34" charset="0"/>
                <a:ea typeface="Arial" pitchFamily="34" charset="-122"/>
                <a:cs typeface="Arial" pitchFamily="34" charset="-120"/>
              </a:rPr>
              <a:t>What broke it (a Part 1 driver or Part 2 gap)</a:t>
            </a:r>
            <a:endParaRPr lang="en-US" sz="1600" dirty="0"/>
          </a:p>
        </p:txBody>
      </p:sp>
      <p:sp>
        <p:nvSpPr>
          <p:cNvPr id="9" name="Shape 7"/>
          <p:cNvSpPr/>
          <p:nvPr/>
        </p:nvSpPr>
        <p:spPr>
          <a:xfrm>
            <a:off x="8046720" y="1463040"/>
            <a:ext cx="3520440" cy="1005840"/>
          </a:xfrm>
          <a:prstGeom prst="roundRect">
            <a:avLst>
              <a:gd name="adj" fmla="val 7273"/>
            </a:avLst>
          </a:prstGeom>
          <a:solidFill>
            <a:srgbClr val="1B365D"/>
          </a:solidFill>
          <a:ln w="12700">
            <a:solidFill>
              <a:srgbClr val="1B365D"/>
            </a:solidFill>
            <a:prstDash val="solid"/>
          </a:ln>
        </p:spPr>
        <p:txBody>
          <a:bodyPr/>
          <a:p/>
        </p:txBody>
      </p:sp>
      <p:sp>
        <p:nvSpPr>
          <p:cNvPr id="10" name="Text 8"/>
          <p:cNvSpPr txBox="1"/>
          <p:nvPr/>
        </p:nvSpPr>
        <p:spPr>
          <a:xfrm>
            <a:off x="8275320" y="1463040"/>
            <a:ext cx="3108960" cy="1005840"/>
          </a:xfrm>
          <a:prstGeom prst="rect">
            <a:avLst/>
          </a:prstGeom>
          <a:noFill/>
          <a:ln/>
        </p:spPr>
        <p:txBody>
          <a:bodyPr wrap="square" lIns="0" tIns="0" rIns="0" bIns="0" rtlCol="0" anchor="ctr"/>
          <a:lstStyle/>
          <a:p>
            <a:pPr indent="0" marL="0">
              <a:buNone/>
            </a:pPr>
            <a:r>
              <a:rPr lang="en-US" sz="1600" b="1" dirty="0">
                <a:solidFill>
                  <a:srgbClr val="C4A35A"/>
                </a:solidFill>
                <a:latin typeface="Arial" pitchFamily="34" charset="0"/>
                <a:ea typeface="Arial" pitchFamily="34" charset="-122"/>
                <a:cs typeface="Arial" pitchFamily="34" charset="-120"/>
              </a:rPr>
              <a:t>Question</a:t>
            </a:r>
            <a:endParaRPr lang="en-US" sz="1600" dirty="0"/>
          </a:p>
          <a:p>
            <a:pPr indent="0" marL="0">
              <a:buNone/>
            </a:pPr>
            <a:r>
              <a:rPr lang="en-US" sz="1300" dirty="0">
                <a:solidFill>
                  <a:srgbClr val="FFFFFF"/>
                </a:solidFill>
                <a:latin typeface="Arial" pitchFamily="34" charset="0"/>
                <a:ea typeface="Arial" pitchFamily="34" charset="-122"/>
                <a:cs typeface="Arial" pitchFamily="34" charset="-120"/>
              </a:rPr>
              <a:t>One decision, phrased as a choice</a:t>
            </a:r>
            <a:endParaRPr lang="en-US" sz="1600" dirty="0"/>
          </a:p>
        </p:txBody>
      </p:sp>
      <p:sp>
        <p:nvSpPr>
          <p:cNvPr id="11" name="Shape 9"/>
          <p:cNvSpPr/>
          <p:nvPr/>
        </p:nvSpPr>
        <p:spPr>
          <a:xfrm>
            <a:off x="548640" y="2743200"/>
            <a:ext cx="2606040" cy="1600200"/>
          </a:xfrm>
          <a:prstGeom prst="roundRect">
            <a:avLst>
              <a:gd name="adj" fmla="val 4571"/>
            </a:avLst>
          </a:prstGeom>
          <a:solidFill>
            <a:srgbClr val="F5F3EE"/>
          </a:solidFill>
          <a:ln w="12700">
            <a:solidFill>
              <a:srgbClr val="F5F3EE"/>
            </a:solidFill>
            <a:prstDash val="solid"/>
          </a:ln>
        </p:spPr>
        <p:txBody>
          <a:bodyPr/>
          <a:p/>
        </p:txBody>
      </p:sp>
      <p:sp>
        <p:nvSpPr>
          <p:cNvPr id="12" name="Shape 10"/>
          <p:cNvSpPr/>
          <p:nvPr/>
        </p:nvSpPr>
        <p:spPr>
          <a:xfrm>
            <a:off x="731520" y="2926080"/>
            <a:ext cx="502920" cy="502920"/>
          </a:xfrm>
          <a:prstGeom prst="ellipse">
            <a:avLst/>
          </a:prstGeom>
          <a:solidFill>
            <a:srgbClr val="C4A35A"/>
          </a:solidFill>
          <a:ln w="12700">
            <a:solidFill>
              <a:srgbClr val="C4A35A"/>
            </a:solidFill>
            <a:prstDash val="solid"/>
          </a:ln>
        </p:spPr>
        <p:txBody>
          <a:bodyPr/>
          <a:p/>
        </p:txBody>
      </p:sp>
      <p:sp>
        <p:nvSpPr>
          <p:cNvPr id="13" name="Text 11"/>
          <p:cNvSpPr txBox="1"/>
          <p:nvPr/>
        </p:nvSpPr>
        <p:spPr>
          <a:xfrm>
            <a:off x="731520" y="2926080"/>
            <a:ext cx="502920" cy="502920"/>
          </a:xfrm>
          <a:prstGeom prst="rect">
            <a:avLst/>
          </a:prstGeom>
          <a:noFill/>
          <a:ln/>
        </p:spPr>
        <p:txBody>
          <a:bodyPr wrap="square" lIns="0" tIns="0" rIns="0" bIns="0"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A</a:t>
            </a:r>
            <a:endParaRPr lang="en-US" sz="1600" dirty="0"/>
          </a:p>
        </p:txBody>
      </p:sp>
      <p:sp>
        <p:nvSpPr>
          <p:cNvPr id="14" name="Text 12"/>
          <p:cNvSpPr txBox="1"/>
          <p:nvPr/>
        </p:nvSpPr>
        <p:spPr>
          <a:xfrm>
            <a:off x="731520" y="3520440"/>
            <a:ext cx="2286000" cy="7772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Build</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e.g. a new LFP platform in-house</a:t>
            </a:r>
            <a:endParaRPr lang="en-US" sz="1600" dirty="0"/>
          </a:p>
        </p:txBody>
      </p:sp>
      <p:sp>
        <p:nvSpPr>
          <p:cNvPr id="15" name="Shape 13"/>
          <p:cNvSpPr/>
          <p:nvPr/>
        </p:nvSpPr>
        <p:spPr>
          <a:xfrm>
            <a:off x="3383280" y="2743200"/>
            <a:ext cx="2606040" cy="1600200"/>
          </a:xfrm>
          <a:prstGeom prst="roundRect">
            <a:avLst>
              <a:gd name="adj" fmla="val 4571"/>
            </a:avLst>
          </a:prstGeom>
          <a:solidFill>
            <a:srgbClr val="F5F3EE"/>
          </a:solidFill>
          <a:ln w="12700">
            <a:solidFill>
              <a:srgbClr val="F5F3EE"/>
            </a:solidFill>
            <a:prstDash val="solid"/>
          </a:ln>
        </p:spPr>
        <p:txBody>
          <a:bodyPr/>
          <a:p/>
        </p:txBody>
      </p:sp>
      <p:sp>
        <p:nvSpPr>
          <p:cNvPr id="16" name="Shape 14"/>
          <p:cNvSpPr/>
          <p:nvPr/>
        </p:nvSpPr>
        <p:spPr>
          <a:xfrm>
            <a:off x="3566160" y="2926080"/>
            <a:ext cx="502920" cy="502920"/>
          </a:xfrm>
          <a:prstGeom prst="ellipse">
            <a:avLst/>
          </a:prstGeom>
          <a:solidFill>
            <a:srgbClr val="C4A35A"/>
          </a:solidFill>
          <a:ln w="12700">
            <a:solidFill>
              <a:srgbClr val="C4A35A"/>
            </a:solidFill>
            <a:prstDash val="solid"/>
          </a:ln>
        </p:spPr>
        <p:txBody>
          <a:bodyPr/>
          <a:p/>
        </p:txBody>
      </p:sp>
      <p:sp>
        <p:nvSpPr>
          <p:cNvPr id="17" name="Text 15"/>
          <p:cNvSpPr txBox="1"/>
          <p:nvPr/>
        </p:nvSpPr>
        <p:spPr>
          <a:xfrm>
            <a:off x="3566160" y="2926080"/>
            <a:ext cx="502920" cy="502920"/>
          </a:xfrm>
          <a:prstGeom prst="rect">
            <a:avLst/>
          </a:prstGeom>
          <a:noFill/>
          <a:ln/>
        </p:spPr>
        <p:txBody>
          <a:bodyPr wrap="square" lIns="0" tIns="0" rIns="0" bIns="0"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B</a:t>
            </a:r>
            <a:endParaRPr lang="en-US" sz="1600" dirty="0"/>
          </a:p>
        </p:txBody>
      </p:sp>
      <p:sp>
        <p:nvSpPr>
          <p:cNvPr id="18" name="Text 16"/>
          <p:cNvSpPr txBox="1"/>
          <p:nvPr/>
        </p:nvSpPr>
        <p:spPr>
          <a:xfrm>
            <a:off x="3566160" y="3520440"/>
            <a:ext cx="2286000" cy="7772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Partner</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e.g. cells from a Tier-1 supplier</a:t>
            </a:r>
            <a:endParaRPr lang="en-US" sz="1600" dirty="0"/>
          </a:p>
        </p:txBody>
      </p:sp>
      <p:sp>
        <p:nvSpPr>
          <p:cNvPr id="19" name="Shape 17"/>
          <p:cNvSpPr/>
          <p:nvPr/>
        </p:nvSpPr>
        <p:spPr>
          <a:xfrm>
            <a:off x="6217920" y="2743200"/>
            <a:ext cx="2606040" cy="1600200"/>
          </a:xfrm>
          <a:prstGeom prst="roundRect">
            <a:avLst>
              <a:gd name="adj" fmla="val 4571"/>
            </a:avLst>
          </a:prstGeom>
          <a:solidFill>
            <a:srgbClr val="F5F3EE"/>
          </a:solidFill>
          <a:ln w="12700">
            <a:solidFill>
              <a:srgbClr val="F5F3EE"/>
            </a:solidFill>
            <a:prstDash val="solid"/>
          </a:ln>
        </p:spPr>
        <p:txBody>
          <a:bodyPr/>
          <a:p/>
        </p:txBody>
      </p:sp>
      <p:sp>
        <p:nvSpPr>
          <p:cNvPr id="20" name="Shape 18"/>
          <p:cNvSpPr/>
          <p:nvPr/>
        </p:nvSpPr>
        <p:spPr>
          <a:xfrm>
            <a:off x="6400800" y="2926080"/>
            <a:ext cx="502920" cy="502920"/>
          </a:xfrm>
          <a:prstGeom prst="ellipse">
            <a:avLst/>
          </a:prstGeom>
          <a:solidFill>
            <a:srgbClr val="C4A35A"/>
          </a:solidFill>
          <a:ln w="12700">
            <a:solidFill>
              <a:srgbClr val="C4A35A"/>
            </a:solidFill>
            <a:prstDash val="solid"/>
          </a:ln>
        </p:spPr>
        <p:txBody>
          <a:bodyPr/>
          <a:p/>
        </p:txBody>
      </p:sp>
      <p:sp>
        <p:nvSpPr>
          <p:cNvPr id="21" name="Text 19"/>
          <p:cNvSpPr txBox="1"/>
          <p:nvPr/>
        </p:nvSpPr>
        <p:spPr>
          <a:xfrm>
            <a:off x="6400800" y="2926080"/>
            <a:ext cx="502920" cy="502920"/>
          </a:xfrm>
          <a:prstGeom prst="rect">
            <a:avLst/>
          </a:prstGeom>
          <a:noFill/>
          <a:ln/>
        </p:spPr>
        <p:txBody>
          <a:bodyPr wrap="square" lIns="0" tIns="0" rIns="0" bIns="0"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C</a:t>
            </a:r>
            <a:endParaRPr lang="en-US" sz="1600" dirty="0"/>
          </a:p>
        </p:txBody>
      </p:sp>
      <p:sp>
        <p:nvSpPr>
          <p:cNvPr id="22" name="Text 20"/>
          <p:cNvSpPr txBox="1"/>
          <p:nvPr/>
        </p:nvSpPr>
        <p:spPr>
          <a:xfrm>
            <a:off x="6400800" y="3520440"/>
            <a:ext cx="2286000" cy="7772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Reposition</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e.g. into a whitespace VRIO supports</a:t>
            </a:r>
            <a:endParaRPr lang="en-US" sz="1600" dirty="0"/>
          </a:p>
        </p:txBody>
      </p:sp>
      <p:sp>
        <p:nvSpPr>
          <p:cNvPr id="23" name="Shape 21"/>
          <p:cNvSpPr/>
          <p:nvPr/>
        </p:nvSpPr>
        <p:spPr>
          <a:xfrm>
            <a:off x="9052560" y="2743200"/>
            <a:ext cx="2606040" cy="1600200"/>
          </a:xfrm>
          <a:prstGeom prst="roundRect">
            <a:avLst>
              <a:gd name="adj" fmla="val 4571"/>
            </a:avLst>
          </a:prstGeom>
          <a:solidFill>
            <a:srgbClr val="FFFFFF"/>
          </a:solidFill>
          <a:ln w="12700">
            <a:solidFill>
              <a:srgbClr val="6B6B6B"/>
            </a:solidFill>
            <a:prstDash val="dash"/>
          </a:ln>
        </p:spPr>
        <p:txBody>
          <a:bodyPr/>
          <a:p/>
        </p:txBody>
      </p:sp>
      <p:sp>
        <p:nvSpPr>
          <p:cNvPr id="24" name="Shape 22"/>
          <p:cNvSpPr/>
          <p:nvPr/>
        </p:nvSpPr>
        <p:spPr>
          <a:xfrm>
            <a:off x="9235440" y="2926080"/>
            <a:ext cx="502920" cy="502920"/>
          </a:xfrm>
          <a:prstGeom prst="ellipse">
            <a:avLst/>
          </a:prstGeom>
          <a:solidFill>
            <a:srgbClr val="6B6B6B"/>
          </a:solidFill>
          <a:ln w="12700">
            <a:solidFill>
              <a:srgbClr val="6B6B6B"/>
            </a:solidFill>
            <a:prstDash val="solid"/>
          </a:ln>
        </p:spPr>
        <p:txBody>
          <a:bodyPr/>
          <a:p/>
        </p:txBody>
      </p:sp>
      <p:sp>
        <p:nvSpPr>
          <p:cNvPr id="25" name="Text 23"/>
          <p:cNvSpPr txBox="1"/>
          <p:nvPr/>
        </p:nvSpPr>
        <p:spPr>
          <a:xfrm>
            <a:off x="9235440" y="2926080"/>
            <a:ext cx="502920" cy="502920"/>
          </a:xfrm>
          <a:prstGeom prst="rect">
            <a:avLst/>
          </a:prstGeom>
          <a:noFill/>
          <a:ln/>
        </p:spPr>
        <p:txBody>
          <a:bodyPr wrap="square" lIns="0" tIns="0" rIns="0" bIns="0" rtlCol="0" anchor="ctr"/>
          <a:lstStyle/>
          <a:p>
            <a:pPr algn="ctr" indent="0" marL="0">
              <a:buNone/>
            </a:pPr>
            <a:r>
              <a:rPr lang="en-US" sz="1600" b="1" dirty="0">
                <a:solidFill>
                  <a:srgbClr val="1B365D"/>
                </a:solidFill>
                <a:latin typeface="Arial" pitchFamily="34" charset="0"/>
                <a:ea typeface="Arial" pitchFamily="34" charset="-122"/>
                <a:cs typeface="Arial" pitchFamily="34" charset="-120"/>
              </a:rPr>
              <a:t>0</a:t>
            </a:r>
            <a:endParaRPr lang="en-US" sz="1600" dirty="0"/>
          </a:p>
        </p:txBody>
      </p:sp>
      <p:sp>
        <p:nvSpPr>
          <p:cNvPr id="26" name="Text 24"/>
          <p:cNvSpPr txBox="1"/>
          <p:nvPr/>
        </p:nvSpPr>
        <p:spPr>
          <a:xfrm>
            <a:off x="9235440" y="3520440"/>
            <a:ext cx="2286000" cy="7772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Do nothing</a:t>
            </a:r>
            <a:endParaRPr lang="en-US" sz="1600" dirty="0"/>
          </a:p>
          <a:p>
            <a:pPr indent="0" marL="0">
              <a:buNone/>
            </a:pPr>
            <a:r>
              <a:rPr lang="en-US" sz="1300" dirty="0">
                <a:solidFill>
                  <a:schemeClr val="tx1"/>
                </a:solidFill>
                <a:latin typeface="Arial" pitchFamily="34" charset="0"/>
                <a:ea typeface="Arial" pitchFamily="34" charset="-122"/>
                <a:cs typeface="Arial" pitchFamily="34" charset="-120"/>
              </a:rPr>
              <a:t>the baseline every option must beat</a:t>
            </a:r>
            <a:endParaRPr lang="en-US" sz="1600" dirty="0"/>
          </a:p>
        </p:txBody>
      </p:sp>
      <p:sp>
        <p:nvSpPr>
          <p:cNvPr id="27" name="card"/>
          <p:cNvSpPr/>
          <p:nvPr/>
        </p:nvSpPr>
        <p:spPr>
          <a:xfrm>
            <a:off x="548640" y="4617720"/>
            <a:ext cx="11064240" cy="1325880"/>
          </a:xfrm>
          <a:prstGeom prst="roundRect">
            <a:avLst>
              <a:gd name="adj" fmla="val 5517"/>
            </a:avLst>
          </a:prstGeom>
          <a:solidFill>
            <a:srgbClr val="F5F3EE"/>
          </a:solidFill>
          <a:ln w="12700">
            <a:solidFill>
              <a:srgbClr val="F5F3EE"/>
            </a:solidFill>
            <a:prstDash val="solid"/>
          </a:ln>
        </p:spPr>
        <p:txBody>
          <a:bodyPr/>
          <a:p/>
        </p:txBody>
      </p:sp>
      <p:sp>
        <p:nvSpPr>
          <p:cNvPr id="28" name="Shape 26"/>
          <p:cNvSpPr/>
          <p:nvPr/>
        </p:nvSpPr>
        <p:spPr>
          <a:xfrm>
            <a:off x="777240" y="4818888"/>
            <a:ext cx="566928" cy="566928"/>
          </a:xfrm>
          <a:prstGeom prst="ellipse">
            <a:avLst/>
          </a:prstGeom>
          <a:solidFill>
            <a:srgbClr val="1B365D"/>
          </a:solidFill>
          <a:ln w="12700">
            <a:solidFill>
              <a:srgbClr val="1B365D"/>
            </a:solidFill>
            <a:prstDash val="solid"/>
          </a:ln>
        </p:spPr>
        <p:txBody>
          <a:bodyPr/>
          <a:p/>
        </p:txBody>
      </p:sp>
      <p:pic>
        <p:nvPicPr>
          <p:cNvPr id="29" name="Image 0" descr="preencoded.png">    </p:cNvPr>
          <p:cNvPicPr>
            <a:picLocks noChangeAspect="1"/>
          </p:cNvPicPr>
          <p:nvPr/>
        </p:nvPicPr>
        <p:blipFill>
          <a:blip r:embed="rId1"/>
          <a:stretch>
            <a:fillRect/>
          </a:stretch>
        </p:blipFill>
        <p:spPr>
          <a:xfrm>
            <a:off x="905256" y="4946904"/>
            <a:ext cx="310896" cy="310896"/>
          </a:xfrm>
          <a:prstGeom prst="rect">
            <a:avLst/>
          </a:prstGeom>
        </p:spPr>
      </p:pic>
      <p:sp>
        <p:nvSpPr>
          <p:cNvPr id="30" name="Text 27"/>
          <p:cNvSpPr txBox="1"/>
          <p:nvPr/>
        </p:nvSpPr>
        <p:spPr>
          <a:xfrm>
            <a:off x="1508760" y="4782312"/>
            <a:ext cx="99212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Stage the big bets</a:t>
            </a:r>
            <a:endParaRPr lang="en-US" sz="1600" dirty="0"/>
          </a:p>
        </p:txBody>
      </p:sp>
      <p:sp>
        <p:nvSpPr>
          <p:cNvPr id="31" name="Text 28"/>
          <p:cNvSpPr txBox="1"/>
          <p:nvPr/>
        </p:nvSpPr>
        <p:spPr>
          <a:xfrm>
            <a:off x="777240" y="5486400"/>
            <a:ext cx="10607040" cy="3200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For a large or irreversible option, design the smallest first step that reveals which future is unfolding, and the gate that releases the next commitment.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Choose · Business Case</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Q-1</a:t>
            </a:r>
            <a:endParaRPr lang="en-US" sz="1100" dirty="0"/>
          </a:p>
        </p:txBody>
      </p:sp>
      <p:graphicFrame>
        <p:nvGraphicFramePr>
          <p:cNvPr id="5" name="Chart 0" descr=""/>
          <p:cNvGraphicFramePr/>
          <p:nvPr/>
        </p:nvGraphicFramePr>
        <p:xfrm>
          <a:off x="548640" y="14630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452360" y="1554480"/>
            <a:ext cx="4160520" cy="2651760"/>
          </a:xfrm>
          <a:prstGeom prst="rect">
            <a:avLst/>
          </a:prstGeom>
          <a:noFill/>
          <a:ln/>
        </p:spPr>
        <p:txBody>
          <a:bodyPr wrap="square" lIns="0" tIns="0" rIns="0" bIns="0" rtlCol="0" anchor="t"/>
          <a:lstStyle/>
          <a:p>
            <a:pPr indent="0" marL="0">
              <a:buNone/>
            </a:pPr>
            <a:r>
              <a:rPr lang="en-US" sz="4000" b="1" dirty="0">
                <a:solidFill>
                  <a:srgbClr val="1B365D"/>
                </a:solidFill>
                <a:latin typeface="Georgia" pitchFamily="34" charset="0"/>
                <a:ea typeface="Georgia" pitchFamily="34" charset="-122"/>
                <a:cs typeface="Georgia" pitchFamily="34" charset="-120"/>
              </a:rPr>
              <a:t>9.5%</a:t>
            </a:r>
            <a:endParaRPr lang="en-US" sz="4000" dirty="0"/>
          </a:p>
          <a:p>
            <a:pPr indent="0" marL="0">
              <a:buNone/>
            </a:pPr>
            <a:r>
              <a:rPr lang="en-US" sz="1400" dirty="0">
                <a:solidFill>
                  <a:srgbClr val="6B6B6B"/>
                </a:solidFill>
                <a:latin typeface="Arial" pitchFamily="34" charset="0"/>
                <a:ea typeface="Arial" pitchFamily="34" charset="-122"/>
                <a:cs typeface="Arial" pitchFamily="34" charset="-120"/>
              </a:rPr>
              <a:t>IRR, just under the 10% hurdle</a:t>
            </a:r>
            <a:endParaRPr lang="en-US" sz="4000" dirty="0"/>
          </a:p>
          <a:p>
            <a:pPr indent="0" marL="0">
              <a:buNone/>
            </a:pPr>
            <a:r>
              <a:rPr lang="en-US" sz="1000" dirty="0">
                <a:solidFill>
                  <a:srgbClr val="000000"/>
                </a:solidFill>
                <a:latin typeface="Arial" pitchFamily="34" charset="0"/>
                <a:ea typeface="Arial" pitchFamily="34" charset="-122"/>
                <a:cs typeface="Arial" pitchFamily="34" charset="-120"/>
              </a:rPr>
              <a:t> </a:t>
            </a:r>
            <a:endParaRPr lang="en-US" sz="4000" dirty="0"/>
          </a:p>
          <a:p>
            <a:pPr indent="0" marL="0">
              <a:buNone/>
            </a:pPr>
            <a:r>
              <a:rPr lang="en-US" sz="4000" b="1" dirty="0">
                <a:solidFill>
                  <a:srgbClr val="B5523B"/>
                </a:solidFill>
                <a:latin typeface="Georgia" pitchFamily="34" charset="0"/>
                <a:ea typeface="Georgia" pitchFamily="34" charset="-122"/>
                <a:cs typeface="Georgia" pitchFamily="34" charset="-120"/>
              </a:rPr>
              <a:t>+0.5%</a:t>
            </a:r>
            <a:endParaRPr lang="en-US" sz="4000" dirty="0"/>
          </a:p>
          <a:p>
            <a:pPr indent="0" marL="0">
              <a:buNone/>
            </a:pPr>
            <a:r>
              <a:rPr lang="en-US" sz="1400" dirty="0">
                <a:solidFill>
                  <a:srgbClr val="6B6B6B"/>
                </a:solidFill>
                <a:latin typeface="Arial" pitchFamily="34" charset="0"/>
                <a:ea typeface="Arial" pitchFamily="34" charset="-122"/>
                <a:cs typeface="Arial" pitchFamily="34" charset="-120"/>
              </a:rPr>
              <a:t>revenue above plan needed to break even</a:t>
            </a:r>
            <a:endParaRPr lang="en-US" sz="4000" dirty="0"/>
          </a:p>
        </p:txBody>
      </p:sp>
      <p:sp>
        <p:nvSpPr>
          <p:cNvPr id="7" name="card"/>
          <p:cNvSpPr/>
          <p:nvPr/>
        </p:nvSpPr>
        <p:spPr>
          <a:xfrm>
            <a:off x="7452360" y="4343400"/>
            <a:ext cx="4160520" cy="1463040"/>
          </a:xfrm>
          <a:prstGeom prst="roundRect">
            <a:avLst>
              <a:gd name="adj" fmla="val 5000"/>
            </a:avLst>
          </a:prstGeom>
          <a:solidFill>
            <a:srgbClr val="F5F3EE"/>
          </a:solidFill>
          <a:ln w="12700">
            <a:solidFill>
              <a:srgbClr val="F5F3EE"/>
            </a:solidFill>
            <a:prstDash val="solid"/>
          </a:ln>
        </p:spPr>
        <p:txBody>
          <a:bodyPr/>
          <a:p/>
        </p:txBody>
      </p:sp>
      <p:sp>
        <p:nvSpPr>
          <p:cNvPr id="8" name="Text 5"/>
          <p:cNvSpPr txBox="1"/>
          <p:nvPr/>
        </p:nvSpPr>
        <p:spPr>
          <a:xfrm>
            <a:off x="7680960" y="4507992"/>
            <a:ext cx="37490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State the break-even in words</a:t>
            </a:r>
            <a:endParaRPr lang="en-US" sz="1600" dirty="0"/>
          </a:p>
        </p:txBody>
      </p:sp>
      <p:sp>
        <p:nvSpPr>
          <p:cNvPr id="9" name="Text 6"/>
          <p:cNvSpPr txBox="1"/>
          <p:nvPr/>
        </p:nvSpPr>
        <p:spPr>
          <a:xfrm>
            <a:off x="7680960" y="5212080"/>
            <a:ext cx="3703320" cy="45720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"The case holds only if revenue beats plan." Then ask whether a terminal value or a staged start changes that.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Choose · Expected Value</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Q-2</a:t>
            </a:r>
            <a:endParaRPr lang="en-US" sz="1100" dirty="0"/>
          </a:p>
        </p:txBody>
      </p:sp>
      <p:graphicFrame>
        <p:nvGraphicFramePr>
          <p:cNvPr id="5" name="Chart 0" descr=""/>
          <p:cNvGraphicFramePr/>
          <p:nvPr/>
        </p:nvGraphicFramePr>
        <p:xfrm>
          <a:off x="548640" y="14630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452360" y="1463040"/>
            <a:ext cx="4160520" cy="1325880"/>
          </a:xfrm>
          <a:prstGeom prst="roundRect">
            <a:avLst>
              <a:gd name="adj" fmla="val 5517"/>
            </a:avLst>
          </a:prstGeom>
          <a:solidFill>
            <a:srgbClr val="F5F3EE"/>
          </a:solidFill>
          <a:ln w="12700">
            <a:solidFill>
              <a:srgbClr val="F5F3EE"/>
            </a:solidFill>
            <a:prstDash val="solid"/>
          </a:ln>
        </p:spPr>
        <p:txBody>
          <a:bodyPr/>
          <a:p/>
        </p:txBody>
      </p:sp>
      <p:sp>
        <p:nvSpPr>
          <p:cNvPr id="7" name="Text 4"/>
          <p:cNvSpPr txBox="1"/>
          <p:nvPr/>
        </p:nvSpPr>
        <p:spPr>
          <a:xfrm>
            <a:off x="7680960" y="1627632"/>
            <a:ext cx="3749040" cy="64008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A wins on average</a:t>
            </a:r>
            <a:endParaRPr lang="en-US" sz="1500" dirty="0"/>
          </a:p>
        </p:txBody>
      </p:sp>
      <p:sp>
        <p:nvSpPr>
          <p:cNvPr id="8" name="Text 5"/>
          <p:cNvSpPr txBox="1"/>
          <p:nvPr/>
        </p:nvSpPr>
        <p:spPr>
          <a:xfrm>
            <a:off x="7680960" y="2331720"/>
            <a:ext cx="3703320" cy="3200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4.4 vs 4.0, but A can lose $6M; B never loses (maximin).</a:t>
            </a:r>
            <a:endParaRPr lang="en-US" sz="1300" dirty="0"/>
          </a:p>
        </p:txBody>
      </p:sp>
      <p:sp>
        <p:nvSpPr>
          <p:cNvPr id="9" name="card"/>
          <p:cNvSpPr/>
          <p:nvPr/>
        </p:nvSpPr>
        <p:spPr>
          <a:xfrm>
            <a:off x="7452360" y="2926080"/>
            <a:ext cx="4160520" cy="1325880"/>
          </a:xfrm>
          <a:prstGeom prst="roundRect">
            <a:avLst>
              <a:gd name="adj" fmla="val 5517"/>
            </a:avLst>
          </a:prstGeom>
          <a:solidFill>
            <a:srgbClr val="F5F3EE"/>
          </a:solidFill>
          <a:ln w="12700">
            <a:solidFill>
              <a:srgbClr val="F5F3EE"/>
            </a:solidFill>
            <a:prstDash val="solid"/>
          </a:ln>
        </p:spPr>
        <p:txBody>
          <a:bodyPr/>
          <a:p/>
        </p:txBody>
      </p:sp>
      <p:sp>
        <p:nvSpPr>
          <p:cNvPr id="10" name="Text 7"/>
          <p:cNvSpPr txBox="1"/>
          <p:nvPr/>
        </p:nvSpPr>
        <p:spPr>
          <a:xfrm>
            <a:off x="7680960" y="3090672"/>
            <a:ext cx="3749040" cy="64008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The answer is fragile</a:t>
            </a:r>
            <a:endParaRPr lang="en-US" sz="1500" dirty="0"/>
          </a:p>
        </p:txBody>
      </p:sp>
      <p:sp>
        <p:nvSpPr>
          <p:cNvPr id="11" name="Text 8"/>
          <p:cNvSpPr txBox="1"/>
          <p:nvPr/>
        </p:nvSpPr>
        <p:spPr>
          <a:xfrm>
            <a:off x="7680960" y="3794760"/>
            <a:ext cx="3703320" cy="3200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B wins once weak demand passes 25.7% (now 20%).</a:t>
            </a:r>
            <a:endParaRPr lang="en-US" sz="1300" dirty="0"/>
          </a:p>
        </p:txBody>
      </p:sp>
      <p:sp>
        <p:nvSpPr>
          <p:cNvPr id="12" name="card"/>
          <p:cNvSpPr/>
          <p:nvPr/>
        </p:nvSpPr>
        <p:spPr>
          <a:xfrm>
            <a:off x="7452360" y="4389120"/>
            <a:ext cx="4160520" cy="1325880"/>
          </a:xfrm>
          <a:prstGeom prst="roundRect">
            <a:avLst>
              <a:gd name="adj" fmla="val 5517"/>
            </a:avLst>
          </a:prstGeom>
          <a:solidFill>
            <a:srgbClr val="F5F3EE"/>
          </a:solidFill>
          <a:ln w="12700">
            <a:solidFill>
              <a:srgbClr val="F5F3EE"/>
            </a:solidFill>
            <a:prstDash val="solid"/>
          </a:ln>
        </p:spPr>
        <p:txBody>
          <a:bodyPr/>
          <a:p/>
        </p:txBody>
      </p:sp>
      <p:sp>
        <p:nvSpPr>
          <p:cNvPr id="13" name="Text 10"/>
          <p:cNvSpPr txBox="1"/>
          <p:nvPr/>
        </p:nvSpPr>
        <p:spPr>
          <a:xfrm>
            <a:off x="7680960" y="4553712"/>
            <a:ext cx="3749040" cy="64008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Information is worth $1.4M</a:t>
            </a:r>
            <a:endParaRPr lang="en-US" sz="1500" dirty="0"/>
          </a:p>
        </p:txBody>
      </p:sp>
      <p:sp>
        <p:nvSpPr>
          <p:cNvPr id="14" name="Text 11"/>
          <p:cNvSpPr txBox="1"/>
          <p:nvPr/>
        </p:nvSpPr>
        <p:spPr>
          <a:xfrm>
            <a:off x="7680960" y="5257800"/>
            <a:ext cx="3703320" cy="3200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EVPI: the most worth paying for a pilot that reveals demand first.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When price or a deal is the lever</a:t>
            </a:r>
            <a:endParaRPr lang="en-US" sz="2800" dirty="0"/>
          </a:p>
        </p:txBody>
      </p:sp>
      <p:sp>
        <p:nvSpPr>
          <p:cNvPr id="3" name="card"/>
          <p:cNvSpPr/>
          <p:nvPr/>
        </p:nvSpPr>
        <p:spPr>
          <a:xfrm>
            <a:off x="548640" y="1463040"/>
            <a:ext cx="3520440" cy="3931920"/>
          </a:xfrm>
          <a:prstGeom prst="roundRect">
            <a:avLst>
              <a:gd name="adj" fmla="val 2078"/>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Pricing</a:t>
            </a:r>
            <a:endParaRPr lang="en-US" sz="1600" dirty="0"/>
          </a:p>
        </p:txBody>
      </p:sp>
      <p:sp>
        <p:nvSpPr>
          <p:cNvPr id="7" name="Text 4"/>
          <p:cNvSpPr txBox="1"/>
          <p:nvPr/>
        </p:nvSpPr>
        <p:spPr>
          <a:xfrm>
            <a:off x="777240" y="2331720"/>
            <a:ext cx="3063240" cy="2926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Price map vs competitors and the generic strategy</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Van Westendorp acceptable range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Revenue-max vs contribution-max price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Will rivals match?</a:t>
            </a:r>
            <a:endParaRPr lang="en-US" sz="1400" dirty="0"/>
          </a:p>
        </p:txBody>
      </p:sp>
      <p:sp>
        <p:nvSpPr>
          <p:cNvPr id="8" name="card"/>
          <p:cNvSpPr/>
          <p:nvPr/>
        </p:nvSpPr>
        <p:spPr>
          <a:xfrm>
            <a:off x="4297680" y="1463040"/>
            <a:ext cx="3520440" cy="3931920"/>
          </a:xfrm>
          <a:prstGeom prst="roundRect">
            <a:avLst>
              <a:gd name="adj" fmla="val 2078"/>
            </a:avLst>
          </a:prstGeom>
          <a:solidFill>
            <a:srgbClr val="F5F3EE"/>
          </a:solidFill>
          <a:ln w="12700">
            <a:solidFill>
              <a:srgbClr val="F5F3EE"/>
            </a:solidFill>
            <a:prstDash val="solid"/>
          </a:ln>
        </p:spPr>
        <p:txBody>
          <a:bodyPr/>
          <a:p/>
        </p:txBody>
      </p:sp>
      <p:sp>
        <p:nvSpPr>
          <p:cNvPr id="9" name="Shape 6"/>
          <p:cNvSpPr/>
          <p:nvPr/>
        </p:nvSpPr>
        <p:spPr>
          <a:xfrm>
            <a:off x="4526280" y="1664208"/>
            <a:ext cx="566928" cy="566928"/>
          </a:xfrm>
          <a:prstGeom prst="ellipse">
            <a:avLst/>
          </a:prstGeom>
          <a:solidFill>
            <a:srgbClr val="1B365D"/>
          </a:solidFill>
          <a:ln w="12700">
            <a:solidFill>
              <a:srgbClr val="1B365D"/>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654296" y="1792224"/>
            <a:ext cx="310896" cy="310896"/>
          </a:xfrm>
          <a:prstGeom prst="rect">
            <a:avLst/>
          </a:prstGeom>
        </p:spPr>
      </p:pic>
      <p:sp>
        <p:nvSpPr>
          <p:cNvPr id="11" name="Text 7"/>
          <p:cNvSpPr txBox="1"/>
          <p:nvPr/>
        </p:nvSpPr>
        <p:spPr>
          <a:xfrm>
            <a:off x="525780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Synergy Case</a:t>
            </a:r>
            <a:endParaRPr lang="en-US" sz="1600" dirty="0"/>
          </a:p>
        </p:txBody>
      </p:sp>
      <p:sp>
        <p:nvSpPr>
          <p:cNvPr id="12" name="Text 8"/>
          <p:cNvSpPr txBox="1"/>
          <p:nvPr/>
        </p:nvSpPr>
        <p:spPr>
          <a:xfrm>
            <a:off x="4526280" y="2331720"/>
            <a:ext cx="3063240" cy="2926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Cost and revenue synergies, bottom-up</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Revenue synergies haircut 30-40%+</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Integration costs netted out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Do synergies cover the premium?</a:t>
            </a:r>
            <a:endParaRPr lang="en-US" sz="1400" dirty="0"/>
          </a:p>
        </p:txBody>
      </p:sp>
      <p:sp>
        <p:nvSpPr>
          <p:cNvPr id="13" name="card"/>
          <p:cNvSpPr/>
          <p:nvPr/>
        </p:nvSpPr>
        <p:spPr>
          <a:xfrm>
            <a:off x="8046720" y="1463040"/>
            <a:ext cx="3520440" cy="3931920"/>
          </a:xfrm>
          <a:prstGeom prst="roundRect">
            <a:avLst>
              <a:gd name="adj" fmla="val 2078"/>
            </a:avLst>
          </a:prstGeom>
          <a:solidFill>
            <a:srgbClr val="F5F3EE"/>
          </a:solidFill>
          <a:ln w="12700">
            <a:solidFill>
              <a:srgbClr val="F5F3EE"/>
            </a:solidFill>
            <a:prstDash val="solid"/>
          </a:ln>
        </p:spPr>
        <p:txBody>
          <a:bodyPr/>
          <a:p/>
        </p:txBody>
      </p:sp>
      <p:sp>
        <p:nvSpPr>
          <p:cNvPr id="14" name="Shape 10"/>
          <p:cNvSpPr/>
          <p:nvPr/>
        </p:nvSpPr>
        <p:spPr>
          <a:xfrm>
            <a:off x="8275320" y="1664208"/>
            <a:ext cx="566928" cy="566928"/>
          </a:xfrm>
          <a:prstGeom prst="ellipse">
            <a:avLst/>
          </a:prstGeom>
          <a:solidFill>
            <a:srgbClr val="1B365D"/>
          </a:solidFill>
          <a:ln w="12700">
            <a:solidFill>
              <a:srgbClr val="1B365D"/>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403336" y="1792224"/>
            <a:ext cx="310896" cy="310896"/>
          </a:xfrm>
          <a:prstGeom prst="rect">
            <a:avLst/>
          </a:prstGeom>
        </p:spPr>
      </p:pic>
      <p:sp>
        <p:nvSpPr>
          <p:cNvPr id="16" name="Text 11"/>
          <p:cNvSpPr txBox="1"/>
          <p:nvPr/>
        </p:nvSpPr>
        <p:spPr>
          <a:xfrm>
            <a:off x="9006840" y="162763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Negotiation Prep</a:t>
            </a:r>
            <a:endParaRPr lang="en-US" sz="1600" dirty="0"/>
          </a:p>
        </p:txBody>
      </p:sp>
      <p:sp>
        <p:nvSpPr>
          <p:cNvPr id="17" name="Text 12"/>
          <p:cNvSpPr txBox="1"/>
          <p:nvPr/>
        </p:nvSpPr>
        <p:spPr>
          <a:xfrm>
            <a:off x="8275320" y="2331720"/>
            <a:ext cx="3063240" cy="2926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A concrete, priced BATNA for each side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Walk-away from the BATNA, not from hope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ZOPA and an anchor inside it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No ZOPA: restructure or walk</a:t>
            </a:r>
            <a:endParaRPr lang="en-US" sz="1400" dirty="0"/>
          </a:p>
        </p:txBody>
      </p:sp>
      <p:sp>
        <p:nvSpPr>
          <p:cNvPr id="18" name="Text 13"/>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1500" i="1" dirty="0">
                <a:solidFill>
                  <a:schemeClr val="tx1"/>
                </a:solidFill>
                <a:latin typeface="Georgia" pitchFamily="34" charset="0"/>
                <a:ea typeface="Georgia" pitchFamily="34" charset="-122"/>
                <a:cs typeface="Georgia" pitchFamily="34" charset="-120"/>
              </a:rPr>
              <a:t>These run only when an option needs them, and Strat-IQ says when it skips one.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Test · Attack the leader before anyone plans</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R</a:t>
            </a:r>
            <a:endParaRPr lang="en-US" sz="1100" dirty="0"/>
          </a:p>
        </p:txBody>
      </p:sp>
      <p:sp>
        <p:nvSpPr>
          <p:cNvPr id="5" name="card"/>
          <p:cNvSpPr/>
          <p:nvPr/>
        </p:nvSpPr>
        <p:spPr>
          <a:xfrm>
            <a:off x="548640" y="1463040"/>
            <a:ext cx="5440680" cy="2103120"/>
          </a:xfrm>
          <a:prstGeom prst="roundRect">
            <a:avLst>
              <a:gd name="adj" fmla="val 3478"/>
            </a:avLst>
          </a:prstGeom>
          <a:solidFill>
            <a:srgbClr val="F5F3EE"/>
          </a:solidFill>
          <a:ln w="12700">
            <a:solidFill>
              <a:srgbClr val="F5F3EE"/>
            </a:solidFill>
            <a:prstDash val="solid"/>
          </a:ln>
        </p:spPr>
        <p:txBody>
          <a:bodyPr/>
          <a:p/>
        </p:txBody>
      </p:sp>
      <p:sp>
        <p:nvSpPr>
          <p:cNvPr id="6" name="Shape 4"/>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8" name="Text 5"/>
          <p:cNvSpPr txBox="1"/>
          <p:nvPr/>
        </p:nvSpPr>
        <p:spPr>
          <a:xfrm>
            <a:off x="150876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Assumption audit</a:t>
            </a:r>
            <a:endParaRPr lang="en-US" sz="1600" dirty="0"/>
          </a:p>
        </p:txBody>
      </p:sp>
      <p:sp>
        <p:nvSpPr>
          <p:cNvPr id="9" name="Text 6"/>
          <p:cNvSpPr txBox="1"/>
          <p:nvPr/>
        </p:nvSpPr>
        <p:spPr>
          <a:xfrm>
            <a:off x="777240" y="2331720"/>
            <a:ext cx="4983480" cy="10972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Load-bearing assumptions graded proven, analogous or belief; the cheapest test and an early-warning trigger for each danger-zone one</a:t>
            </a:r>
            <a:endParaRPr lang="en-US" sz="1400" dirty="0"/>
          </a:p>
        </p:txBody>
      </p:sp>
      <p:sp>
        <p:nvSpPr>
          <p:cNvPr id="10" name="card"/>
          <p:cNvSpPr/>
          <p:nvPr/>
        </p:nvSpPr>
        <p:spPr>
          <a:xfrm>
            <a:off x="6172200" y="1463040"/>
            <a:ext cx="5440680" cy="2103120"/>
          </a:xfrm>
          <a:prstGeom prst="roundRect">
            <a:avLst>
              <a:gd name="adj" fmla="val 3478"/>
            </a:avLst>
          </a:prstGeom>
          <a:solidFill>
            <a:srgbClr val="F5F3EE"/>
          </a:solidFill>
          <a:ln w="12700">
            <a:solidFill>
              <a:srgbClr val="F5F3EE"/>
            </a:solidFill>
            <a:prstDash val="solid"/>
          </a:ln>
        </p:spPr>
        <p:txBody>
          <a:bodyPr/>
          <a:p/>
        </p:txBody>
      </p:sp>
      <p:sp>
        <p:nvSpPr>
          <p:cNvPr id="11" name="Shape 8"/>
          <p:cNvSpPr/>
          <p:nvPr/>
        </p:nvSpPr>
        <p:spPr>
          <a:xfrm>
            <a:off x="6400800" y="1664208"/>
            <a:ext cx="566928" cy="566928"/>
          </a:xfrm>
          <a:prstGeom prst="ellipse">
            <a:avLst/>
          </a:prstGeom>
          <a:solidFill>
            <a:srgbClr val="1B365D"/>
          </a:solidFill>
          <a:ln w="12700">
            <a:solidFill>
              <a:srgbClr val="1B365D"/>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6528816" y="1792224"/>
            <a:ext cx="310896" cy="310896"/>
          </a:xfrm>
          <a:prstGeom prst="rect">
            <a:avLst/>
          </a:prstGeom>
        </p:spPr>
      </p:pic>
      <p:sp>
        <p:nvSpPr>
          <p:cNvPr id="13" name="Text 9"/>
          <p:cNvSpPr txBox="1"/>
          <p:nvPr/>
        </p:nvSpPr>
        <p:spPr>
          <a:xfrm>
            <a:off x="713232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Competitor war-game</a:t>
            </a:r>
            <a:endParaRPr lang="en-US" sz="1600" dirty="0"/>
          </a:p>
        </p:txBody>
      </p:sp>
      <p:sp>
        <p:nvSpPr>
          <p:cNvPr id="14" name="Text 10"/>
          <p:cNvSpPr txBox="1"/>
          <p:nvPr/>
        </p:nvSpPr>
        <p:spPr>
          <a:xfrm>
            <a:off x="6400800" y="2331720"/>
            <a:ext cx="4983480" cy="10972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Each rival's capability, incentive and likely response, grounded in Part 1 evidence; does the option still beat do nothing?</a:t>
            </a:r>
            <a:endParaRPr lang="en-US" sz="1400" dirty="0"/>
          </a:p>
        </p:txBody>
      </p:sp>
      <p:sp>
        <p:nvSpPr>
          <p:cNvPr id="15" name="card"/>
          <p:cNvSpPr/>
          <p:nvPr/>
        </p:nvSpPr>
        <p:spPr>
          <a:xfrm>
            <a:off x="548640" y="3749040"/>
            <a:ext cx="5440680" cy="2103120"/>
          </a:xfrm>
          <a:prstGeom prst="roundRect">
            <a:avLst>
              <a:gd name="adj" fmla="val 3478"/>
            </a:avLst>
          </a:prstGeom>
          <a:solidFill>
            <a:srgbClr val="F5F3EE"/>
          </a:solidFill>
          <a:ln w="12700">
            <a:solidFill>
              <a:srgbClr val="F5F3EE"/>
            </a:solidFill>
            <a:prstDash val="solid"/>
          </a:ln>
        </p:spPr>
        <p:txBody>
          <a:bodyPr/>
          <a:p/>
        </p:txBody>
      </p:sp>
      <p:sp>
        <p:nvSpPr>
          <p:cNvPr id="16" name="Shape 12"/>
          <p:cNvSpPr/>
          <p:nvPr/>
        </p:nvSpPr>
        <p:spPr>
          <a:xfrm>
            <a:off x="777240" y="3950208"/>
            <a:ext cx="566928" cy="566928"/>
          </a:xfrm>
          <a:prstGeom prst="ellipse">
            <a:avLst/>
          </a:prstGeom>
          <a:solidFill>
            <a:srgbClr val="1B365D"/>
          </a:solidFill>
          <a:ln w="12700">
            <a:solidFill>
              <a:srgbClr val="1B365D"/>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905256" y="4078224"/>
            <a:ext cx="310896" cy="310896"/>
          </a:xfrm>
          <a:prstGeom prst="rect">
            <a:avLst/>
          </a:prstGeom>
        </p:spPr>
      </p:pic>
      <p:sp>
        <p:nvSpPr>
          <p:cNvPr id="18" name="Text 13"/>
          <p:cNvSpPr txBox="1"/>
          <p:nvPr/>
        </p:nvSpPr>
        <p:spPr>
          <a:xfrm>
            <a:off x="1508760" y="3913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Risk register</a:t>
            </a:r>
            <a:endParaRPr lang="en-US" sz="1600" dirty="0"/>
          </a:p>
        </p:txBody>
      </p:sp>
      <p:sp>
        <p:nvSpPr>
          <p:cNvPr id="19" name="Text 14"/>
          <p:cNvSpPr txBox="1"/>
          <p:nvPr/>
        </p:nvSpPr>
        <p:spPr>
          <a:xfrm>
            <a:off x="777240" y="4617720"/>
            <a:ext cx="4983480" cy="10972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Likelihood × impact, raised for velocity; every high risk gets an owner and a real mitigation ("monitor" doesn't count)</a:t>
            </a:r>
            <a:endParaRPr lang="en-US" sz="1400" dirty="0"/>
          </a:p>
        </p:txBody>
      </p:sp>
      <p:sp>
        <p:nvSpPr>
          <p:cNvPr id="20" name="card"/>
          <p:cNvSpPr/>
          <p:nvPr/>
        </p:nvSpPr>
        <p:spPr>
          <a:xfrm>
            <a:off x="6172200" y="3749040"/>
            <a:ext cx="5440680" cy="2103120"/>
          </a:xfrm>
          <a:prstGeom prst="roundRect">
            <a:avLst>
              <a:gd name="adj" fmla="val 3478"/>
            </a:avLst>
          </a:prstGeom>
          <a:solidFill>
            <a:srgbClr val="F5F3EE"/>
          </a:solidFill>
          <a:ln w="12700">
            <a:solidFill>
              <a:srgbClr val="F5F3EE"/>
            </a:solidFill>
            <a:prstDash val="solid"/>
          </a:ln>
        </p:spPr>
        <p:txBody>
          <a:bodyPr/>
          <a:p/>
        </p:txBody>
      </p:sp>
      <p:sp>
        <p:nvSpPr>
          <p:cNvPr id="21" name="Shape 16"/>
          <p:cNvSpPr/>
          <p:nvPr/>
        </p:nvSpPr>
        <p:spPr>
          <a:xfrm>
            <a:off x="6400800" y="3950208"/>
            <a:ext cx="566928" cy="566928"/>
          </a:xfrm>
          <a:prstGeom prst="ellipse">
            <a:avLst/>
          </a:prstGeom>
          <a:solidFill>
            <a:srgbClr val="1B365D"/>
          </a:solidFill>
          <a:ln w="12700">
            <a:solidFill>
              <a:srgbClr val="1B365D"/>
            </a:solidFill>
            <a:prstDash val="solid"/>
          </a:ln>
        </p:spPr>
        <p:txBody>
          <a:bodyPr/>
          <a:p/>
        </p:txBody>
      </p:sp>
      <p:pic>
        <p:nvPicPr>
          <p:cNvPr id="22" name="Image 3" descr="preencoded.png">    </p:cNvPr>
          <p:cNvPicPr>
            <a:picLocks noChangeAspect="1"/>
          </p:cNvPicPr>
          <p:nvPr/>
        </p:nvPicPr>
        <p:blipFill>
          <a:blip r:embed="rId4"/>
          <a:stretch>
            <a:fillRect/>
          </a:stretch>
        </p:blipFill>
        <p:spPr>
          <a:xfrm>
            <a:off x="6528816" y="4078224"/>
            <a:ext cx="310896" cy="310896"/>
          </a:xfrm>
          <a:prstGeom prst="rect">
            <a:avLst/>
          </a:prstGeom>
        </p:spPr>
      </p:pic>
      <p:sp>
        <p:nvSpPr>
          <p:cNvPr id="23" name="Text 17"/>
          <p:cNvSpPr txBox="1"/>
          <p:nvPr/>
        </p:nvSpPr>
        <p:spPr>
          <a:xfrm>
            <a:off x="7132320" y="3913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Hostile Q&amp;A drill</a:t>
            </a:r>
            <a:endParaRPr lang="en-US" sz="1600" dirty="0"/>
          </a:p>
        </p:txBody>
      </p:sp>
      <p:sp>
        <p:nvSpPr>
          <p:cNvPr id="24" name="Text 18"/>
          <p:cNvSpPr txBox="1"/>
          <p:nvPr/>
        </p:nvSpPr>
        <p:spPr>
          <a:xfrm>
            <a:off x="6400800" y="4617720"/>
            <a:ext cx="4983480" cy="10972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Ten hard questions, one at a time; each answer scored, with the evidence you missed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Plan · Go-to-market: how you win customers</a:t>
            </a:r>
            <a:endParaRPr lang="en-US" sz="2800" dirty="0"/>
          </a:p>
        </p:txBody>
      </p:sp>
      <p:sp>
        <p:nvSpPr>
          <p:cNvPr id="3" name="Shape 1"/>
          <p:cNvSpPr/>
          <p:nvPr/>
        </p:nvSpPr>
        <p:spPr>
          <a:xfrm>
            <a:off x="9875520" y="612648"/>
            <a:ext cx="173736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9875520" y="612648"/>
            <a:ext cx="173736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New · Exhibit T</a:t>
            </a:r>
            <a:endParaRPr lang="en-US" sz="1100" dirty="0"/>
          </a:p>
        </p:txBody>
      </p:sp>
      <p:sp>
        <p:nvSpPr>
          <p:cNvPr id="5" name="Shape 3"/>
          <p:cNvSpPr/>
          <p:nvPr/>
        </p:nvSpPr>
        <p:spPr>
          <a:xfrm>
            <a:off x="548640" y="1463040"/>
            <a:ext cx="1463040" cy="777240"/>
          </a:xfrm>
          <a:prstGeom prst="roundRect">
            <a:avLst>
              <a:gd name="adj" fmla="val 9412"/>
            </a:avLst>
          </a:prstGeom>
          <a:solidFill>
            <a:srgbClr val="C4A35A"/>
          </a:solidFill>
          <a:ln w="12700">
            <a:solidFill>
              <a:srgbClr val="C4A35A"/>
            </a:solidFill>
            <a:prstDash val="solid"/>
          </a:ln>
        </p:spPr>
        <p:txBody>
          <a:bodyPr/>
          <a:p/>
        </p:txBody>
      </p:sp>
      <p:sp>
        <p:nvSpPr>
          <p:cNvPr id="6" name="Text 4"/>
          <p:cNvSpPr txBox="1"/>
          <p:nvPr/>
        </p:nvSpPr>
        <p:spPr>
          <a:xfrm>
            <a:off x="548640" y="1463040"/>
            <a:ext cx="1463040" cy="777240"/>
          </a:xfrm>
          <a:prstGeom prst="rect">
            <a:avLst/>
          </a:prstGeom>
          <a:noFill/>
          <a:ln/>
        </p:spPr>
        <p:txBody>
          <a:bodyPr wrap="square" lIns="0" tIns="0" rIns="0" bIns="0"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Beachhead</a:t>
            </a:r>
            <a:endParaRPr lang="en-US" sz="1300" dirty="0"/>
          </a:p>
        </p:txBody>
      </p:sp>
      <p:sp>
        <p:nvSpPr>
          <p:cNvPr id="7" name="Shape 5"/>
          <p:cNvSpPr/>
          <p:nvPr/>
        </p:nvSpPr>
        <p:spPr>
          <a:xfrm>
            <a:off x="21488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8" name="Text 6"/>
          <p:cNvSpPr txBox="1"/>
          <p:nvPr/>
        </p:nvSpPr>
        <p:spPr>
          <a:xfrm>
            <a:off x="21488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Ideal customer</a:t>
            </a:r>
            <a:endParaRPr lang="en-US" sz="1300" dirty="0"/>
          </a:p>
        </p:txBody>
      </p:sp>
      <p:sp>
        <p:nvSpPr>
          <p:cNvPr id="9" name="Shape 7"/>
          <p:cNvSpPr/>
          <p:nvPr/>
        </p:nvSpPr>
        <p:spPr>
          <a:xfrm>
            <a:off x="37490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10" name="Text 8"/>
          <p:cNvSpPr txBox="1"/>
          <p:nvPr/>
        </p:nvSpPr>
        <p:spPr>
          <a:xfrm>
            <a:off x="37490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Value proposition</a:t>
            </a:r>
            <a:endParaRPr lang="en-US" sz="1300" dirty="0"/>
          </a:p>
        </p:txBody>
      </p:sp>
      <p:sp>
        <p:nvSpPr>
          <p:cNvPr id="11" name="Shape 9"/>
          <p:cNvSpPr/>
          <p:nvPr/>
        </p:nvSpPr>
        <p:spPr>
          <a:xfrm>
            <a:off x="53492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12" name="Text 10"/>
          <p:cNvSpPr txBox="1"/>
          <p:nvPr/>
        </p:nvSpPr>
        <p:spPr>
          <a:xfrm>
            <a:off x="53492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Price and package</a:t>
            </a:r>
            <a:endParaRPr lang="en-US" sz="1300" dirty="0"/>
          </a:p>
        </p:txBody>
      </p:sp>
      <p:sp>
        <p:nvSpPr>
          <p:cNvPr id="13" name="Shape 11"/>
          <p:cNvSpPr/>
          <p:nvPr/>
        </p:nvSpPr>
        <p:spPr>
          <a:xfrm>
            <a:off x="69494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14" name="Text 12"/>
          <p:cNvSpPr txBox="1"/>
          <p:nvPr/>
        </p:nvSpPr>
        <p:spPr>
          <a:xfrm>
            <a:off x="69494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Channels</a:t>
            </a:r>
            <a:endParaRPr lang="en-US" sz="1300" dirty="0"/>
          </a:p>
        </p:txBody>
      </p:sp>
      <p:sp>
        <p:nvSpPr>
          <p:cNvPr id="15" name="Shape 13"/>
          <p:cNvSpPr/>
          <p:nvPr/>
        </p:nvSpPr>
        <p:spPr>
          <a:xfrm>
            <a:off x="8549640" y="1463040"/>
            <a:ext cx="1463040" cy="777240"/>
          </a:xfrm>
          <a:prstGeom prst="roundRect">
            <a:avLst>
              <a:gd name="adj" fmla="val 9412"/>
            </a:avLst>
          </a:prstGeom>
          <a:solidFill>
            <a:srgbClr val="C4A35A"/>
          </a:solidFill>
          <a:ln w="12700">
            <a:solidFill>
              <a:srgbClr val="C4A35A"/>
            </a:solidFill>
            <a:prstDash val="solid"/>
          </a:ln>
        </p:spPr>
        <p:txBody>
          <a:bodyPr/>
          <a:p/>
        </p:txBody>
      </p:sp>
      <p:sp>
        <p:nvSpPr>
          <p:cNvPr id="16" name="Text 14"/>
          <p:cNvSpPr txBox="1"/>
          <p:nvPr/>
        </p:nvSpPr>
        <p:spPr>
          <a:xfrm>
            <a:off x="8549640" y="1463040"/>
            <a:ext cx="1463040" cy="777240"/>
          </a:xfrm>
          <a:prstGeom prst="rect">
            <a:avLst/>
          </a:prstGeom>
          <a:noFill/>
          <a:ln/>
        </p:spPr>
        <p:txBody>
          <a:bodyPr wrap="square" lIns="0" tIns="0" rIns="0" bIns="0" rtlCol="0" anchor="ctr"/>
          <a:lstStyle/>
          <a:p>
            <a:pPr algn="ctr" indent="0" marL="0">
              <a:buNone/>
            </a:pPr>
            <a:r>
              <a:rPr lang="en-US" sz="1300" b="1" dirty="0">
                <a:solidFill>
                  <a:srgbClr val="1B365D"/>
                </a:solidFill>
                <a:latin typeface="Arial" pitchFamily="34" charset="0"/>
                <a:ea typeface="Arial" pitchFamily="34" charset="-122"/>
                <a:cs typeface="Arial" pitchFamily="34" charset="-120"/>
              </a:rPr>
              <a:t>Funnel and CAC</a:t>
            </a:r>
            <a:endParaRPr lang="en-US" sz="1300" dirty="0"/>
          </a:p>
        </p:txBody>
      </p:sp>
      <p:sp>
        <p:nvSpPr>
          <p:cNvPr id="17" name="Shape 15"/>
          <p:cNvSpPr/>
          <p:nvPr/>
        </p:nvSpPr>
        <p:spPr>
          <a:xfrm>
            <a:off x="10149840" y="1463040"/>
            <a:ext cx="1463040" cy="777240"/>
          </a:xfrm>
          <a:prstGeom prst="roundRect">
            <a:avLst>
              <a:gd name="adj" fmla="val 9412"/>
            </a:avLst>
          </a:prstGeom>
          <a:solidFill>
            <a:srgbClr val="1B365D"/>
          </a:solidFill>
          <a:ln w="12700">
            <a:solidFill>
              <a:srgbClr val="1B365D"/>
            </a:solidFill>
            <a:prstDash val="solid"/>
          </a:ln>
        </p:spPr>
        <p:txBody>
          <a:bodyPr/>
          <a:p/>
        </p:txBody>
      </p:sp>
      <p:sp>
        <p:nvSpPr>
          <p:cNvPr id="18" name="Text 16"/>
          <p:cNvSpPr txBox="1"/>
          <p:nvPr/>
        </p:nvSpPr>
        <p:spPr>
          <a:xfrm>
            <a:off x="10149840" y="1463040"/>
            <a:ext cx="14630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Launch phases</a:t>
            </a:r>
            <a:endParaRPr lang="en-US" sz="1300" dirty="0"/>
          </a:p>
        </p:txBody>
      </p:sp>
      <p:graphicFrame>
        <p:nvGraphicFramePr>
          <p:cNvPr id="19" name="Chart 0" descr=""/>
          <p:cNvGraphicFramePr/>
          <p:nvPr/>
        </p:nvGraphicFramePr>
        <p:xfrm>
          <a:off x="548640" y="2514600"/>
          <a:ext cx="6309360" cy="333756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7178040" y="2560320"/>
            <a:ext cx="4434840" cy="1280160"/>
          </a:xfrm>
          <a:prstGeom prst="rect">
            <a:avLst/>
          </a:prstGeom>
          <a:noFill/>
          <a:ln/>
        </p:spPr>
        <p:txBody>
          <a:bodyPr wrap="square" lIns="0" tIns="0" rIns="0" bIns="0" rtlCol="0" anchor="t"/>
          <a:lstStyle/>
          <a:p>
            <a:pPr indent="0" marL="0">
              <a:buNone/>
            </a:pPr>
            <a:r>
              <a:rPr lang="en-US" sz="4000" b="1" dirty="0">
                <a:solidFill>
                  <a:srgbClr val="1B365D"/>
                </a:solidFill>
                <a:latin typeface="Georgia" pitchFamily="34" charset="0"/>
                <a:ea typeface="Georgia" pitchFamily="34" charset="-122"/>
                <a:cs typeface="Georgia" pitchFamily="34" charset="-120"/>
              </a:rPr>
              <a:t>12%</a:t>
            </a:r>
            <a:endParaRPr lang="en-US" sz="4000" dirty="0"/>
          </a:p>
          <a:p>
            <a:pPr indent="0" marL="0">
              <a:buNone/>
            </a:pPr>
            <a:r>
              <a:rPr lang="en-US" sz="1400" dirty="0">
                <a:solidFill>
                  <a:srgbClr val="6B6B6B"/>
                </a:solidFill>
                <a:latin typeface="Arial" pitchFamily="34" charset="0"/>
                <a:ea typeface="Arial" pitchFamily="34" charset="-122"/>
                <a:cs typeface="Arial" pitchFamily="34" charset="-120"/>
              </a:rPr>
              <a:t>of contribution per car spent to win each customer</a:t>
            </a:r>
            <a:endParaRPr lang="en-US" sz="4000" dirty="0"/>
          </a:p>
        </p:txBody>
      </p:sp>
      <p:sp>
        <p:nvSpPr>
          <p:cNvPr id="21" name="card"/>
          <p:cNvSpPr/>
          <p:nvPr/>
        </p:nvSpPr>
        <p:spPr>
          <a:xfrm>
            <a:off x="7178040" y="3977640"/>
            <a:ext cx="4434840" cy="1874520"/>
          </a:xfrm>
          <a:prstGeom prst="roundRect">
            <a:avLst>
              <a:gd name="adj" fmla="val 3902"/>
            </a:avLst>
          </a:prstGeom>
          <a:solidFill>
            <a:srgbClr val="F5F3EE"/>
          </a:solidFill>
          <a:ln w="12700">
            <a:solidFill>
              <a:srgbClr val="F5F3EE"/>
            </a:solidFill>
            <a:prstDash val="solid"/>
          </a:ln>
        </p:spPr>
        <p:txBody>
          <a:bodyPr/>
          <a:p/>
        </p:txBody>
      </p:sp>
      <p:sp>
        <p:nvSpPr>
          <p:cNvPr id="22" name="Text 19"/>
          <p:cNvSpPr txBox="1"/>
          <p:nvPr/>
        </p:nvSpPr>
        <p:spPr>
          <a:xfrm>
            <a:off x="7406640" y="4142232"/>
            <a:ext cx="40233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Two rules</a:t>
            </a:r>
            <a:endParaRPr lang="en-US" sz="1600" dirty="0"/>
          </a:p>
        </p:txBody>
      </p:sp>
      <p:sp>
        <p:nvSpPr>
          <p:cNvPr id="23" name="Text 20"/>
          <p:cNvSpPr txBox="1"/>
          <p:nvPr/>
        </p:nvSpPr>
        <p:spPr>
          <a:xfrm>
            <a:off x="7406640" y="4846320"/>
            <a:ext cx="3977640" cy="8686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One beachhead, named: not "everyone who wants an EV"</a:t>
            </a:r>
            <a:endParaRPr lang="en-US" sz="1300" dirty="0"/>
          </a:p>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CAC must fit Unit Economics, or the plan breaks the business case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Plan · What to do first</a:t>
            </a:r>
            <a:endParaRPr lang="en-US" sz="2800" dirty="0"/>
          </a:p>
        </p:txBody>
      </p:sp>
      <p:sp>
        <p:nvSpPr>
          <p:cNvPr id="3" name="Shape 1"/>
          <p:cNvSpPr/>
          <p:nvPr/>
        </p:nvSpPr>
        <p:spPr>
          <a:xfrm>
            <a:off x="10058400" y="612648"/>
            <a:ext cx="155448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10058400" y="612648"/>
            <a:ext cx="155448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Exhibit S</a:t>
            </a:r>
            <a:endParaRPr lang="en-US" sz="1100" dirty="0"/>
          </a:p>
        </p:txBody>
      </p:sp>
      <p:graphicFrame>
        <p:nvGraphicFramePr>
          <p:cNvPr id="5" name="Chart 0" descr=""/>
          <p:cNvGraphicFramePr/>
          <p:nvPr/>
        </p:nvGraphicFramePr>
        <p:xfrm>
          <a:off x="548640" y="14630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52360" y="1463040"/>
            <a:ext cx="4160520" cy="1371600"/>
          </a:xfrm>
          <a:prstGeom prst="roundRect">
            <a:avLst>
              <a:gd name="adj" fmla="val 5333"/>
            </a:avLst>
          </a:prstGeom>
          <a:solidFill>
            <a:srgbClr val="1B365D"/>
          </a:solidFill>
          <a:ln w="12700">
            <a:solidFill>
              <a:srgbClr val="1B365D"/>
            </a:solidFill>
            <a:prstDash val="solid"/>
          </a:ln>
        </p:spPr>
        <p:txBody>
          <a:bodyPr/>
          <a:p/>
        </p:txBody>
      </p:sp>
      <p:sp>
        <p:nvSpPr>
          <p:cNvPr id="7" name="Text 4"/>
          <p:cNvSpPr txBox="1"/>
          <p:nvPr/>
        </p:nvSpPr>
        <p:spPr>
          <a:xfrm>
            <a:off x="7452360" y="1463040"/>
            <a:ext cx="4160520" cy="13716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Reach × Impact × Confidence</a:t>
            </a:r>
            <a:endParaRPr lang="en-US" sz="1600" dirty="0"/>
          </a:p>
          <a:p>
            <a:pPr algn="ctr" indent="0" marL="0">
              <a:buNone/>
            </a:pPr>
            <a:r>
              <a:rPr lang="en-US" sz="1600" b="1" dirty="0">
                <a:solidFill>
                  <a:srgbClr val="C4A35A"/>
                </a:solidFill>
                <a:latin typeface="Arial" pitchFamily="34" charset="0"/>
                <a:ea typeface="Arial" pitchFamily="34" charset="-122"/>
                <a:cs typeface="Arial" pitchFamily="34" charset="-120"/>
              </a:rPr>
              <a:t>÷ Effort</a:t>
            </a:r>
            <a:endParaRPr lang="en-US" sz="1600" dirty="0"/>
          </a:p>
        </p:txBody>
      </p:sp>
      <p:sp>
        <p:nvSpPr>
          <p:cNvPr id="8" name="card"/>
          <p:cNvSpPr/>
          <p:nvPr/>
        </p:nvSpPr>
        <p:spPr>
          <a:xfrm>
            <a:off x="7452360" y="3017520"/>
            <a:ext cx="4160520" cy="2788920"/>
          </a:xfrm>
          <a:prstGeom prst="roundRect">
            <a:avLst>
              <a:gd name="adj" fmla="val 2623"/>
            </a:avLst>
          </a:prstGeom>
          <a:solidFill>
            <a:srgbClr val="F5F3EE"/>
          </a:solidFill>
          <a:ln w="12700">
            <a:solidFill>
              <a:srgbClr val="F5F3EE"/>
            </a:solidFill>
            <a:prstDash val="solid"/>
          </a:ln>
        </p:spPr>
        <p:txBody>
          <a:bodyPr/>
          <a:p/>
        </p:txBody>
      </p:sp>
      <p:sp>
        <p:nvSpPr>
          <p:cNvPr id="9" name="Text 6"/>
          <p:cNvSpPr txBox="1"/>
          <p:nvPr/>
        </p:nvSpPr>
        <p:spPr>
          <a:xfrm>
            <a:off x="7680960" y="3182112"/>
            <a:ext cx="37490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Plus three disciplines</a:t>
            </a:r>
            <a:endParaRPr lang="en-US" sz="1600" dirty="0"/>
          </a:p>
        </p:txBody>
      </p:sp>
      <p:sp>
        <p:nvSpPr>
          <p:cNvPr id="10" name="Text 7"/>
          <p:cNvSpPr txBox="1"/>
          <p:nvPr/>
        </p:nvSpPr>
        <p:spPr>
          <a:xfrm>
            <a:off x="7680960" y="3886200"/>
            <a:ext cx="3703320" cy="17830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The binding growth constraint goes first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Cost of delay flags real urgency</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Dependencies and capacity respected: what doesn't fit waits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Plan · Who decides, and who must say yes</a:t>
            </a:r>
            <a:endParaRPr lang="en-US" sz="2800" dirty="0"/>
          </a:p>
        </p:txBody>
      </p:sp>
      <p:sp>
        <p:nvSpPr>
          <p:cNvPr id="3" name="card"/>
          <p:cNvSpPr/>
          <p:nvPr/>
        </p:nvSpPr>
        <p:spPr>
          <a:xfrm>
            <a:off x="548640" y="1463040"/>
            <a:ext cx="5120640" cy="4434840"/>
          </a:xfrm>
          <a:prstGeom prst="roundRect">
            <a:avLst>
              <a:gd name="adj" fmla="val 1649"/>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39776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Operating Model</a:t>
            </a:r>
            <a:endParaRPr lang="en-US" sz="1600" dirty="0"/>
          </a:p>
        </p:txBody>
      </p:sp>
      <p:sp>
        <p:nvSpPr>
          <p:cNvPr id="7" name="Text 4"/>
          <p:cNvSpPr txBox="1"/>
          <p:nvPr/>
        </p:nvSpPr>
        <p:spPr>
          <a:xfrm>
            <a:off x="777240" y="2331720"/>
            <a:ext cx="4663440" cy="34290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Start from the 3-5 things the strategy needs done exceptionally well</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RAPID decision rights for the decisions that set speed</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Structure chosen for those needs, with the reason</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7S coherence: do incentives fight the strategy?</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Spans and layers, as hypotheses to investigate</a:t>
            </a:r>
            <a:endParaRPr lang="en-US" sz="1400" dirty="0"/>
          </a:p>
        </p:txBody>
      </p:sp>
      <p:sp>
        <p:nvSpPr>
          <p:cNvPr id="8" name="Shape 5"/>
          <p:cNvSpPr/>
          <p:nvPr/>
        </p:nvSpPr>
        <p:spPr>
          <a:xfrm>
            <a:off x="5989320" y="1463040"/>
            <a:ext cx="2743200" cy="1965960"/>
          </a:xfrm>
          <a:prstGeom prst="roundRect">
            <a:avLst>
              <a:gd name="adj" fmla="val 2791"/>
            </a:avLst>
          </a:prstGeom>
          <a:solidFill>
            <a:srgbClr val="F5F3EE"/>
          </a:solidFill>
          <a:ln w="12700">
            <a:solidFill>
              <a:srgbClr val="F5F3EE"/>
            </a:solidFill>
            <a:prstDash val="solid"/>
          </a:ln>
        </p:spPr>
        <p:txBody>
          <a:bodyPr/>
          <a:p/>
        </p:txBody>
      </p:sp>
      <p:sp>
        <p:nvSpPr>
          <p:cNvPr id="9" name="Text 6"/>
          <p:cNvSpPr txBox="1"/>
          <p:nvPr/>
        </p:nvSpPr>
        <p:spPr>
          <a:xfrm>
            <a:off x="6172200" y="1463040"/>
            <a:ext cx="2377440" cy="1965960"/>
          </a:xfrm>
          <a:prstGeom prst="rect">
            <a:avLst/>
          </a:prstGeom>
          <a:noFill/>
          <a:ln/>
        </p:spPr>
        <p:txBody>
          <a:bodyPr wrap="square" lIns="0" tIns="0" rIns="0" bIns="0" rtlCol="0" anchor="ctr"/>
          <a:lstStyle/>
          <a:p>
            <a:pPr indent="0" marL="0">
              <a:buNone/>
            </a:pPr>
            <a:r>
              <a:rPr lang="en-US" sz="1700" b="1" dirty="0">
                <a:solidFill>
                  <a:srgbClr val="1B365D"/>
                </a:solidFill>
                <a:latin typeface="Arial" pitchFamily="34" charset="0"/>
                <a:ea typeface="Arial" pitchFamily="34" charset="-122"/>
                <a:cs typeface="Arial" pitchFamily="34" charset="-120"/>
              </a:rPr>
              <a:t>Keep satisfied</a:t>
            </a:r>
            <a:endParaRPr lang="en-US" sz="1700" dirty="0"/>
          </a:p>
          <a:p>
            <a:pPr indent="0" marL="0">
              <a:buNone/>
            </a:pPr>
            <a:r>
              <a:rPr lang="en-US" sz="1200" dirty="0">
                <a:solidFill>
                  <a:srgbClr val="1B365D"/>
                </a:solidFill>
                <a:latin typeface="Arial" pitchFamily="34" charset="0"/>
                <a:ea typeface="Arial" pitchFamily="34" charset="-122"/>
                <a:cs typeface="Arial" pitchFamily="34" charset="-120"/>
              </a:rPr>
              <a:t>High power · low interest</a:t>
            </a:r>
            <a:endParaRPr lang="en-US" sz="1700" dirty="0"/>
          </a:p>
        </p:txBody>
      </p:sp>
      <p:sp>
        <p:nvSpPr>
          <p:cNvPr id="10" name="Shape 7"/>
          <p:cNvSpPr/>
          <p:nvPr/>
        </p:nvSpPr>
        <p:spPr>
          <a:xfrm>
            <a:off x="8869680" y="1463040"/>
            <a:ext cx="2743200" cy="1965960"/>
          </a:xfrm>
          <a:prstGeom prst="roundRect">
            <a:avLst>
              <a:gd name="adj" fmla="val 2791"/>
            </a:avLst>
          </a:prstGeom>
          <a:solidFill>
            <a:srgbClr val="1B365D"/>
          </a:solidFill>
          <a:ln w="12700">
            <a:solidFill>
              <a:srgbClr val="1B365D"/>
            </a:solidFill>
            <a:prstDash val="solid"/>
          </a:ln>
        </p:spPr>
        <p:txBody>
          <a:bodyPr/>
          <a:p/>
        </p:txBody>
      </p:sp>
      <p:sp>
        <p:nvSpPr>
          <p:cNvPr id="11" name="Text 8"/>
          <p:cNvSpPr txBox="1"/>
          <p:nvPr/>
        </p:nvSpPr>
        <p:spPr>
          <a:xfrm>
            <a:off x="9052560" y="1463040"/>
            <a:ext cx="2377440" cy="19659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Manage closely</a:t>
            </a:r>
            <a:endParaRPr lang="en-US" sz="1700" dirty="0"/>
          </a:p>
          <a:p>
            <a:pPr indent="0" marL="0">
              <a:buNone/>
            </a:pPr>
            <a:r>
              <a:rPr lang="en-US" sz="1200" dirty="0">
                <a:solidFill>
                  <a:srgbClr val="FFFFFF"/>
                </a:solidFill>
                <a:latin typeface="Arial" pitchFamily="34" charset="0"/>
                <a:ea typeface="Arial" pitchFamily="34" charset="-122"/>
                <a:cs typeface="Arial" pitchFamily="34" charset="-120"/>
              </a:rPr>
              <a:t>High power · high interest</a:t>
            </a:r>
            <a:endParaRPr lang="en-US" sz="1700" dirty="0"/>
          </a:p>
        </p:txBody>
      </p:sp>
      <p:sp>
        <p:nvSpPr>
          <p:cNvPr id="12" name="Shape 9"/>
          <p:cNvSpPr/>
          <p:nvPr/>
        </p:nvSpPr>
        <p:spPr>
          <a:xfrm>
            <a:off x="5989320" y="3566160"/>
            <a:ext cx="2743200" cy="1965960"/>
          </a:xfrm>
          <a:prstGeom prst="roundRect">
            <a:avLst>
              <a:gd name="adj" fmla="val 2791"/>
            </a:avLst>
          </a:prstGeom>
          <a:solidFill>
            <a:srgbClr val="FFFFFF"/>
          </a:solidFill>
          <a:ln w="12700">
            <a:solidFill>
              <a:srgbClr val="D9D4C7"/>
            </a:solidFill>
            <a:prstDash val="solid"/>
          </a:ln>
        </p:spPr>
        <p:txBody>
          <a:bodyPr/>
          <a:p/>
        </p:txBody>
      </p:sp>
      <p:sp>
        <p:nvSpPr>
          <p:cNvPr id="13" name="Text 10"/>
          <p:cNvSpPr txBox="1"/>
          <p:nvPr/>
        </p:nvSpPr>
        <p:spPr>
          <a:xfrm>
            <a:off x="6172200" y="3566160"/>
            <a:ext cx="2377440" cy="1965960"/>
          </a:xfrm>
          <a:prstGeom prst="rect">
            <a:avLst/>
          </a:prstGeom>
          <a:noFill/>
          <a:ln/>
        </p:spPr>
        <p:txBody>
          <a:bodyPr wrap="square" lIns="0" tIns="0" rIns="0" bIns="0" rtlCol="0" anchor="ctr"/>
          <a:lstStyle/>
          <a:p>
            <a:pPr indent="0" marL="0">
              <a:buNone/>
            </a:pPr>
            <a:r>
              <a:rPr lang="en-US" sz="1700" b="1" dirty="0">
                <a:solidFill>
                  <a:srgbClr val="1B365D"/>
                </a:solidFill>
                <a:latin typeface="Arial" pitchFamily="34" charset="0"/>
                <a:ea typeface="Arial" pitchFamily="34" charset="-122"/>
                <a:cs typeface="Arial" pitchFamily="34" charset="-120"/>
              </a:rPr>
              <a:t>Monitor</a:t>
            </a:r>
            <a:endParaRPr lang="en-US" sz="1700" dirty="0"/>
          </a:p>
          <a:p>
            <a:pPr indent="0" marL="0">
              <a:buNone/>
            </a:pPr>
            <a:r>
              <a:rPr lang="en-US" sz="1200" dirty="0">
                <a:solidFill>
                  <a:srgbClr val="1B365D"/>
                </a:solidFill>
                <a:latin typeface="Arial" pitchFamily="34" charset="0"/>
                <a:ea typeface="Arial" pitchFamily="34" charset="-122"/>
                <a:cs typeface="Arial" pitchFamily="34" charset="-120"/>
              </a:rPr>
              <a:t>Low power · low interest</a:t>
            </a:r>
            <a:endParaRPr lang="en-US" sz="1700" dirty="0"/>
          </a:p>
        </p:txBody>
      </p:sp>
      <p:sp>
        <p:nvSpPr>
          <p:cNvPr id="14" name="Shape 11"/>
          <p:cNvSpPr/>
          <p:nvPr/>
        </p:nvSpPr>
        <p:spPr>
          <a:xfrm>
            <a:off x="8869680" y="3566160"/>
            <a:ext cx="2743200" cy="1965960"/>
          </a:xfrm>
          <a:prstGeom prst="roundRect">
            <a:avLst>
              <a:gd name="adj" fmla="val 2791"/>
            </a:avLst>
          </a:prstGeom>
          <a:solidFill>
            <a:srgbClr val="F5F3EE"/>
          </a:solidFill>
          <a:ln w="12700">
            <a:solidFill>
              <a:srgbClr val="F5F3EE"/>
            </a:solidFill>
            <a:prstDash val="solid"/>
          </a:ln>
        </p:spPr>
        <p:txBody>
          <a:bodyPr/>
          <a:p/>
        </p:txBody>
      </p:sp>
      <p:sp>
        <p:nvSpPr>
          <p:cNvPr id="15" name="Text 12"/>
          <p:cNvSpPr txBox="1"/>
          <p:nvPr/>
        </p:nvSpPr>
        <p:spPr>
          <a:xfrm>
            <a:off x="9052560" y="3566160"/>
            <a:ext cx="2377440" cy="1965960"/>
          </a:xfrm>
          <a:prstGeom prst="rect">
            <a:avLst/>
          </a:prstGeom>
          <a:noFill/>
          <a:ln/>
        </p:spPr>
        <p:txBody>
          <a:bodyPr wrap="square" lIns="0" tIns="0" rIns="0" bIns="0" rtlCol="0" anchor="ctr"/>
          <a:lstStyle/>
          <a:p>
            <a:pPr indent="0" marL="0">
              <a:buNone/>
            </a:pPr>
            <a:r>
              <a:rPr lang="en-US" sz="1700" b="1" dirty="0">
                <a:solidFill>
                  <a:srgbClr val="1B365D"/>
                </a:solidFill>
                <a:latin typeface="Arial" pitchFamily="34" charset="0"/>
                <a:ea typeface="Arial" pitchFamily="34" charset="-122"/>
                <a:cs typeface="Arial" pitchFamily="34" charset="-120"/>
              </a:rPr>
              <a:t>Keep informed</a:t>
            </a:r>
            <a:endParaRPr lang="en-US" sz="1700" dirty="0"/>
          </a:p>
          <a:p>
            <a:pPr indent="0" marL="0">
              <a:buNone/>
            </a:pPr>
            <a:r>
              <a:rPr lang="en-US" sz="1200" dirty="0">
                <a:solidFill>
                  <a:srgbClr val="1B365D"/>
                </a:solidFill>
                <a:latin typeface="Arial" pitchFamily="34" charset="0"/>
                <a:ea typeface="Arial" pitchFamily="34" charset="-122"/>
                <a:cs typeface="Arial" pitchFamily="34" charset="-120"/>
              </a:rPr>
              <a:t>Low power · high interest</a:t>
            </a:r>
            <a:endParaRPr lang="en-US" sz="1700" dirty="0"/>
          </a:p>
        </p:txBody>
      </p:sp>
      <p:sp>
        <p:nvSpPr>
          <p:cNvPr id="16" name="Text 13"/>
          <p:cNvSpPr txBox="1"/>
          <p:nvPr/>
        </p:nvSpPr>
        <p:spPr>
          <a:xfrm>
            <a:off x="5989320" y="5623560"/>
            <a:ext cx="5623560" cy="365760"/>
          </a:xfrm>
          <a:prstGeom prst="rect">
            <a:avLst/>
          </a:prstGeom>
          <a:noFill/>
          <a:ln/>
        </p:spPr>
        <p:txBody>
          <a:bodyPr wrap="square" lIns="0" tIns="0" rIns="0" bIns="0" rtlCol="0" anchor="ctr"/>
          <a:lstStyle/>
          <a:p>
            <a:pPr indent="0" marL="0">
              <a:buNone/>
            </a:pPr>
            <a:r>
              <a:rPr lang="en-US" sz="1200" i="1" dirty="0">
                <a:solidFill>
                  <a:schemeClr val="tx1"/>
                </a:solidFill>
                <a:latin typeface="Georgia" pitchFamily="34" charset="0"/>
                <a:ea typeface="Georgia" pitchFamily="34" charset="-122"/>
                <a:cs typeface="Georgia" pitchFamily="34" charset="-120"/>
              </a:rPr>
              <a:t>Stakeholder Map: if the opposition's power matches the supporters', that is the headline.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Plan · The first 100 days</a:t>
            </a:r>
            <a:endParaRPr lang="en-US" sz="2800" dirty="0"/>
          </a:p>
        </p:txBody>
      </p:sp>
      <p:sp>
        <p:nvSpPr>
          <p:cNvPr id="3" name="Shape 1"/>
          <p:cNvSpPr/>
          <p:nvPr/>
        </p:nvSpPr>
        <p:spPr>
          <a:xfrm>
            <a:off x="822960" y="2103120"/>
            <a:ext cx="10515600" cy="0"/>
          </a:xfrm>
          <a:prstGeom prst="line">
            <a:avLst/>
          </a:prstGeom>
          <a:noFill/>
          <a:ln w="38100">
            <a:solidFill>
              <a:srgbClr val="C4A35A"/>
            </a:solidFill>
            <a:prstDash val="solid"/>
          </a:ln>
        </p:spPr>
        <p:txBody>
          <a:bodyPr/>
          <a:p/>
        </p:txBody>
      </p:sp>
      <p:sp>
        <p:nvSpPr>
          <p:cNvPr id="4" name="Shape 2"/>
          <p:cNvSpPr/>
          <p:nvPr/>
        </p:nvSpPr>
        <p:spPr>
          <a:xfrm>
            <a:off x="1600200" y="1828800"/>
            <a:ext cx="548640" cy="548640"/>
          </a:xfrm>
          <a:prstGeom prst="ellipse">
            <a:avLst/>
          </a:prstGeom>
          <a:solidFill>
            <a:srgbClr val="1B365D"/>
          </a:solidFill>
          <a:ln w="12700">
            <a:solidFill>
              <a:srgbClr val="1B365D"/>
            </a:solidFill>
            <a:prstDash val="solid"/>
          </a:ln>
        </p:spPr>
        <p:txBody>
          <a:bodyPr/>
          <a:p/>
        </p:txBody>
      </p:sp>
      <p:sp>
        <p:nvSpPr>
          <p:cNvPr id="5" name="Text 3"/>
          <p:cNvSpPr txBox="1"/>
          <p:nvPr/>
        </p:nvSpPr>
        <p:spPr>
          <a:xfrm>
            <a:off x="160020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card"/>
          <p:cNvSpPr/>
          <p:nvPr/>
        </p:nvSpPr>
        <p:spPr>
          <a:xfrm>
            <a:off x="548640" y="2606040"/>
            <a:ext cx="2606040" cy="2377440"/>
          </a:xfrm>
          <a:prstGeom prst="roundRect">
            <a:avLst>
              <a:gd name="adj" fmla="val 3077"/>
            </a:avLst>
          </a:prstGeom>
          <a:solidFill>
            <a:srgbClr val="F5F3EE"/>
          </a:solidFill>
          <a:ln w="12700">
            <a:solidFill>
              <a:srgbClr val="F5F3EE"/>
            </a:solidFill>
            <a:prstDash val="solid"/>
          </a:ln>
        </p:spPr>
        <p:txBody>
          <a:bodyPr/>
          <a:p/>
        </p:txBody>
      </p:sp>
      <p:sp>
        <p:nvSpPr>
          <p:cNvPr id="7" name="Text 5"/>
          <p:cNvSpPr txBox="1"/>
          <p:nvPr/>
        </p:nvSpPr>
        <p:spPr>
          <a:xfrm>
            <a:off x="777240" y="2770632"/>
            <a:ext cx="21945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Diagnose</a:t>
            </a:r>
            <a:endParaRPr lang="en-US" sz="1600" dirty="0"/>
          </a:p>
        </p:txBody>
      </p:sp>
      <p:sp>
        <p:nvSpPr>
          <p:cNvPr id="8" name="Text 6"/>
          <p:cNvSpPr txBox="1"/>
          <p:nvPr/>
        </p:nvSpPr>
        <p:spPr>
          <a:xfrm>
            <a:off x="777240" y="3474720"/>
            <a:ext cx="2148840" cy="137160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Arial" pitchFamily="34" charset="0"/>
                <a:ea typeface="Arial" pitchFamily="34" charset="-122"/>
                <a:cs typeface="Arial" pitchFamily="34" charset="-120"/>
              </a:rPr>
              <a:t>Listening tour of 15-25 people; run the cheapest assumption tests</a:t>
            </a:r>
            <a:endParaRPr lang="en-US" sz="1300" dirty="0"/>
          </a:p>
        </p:txBody>
      </p:sp>
      <p:sp>
        <p:nvSpPr>
          <p:cNvPr id="9" name="Text 7"/>
          <p:cNvSpPr txBox="1"/>
          <p:nvPr/>
        </p:nvSpPr>
        <p:spPr>
          <a:xfrm>
            <a:off x="548640" y="1325880"/>
            <a:ext cx="2606040" cy="365760"/>
          </a:xfrm>
          <a:prstGeom prst="rect">
            <a:avLst/>
          </a:prstGeom>
          <a:noFill/>
          <a:ln/>
        </p:spPr>
        <p:txBody>
          <a:bodyPr wrap="square" lIns="0" tIns="0" rIns="0" bIns="0" rtlCol="0" anchor="ctr"/>
          <a:lstStyle/>
          <a:p>
            <a:pPr algn="ctr" indent="0" marL="0">
              <a:buNone/>
            </a:pPr>
            <a:r>
              <a:rPr lang="en-US" sz="1300" b="1" dirty="0">
                <a:solidFill>
                  <a:srgbClr val="C4A35A"/>
                </a:solidFill>
                <a:latin typeface="Arial" pitchFamily="34" charset="0"/>
                <a:ea typeface="Arial" pitchFamily="34" charset="-122"/>
                <a:cs typeface="Arial" pitchFamily="34" charset="-120"/>
              </a:rPr>
              <a:t>Days 1-30</a:t>
            </a:r>
            <a:endParaRPr lang="en-US" sz="1300" dirty="0"/>
          </a:p>
        </p:txBody>
      </p:sp>
      <p:sp>
        <p:nvSpPr>
          <p:cNvPr id="10" name="Shape 8"/>
          <p:cNvSpPr/>
          <p:nvPr/>
        </p:nvSpPr>
        <p:spPr>
          <a:xfrm>
            <a:off x="4434840" y="1828800"/>
            <a:ext cx="548640" cy="548640"/>
          </a:xfrm>
          <a:prstGeom prst="ellipse">
            <a:avLst/>
          </a:prstGeom>
          <a:solidFill>
            <a:srgbClr val="1B365D"/>
          </a:solidFill>
          <a:ln w="12700">
            <a:solidFill>
              <a:srgbClr val="1B365D"/>
            </a:solidFill>
            <a:prstDash val="solid"/>
          </a:ln>
        </p:spPr>
        <p:txBody>
          <a:bodyPr/>
          <a:p/>
        </p:txBody>
      </p:sp>
      <p:sp>
        <p:nvSpPr>
          <p:cNvPr id="11" name="Text 9"/>
          <p:cNvSpPr txBox="1"/>
          <p:nvPr/>
        </p:nvSpPr>
        <p:spPr>
          <a:xfrm>
            <a:off x="443484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card"/>
          <p:cNvSpPr/>
          <p:nvPr/>
        </p:nvSpPr>
        <p:spPr>
          <a:xfrm>
            <a:off x="3383280" y="2606040"/>
            <a:ext cx="2606040" cy="2377440"/>
          </a:xfrm>
          <a:prstGeom prst="roundRect">
            <a:avLst>
              <a:gd name="adj" fmla="val 3077"/>
            </a:avLst>
          </a:prstGeom>
          <a:solidFill>
            <a:srgbClr val="F5F3EE"/>
          </a:solidFill>
          <a:ln w="12700">
            <a:solidFill>
              <a:srgbClr val="F5F3EE"/>
            </a:solidFill>
            <a:prstDash val="solid"/>
          </a:ln>
        </p:spPr>
        <p:txBody>
          <a:bodyPr/>
          <a:p/>
        </p:txBody>
      </p:sp>
      <p:sp>
        <p:nvSpPr>
          <p:cNvPr id="13" name="Text 11"/>
          <p:cNvSpPr txBox="1"/>
          <p:nvPr/>
        </p:nvSpPr>
        <p:spPr>
          <a:xfrm>
            <a:off x="3611880" y="2770632"/>
            <a:ext cx="21945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Quick wins</a:t>
            </a:r>
            <a:endParaRPr lang="en-US" sz="1600" dirty="0"/>
          </a:p>
        </p:txBody>
      </p:sp>
      <p:sp>
        <p:nvSpPr>
          <p:cNvPr id="14" name="Text 12"/>
          <p:cNvSpPr txBox="1"/>
          <p:nvPr/>
        </p:nvSpPr>
        <p:spPr>
          <a:xfrm>
            <a:off x="3611880" y="3474720"/>
            <a:ext cx="2148840" cy="137160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Arial" pitchFamily="34" charset="0"/>
                <a:ea typeface="Arial" pitchFamily="34" charset="-122"/>
                <a:cs typeface="Arial" pitchFamily="34" charset="-120"/>
              </a:rPr>
              <a:t>One or two visible wins the organisation values</a:t>
            </a:r>
            <a:endParaRPr lang="en-US" sz="1300" dirty="0"/>
          </a:p>
        </p:txBody>
      </p:sp>
      <p:sp>
        <p:nvSpPr>
          <p:cNvPr id="15" name="Text 13"/>
          <p:cNvSpPr txBox="1"/>
          <p:nvPr/>
        </p:nvSpPr>
        <p:spPr>
          <a:xfrm>
            <a:off x="3383280" y="1325880"/>
            <a:ext cx="2606040" cy="365760"/>
          </a:xfrm>
          <a:prstGeom prst="rect">
            <a:avLst/>
          </a:prstGeom>
          <a:noFill/>
          <a:ln/>
        </p:spPr>
        <p:txBody>
          <a:bodyPr wrap="square" lIns="0" tIns="0" rIns="0" bIns="0" rtlCol="0" anchor="ctr"/>
          <a:lstStyle/>
          <a:p>
            <a:pPr algn="ctr" indent="0" marL="0">
              <a:buNone/>
            </a:pPr>
            <a:r>
              <a:rPr lang="en-US" sz="1300" b="1" dirty="0">
                <a:solidFill>
                  <a:srgbClr val="C4A35A"/>
                </a:solidFill>
                <a:latin typeface="Arial" pitchFamily="34" charset="0"/>
                <a:ea typeface="Arial" pitchFamily="34" charset="-122"/>
                <a:cs typeface="Arial" pitchFamily="34" charset="-120"/>
              </a:rPr>
              <a:t>Days 1-60</a:t>
            </a:r>
            <a:endParaRPr lang="en-US" sz="1300" dirty="0"/>
          </a:p>
        </p:txBody>
      </p:sp>
      <p:sp>
        <p:nvSpPr>
          <p:cNvPr id="16" name="Shape 14"/>
          <p:cNvSpPr/>
          <p:nvPr/>
        </p:nvSpPr>
        <p:spPr>
          <a:xfrm>
            <a:off x="7269480" y="1828800"/>
            <a:ext cx="548640" cy="548640"/>
          </a:xfrm>
          <a:prstGeom prst="ellipse">
            <a:avLst/>
          </a:prstGeom>
          <a:solidFill>
            <a:srgbClr val="1B365D"/>
          </a:solidFill>
          <a:ln w="12700">
            <a:solidFill>
              <a:srgbClr val="1B365D"/>
            </a:solidFill>
            <a:prstDash val="solid"/>
          </a:ln>
        </p:spPr>
        <p:txBody>
          <a:bodyPr/>
          <a:p/>
        </p:txBody>
      </p:sp>
      <p:sp>
        <p:nvSpPr>
          <p:cNvPr id="17" name="Text 15"/>
          <p:cNvSpPr txBox="1"/>
          <p:nvPr/>
        </p:nvSpPr>
        <p:spPr>
          <a:xfrm>
            <a:off x="726948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card"/>
          <p:cNvSpPr/>
          <p:nvPr/>
        </p:nvSpPr>
        <p:spPr>
          <a:xfrm>
            <a:off x="6217920" y="2606040"/>
            <a:ext cx="2606040" cy="2377440"/>
          </a:xfrm>
          <a:prstGeom prst="roundRect">
            <a:avLst>
              <a:gd name="adj" fmla="val 3077"/>
            </a:avLst>
          </a:prstGeom>
          <a:solidFill>
            <a:srgbClr val="F5F3EE"/>
          </a:solidFill>
          <a:ln w="12700">
            <a:solidFill>
              <a:srgbClr val="F5F3EE"/>
            </a:solidFill>
            <a:prstDash val="solid"/>
          </a:ln>
        </p:spPr>
        <p:txBody>
          <a:bodyPr/>
          <a:p/>
        </p:txBody>
      </p:sp>
      <p:sp>
        <p:nvSpPr>
          <p:cNvPr id="19" name="Text 17"/>
          <p:cNvSpPr txBox="1"/>
          <p:nvPr/>
        </p:nvSpPr>
        <p:spPr>
          <a:xfrm>
            <a:off x="6446520" y="2770632"/>
            <a:ext cx="21945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Direction</a:t>
            </a:r>
            <a:endParaRPr lang="en-US" sz="1600" dirty="0"/>
          </a:p>
        </p:txBody>
      </p:sp>
      <p:sp>
        <p:nvSpPr>
          <p:cNvPr id="20" name="Text 18"/>
          <p:cNvSpPr txBox="1"/>
          <p:nvPr/>
        </p:nvSpPr>
        <p:spPr>
          <a:xfrm>
            <a:off x="6446520" y="3474720"/>
            <a:ext cx="2148840" cy="137160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Arial" pitchFamily="34" charset="0"/>
                <a:ea typeface="Arial" pitchFamily="34" charset="-122"/>
                <a:cs typeface="Arial" pitchFamily="34" charset="-120"/>
              </a:rPr>
              <a:t>3-5 priorities stated; hard structural calls made</a:t>
            </a:r>
            <a:endParaRPr lang="en-US" sz="1300" dirty="0"/>
          </a:p>
        </p:txBody>
      </p:sp>
      <p:sp>
        <p:nvSpPr>
          <p:cNvPr id="21" name="Text 19"/>
          <p:cNvSpPr txBox="1"/>
          <p:nvPr/>
        </p:nvSpPr>
        <p:spPr>
          <a:xfrm>
            <a:off x="6217920" y="1325880"/>
            <a:ext cx="2606040" cy="365760"/>
          </a:xfrm>
          <a:prstGeom prst="rect">
            <a:avLst/>
          </a:prstGeom>
          <a:noFill/>
          <a:ln/>
        </p:spPr>
        <p:txBody>
          <a:bodyPr wrap="square" lIns="0" tIns="0" rIns="0" bIns="0" rtlCol="0" anchor="ctr"/>
          <a:lstStyle/>
          <a:p>
            <a:pPr algn="ctr" indent="0" marL="0">
              <a:buNone/>
            </a:pPr>
            <a:r>
              <a:rPr lang="en-US" sz="1300" b="1" dirty="0">
                <a:solidFill>
                  <a:srgbClr val="C4A35A"/>
                </a:solidFill>
                <a:latin typeface="Arial" pitchFamily="34" charset="0"/>
                <a:ea typeface="Arial" pitchFamily="34" charset="-122"/>
                <a:cs typeface="Arial" pitchFamily="34" charset="-120"/>
              </a:rPr>
              <a:t>Days 31-60</a:t>
            </a:r>
            <a:endParaRPr lang="en-US" sz="1300" dirty="0"/>
          </a:p>
        </p:txBody>
      </p:sp>
      <p:sp>
        <p:nvSpPr>
          <p:cNvPr id="22" name="Shape 20"/>
          <p:cNvSpPr/>
          <p:nvPr/>
        </p:nvSpPr>
        <p:spPr>
          <a:xfrm>
            <a:off x="10104120" y="1828800"/>
            <a:ext cx="548640" cy="548640"/>
          </a:xfrm>
          <a:prstGeom prst="ellipse">
            <a:avLst/>
          </a:prstGeom>
          <a:solidFill>
            <a:srgbClr val="1B365D"/>
          </a:solidFill>
          <a:ln w="12700">
            <a:solidFill>
              <a:srgbClr val="1B365D"/>
            </a:solidFill>
            <a:prstDash val="solid"/>
          </a:ln>
        </p:spPr>
        <p:txBody>
          <a:bodyPr/>
          <a:p/>
        </p:txBody>
      </p:sp>
      <p:sp>
        <p:nvSpPr>
          <p:cNvPr id="23" name="Text 21"/>
          <p:cNvSpPr txBox="1"/>
          <p:nvPr/>
        </p:nvSpPr>
        <p:spPr>
          <a:xfrm>
            <a:off x="1010412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card"/>
          <p:cNvSpPr/>
          <p:nvPr/>
        </p:nvSpPr>
        <p:spPr>
          <a:xfrm>
            <a:off x="9052560" y="2606040"/>
            <a:ext cx="2606040" cy="2377440"/>
          </a:xfrm>
          <a:prstGeom prst="roundRect">
            <a:avLst>
              <a:gd name="adj" fmla="val 3077"/>
            </a:avLst>
          </a:prstGeom>
          <a:solidFill>
            <a:srgbClr val="F5F3EE"/>
          </a:solidFill>
          <a:ln w="12700">
            <a:solidFill>
              <a:srgbClr val="F5F3EE"/>
            </a:solidFill>
            <a:prstDash val="solid"/>
          </a:ln>
        </p:spPr>
        <p:txBody>
          <a:bodyPr/>
          <a:p/>
        </p:txBody>
      </p:sp>
      <p:sp>
        <p:nvSpPr>
          <p:cNvPr id="25" name="Text 23"/>
          <p:cNvSpPr txBox="1"/>
          <p:nvPr/>
        </p:nvSpPr>
        <p:spPr>
          <a:xfrm>
            <a:off x="9281160" y="2770632"/>
            <a:ext cx="21945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Launch</a:t>
            </a:r>
            <a:endParaRPr lang="en-US" sz="1600" dirty="0"/>
          </a:p>
        </p:txBody>
      </p:sp>
      <p:sp>
        <p:nvSpPr>
          <p:cNvPr id="26" name="Text 24"/>
          <p:cNvSpPr txBox="1"/>
          <p:nvPr/>
        </p:nvSpPr>
        <p:spPr>
          <a:xfrm>
            <a:off x="9281160" y="3474720"/>
            <a:ext cx="2148840" cy="1371600"/>
          </a:xfrm>
          <a:prstGeom prst="rect">
            <a:avLst/>
          </a:prstGeom>
          <a:noFill/>
          <a:ln/>
        </p:spPr>
        <p:txBody>
          <a:bodyPr wrap="square" lIns="0" tIns="0" rIns="0" bIns="0" rtlCol="0" anchor="t"/>
          <a:lstStyle/>
          <a:p>
            <a:pPr indent="0" marL="0">
              <a:spcAft>
                <a:spcPts val="400"/>
              </a:spcAft>
              <a:buNone/>
            </a:pPr>
            <a:r>
              <a:rPr lang="en-US" sz="1300" dirty="0">
                <a:solidFill>
                  <a:schemeClr val="tx1"/>
                </a:solidFill>
                <a:latin typeface="Arial" pitchFamily="34" charset="0"/>
                <a:ea typeface="Arial" pitchFamily="34" charset="-122"/>
                <a:cs typeface="Arial" pitchFamily="34" charset="-120"/>
              </a:rPr>
              <a:t>First initiatives with owners; the operating rhythm set</a:t>
            </a:r>
            <a:endParaRPr lang="en-US" sz="1300" dirty="0"/>
          </a:p>
        </p:txBody>
      </p:sp>
      <p:sp>
        <p:nvSpPr>
          <p:cNvPr id="27" name="Text 25"/>
          <p:cNvSpPr txBox="1"/>
          <p:nvPr/>
        </p:nvSpPr>
        <p:spPr>
          <a:xfrm>
            <a:off x="9052560" y="1325880"/>
            <a:ext cx="2606040" cy="365760"/>
          </a:xfrm>
          <a:prstGeom prst="rect">
            <a:avLst/>
          </a:prstGeom>
          <a:noFill/>
          <a:ln/>
        </p:spPr>
        <p:txBody>
          <a:bodyPr wrap="square" lIns="0" tIns="0" rIns="0" bIns="0" rtlCol="0" anchor="ctr"/>
          <a:lstStyle/>
          <a:p>
            <a:pPr algn="ctr" indent="0" marL="0">
              <a:buNone/>
            </a:pPr>
            <a:r>
              <a:rPr lang="en-US" sz="1300" b="1" dirty="0">
                <a:solidFill>
                  <a:srgbClr val="C4A35A"/>
                </a:solidFill>
                <a:latin typeface="Arial" pitchFamily="34" charset="0"/>
                <a:ea typeface="Arial" pitchFamily="34" charset="-122"/>
                <a:cs typeface="Arial" pitchFamily="34" charset="-120"/>
              </a:rPr>
              <a:t>Days 61-100</a:t>
            </a:r>
            <a:endParaRPr lang="en-US" sz="1300" dirty="0"/>
          </a:p>
        </p:txBody>
      </p:sp>
      <p:sp>
        <p:nvSpPr>
          <p:cNvPr id="28" name="Shape 26"/>
          <p:cNvSpPr/>
          <p:nvPr/>
        </p:nvSpPr>
        <p:spPr>
          <a:xfrm>
            <a:off x="548640" y="5212080"/>
            <a:ext cx="11064240" cy="731520"/>
          </a:xfrm>
          <a:prstGeom prst="roundRect">
            <a:avLst>
              <a:gd name="adj" fmla="val 10000"/>
            </a:avLst>
          </a:prstGeom>
          <a:solidFill>
            <a:srgbClr val="1B365D"/>
          </a:solidFill>
          <a:ln w="12700">
            <a:solidFill>
              <a:srgbClr val="1B365D"/>
            </a:solidFill>
            <a:prstDash val="solid"/>
          </a:ln>
        </p:spPr>
        <p:txBody>
          <a:bodyPr/>
          <a:p/>
        </p:txBody>
      </p:sp>
      <p:sp>
        <p:nvSpPr>
          <p:cNvPr id="29" name="Text 27"/>
          <p:cNvSpPr txBox="1"/>
          <p:nvPr/>
        </p:nvSpPr>
        <p:spPr>
          <a:xfrm>
            <a:off x="822960" y="5212080"/>
            <a:ext cx="10515600" cy="7315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Then the roadmap: workstreams, dated milestones, and stage gates with go / hold / exit thresholds set in advance.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Track · Is the strategy working?</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2377440"/>
                <a:gridCol w="2377440"/>
                <a:gridCol w="1737360"/>
                <a:gridCol w="2194560"/>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KPI</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Traces to</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Leading indicator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Target</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Owner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r>
              <a:tr h="457200">
                <a:tc>
                  <a:txBody>
                    <a:bodyPr/>
                    <a:lstStyle/>
                    <a:p>
                      <a:pPr indent="0" marL="0">
                        <a:buNone/>
                      </a:pPr>
                      <a:r>
                        <a:rPr lang="en-US" sz="1300" dirty="0">
                          <a:solidFill>
                            <a:srgbClr val="1B365D"/>
                          </a:solidFill>
                          <a:latin typeface="Arial" pitchFamily="34" charset="0"/>
                          <a:ea typeface="Arial" pitchFamily="34" charset="-122"/>
                          <a:cs typeface="Arial" pitchFamily="34" charset="-120"/>
                        </a:rPr>
                        <a:t>Cell cost per kWh</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KSF: battery cost</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Supplier quote index</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−15% by 2028</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VP Supply Chain</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57200">
                <a:tc>
                  <a:txBody>
                    <a:bodyPr/>
                    <a:lstStyle/>
                    <a:p>
                      <a:pPr indent="0" marL="0">
                        <a:buNone/>
                      </a:pPr>
                      <a:r>
                        <a:rPr lang="en-US" sz="1300" dirty="0">
                          <a:solidFill>
                            <a:srgbClr val="1B365D"/>
                          </a:solidFill>
                          <a:latin typeface="Arial" pitchFamily="34" charset="0"/>
                          <a:ea typeface="Arial" pitchFamily="34" charset="-122"/>
                          <a:cs typeface="Arial" pitchFamily="34" charset="-120"/>
                        </a:rPr>
                        <a:t>Deliveries per quarter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Growth Barriers: supply</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Qualified cell volume</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+20% a year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COO</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365D"/>
                          </a:solidFill>
                          <a:latin typeface="Arial" pitchFamily="34" charset="0"/>
                          <a:ea typeface="Arial" pitchFamily="34" charset="-122"/>
                          <a:cs typeface="Arial" pitchFamily="34" charset="-120"/>
                        </a:rPr>
                        <a:t>Contribution per car</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Unit Economics</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Materials cost %</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 $13k</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CFO</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57200">
                <a:tc>
                  <a:txBody>
                    <a:bodyPr/>
                    <a:lstStyle/>
                    <a:p>
                      <a:pPr indent="0" marL="0">
                        <a:buNone/>
                      </a:pPr>
                      <a:r>
                        <a:rPr lang="en-US" sz="1300" dirty="0">
                          <a:solidFill>
                            <a:srgbClr val="1B365D"/>
                          </a:solidFill>
                          <a:latin typeface="Arial" pitchFamily="34" charset="0"/>
                          <a:ea typeface="Arial" pitchFamily="34" charset="-122"/>
                          <a:cs typeface="Arial" pitchFamily="34" charset="-120"/>
                        </a:rPr>
                        <a:t>Second-supplier yield</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Danger-zone assumption</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Qualification pass rate</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 95%</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300" dirty="0">
                          <a:solidFill>
                            <a:srgbClr val="1B365D"/>
                          </a:solidFill>
                          <a:latin typeface="Arial" pitchFamily="34" charset="0"/>
                          <a:ea typeface="Arial" pitchFamily="34" charset="-122"/>
                          <a:cs typeface="Arial" pitchFamily="34" charset="-120"/>
                        </a:rPr>
                        <a:t>VP Quality</a:t>
                      </a:r>
                      <a:endParaRPr lang="en-US" sz="13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84048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Illustrative KPIs</a:t>
            </a:r>
            <a:endParaRPr lang="en-US" sz="1000" dirty="0"/>
          </a:p>
        </p:txBody>
      </p:sp>
      <p:sp>
        <p:nvSpPr>
          <p:cNvPr id="5" name="card"/>
          <p:cNvSpPr/>
          <p:nvPr/>
        </p:nvSpPr>
        <p:spPr>
          <a:xfrm>
            <a:off x="548640" y="4251960"/>
            <a:ext cx="3520440" cy="1554480"/>
          </a:xfrm>
          <a:prstGeom prst="roundRect">
            <a:avLst>
              <a:gd name="adj" fmla="val 4706"/>
            </a:avLst>
          </a:prstGeom>
          <a:solidFill>
            <a:srgbClr val="F5F3EE"/>
          </a:solidFill>
          <a:ln w="12700">
            <a:solidFill>
              <a:srgbClr val="F5F3EE"/>
            </a:solidFill>
            <a:prstDash val="solid"/>
          </a:ln>
        </p:spPr>
        <p:txBody>
          <a:bodyPr/>
          <a:p/>
        </p:txBody>
      </p:sp>
      <p:sp>
        <p:nvSpPr>
          <p:cNvPr id="6" name="Shape 3"/>
          <p:cNvSpPr/>
          <p:nvPr/>
        </p:nvSpPr>
        <p:spPr>
          <a:xfrm>
            <a:off x="777240" y="4453128"/>
            <a:ext cx="566928" cy="566928"/>
          </a:xfrm>
          <a:prstGeom prst="ellipse">
            <a:avLst/>
          </a:prstGeom>
          <a:solidFill>
            <a:srgbClr val="1B365D"/>
          </a:solidFill>
          <a:ln w="12700">
            <a:solidFill>
              <a:srgbClr val="1B365D"/>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05256" y="4581144"/>
            <a:ext cx="310896" cy="310896"/>
          </a:xfrm>
          <a:prstGeom prst="rect">
            <a:avLst/>
          </a:prstGeom>
        </p:spPr>
      </p:pic>
      <p:sp>
        <p:nvSpPr>
          <p:cNvPr id="8" name="Text 4"/>
          <p:cNvSpPr txBox="1"/>
          <p:nvPr/>
        </p:nvSpPr>
        <p:spPr>
          <a:xfrm>
            <a:off x="1508760" y="441655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Assumption error</a:t>
            </a:r>
            <a:endParaRPr lang="en-US" sz="1600" dirty="0"/>
          </a:p>
        </p:txBody>
      </p:sp>
      <p:sp>
        <p:nvSpPr>
          <p:cNvPr id="9" name="Text 5"/>
          <p:cNvSpPr txBox="1"/>
          <p:nvPr/>
        </p:nvSpPr>
        <p:spPr>
          <a:xfrm>
            <a:off x="777240" y="5120640"/>
            <a:ext cx="3063240" cy="5486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The input was wrong from the start</a:t>
            </a:r>
            <a:endParaRPr lang="en-US" sz="1300" dirty="0"/>
          </a:p>
        </p:txBody>
      </p:sp>
      <p:sp>
        <p:nvSpPr>
          <p:cNvPr id="10" name="card"/>
          <p:cNvSpPr/>
          <p:nvPr/>
        </p:nvSpPr>
        <p:spPr>
          <a:xfrm>
            <a:off x="4297680" y="4251960"/>
            <a:ext cx="3520440" cy="1554480"/>
          </a:xfrm>
          <a:prstGeom prst="roundRect">
            <a:avLst>
              <a:gd name="adj" fmla="val 4706"/>
            </a:avLst>
          </a:prstGeom>
          <a:solidFill>
            <a:srgbClr val="F5F3EE"/>
          </a:solidFill>
          <a:ln w="12700">
            <a:solidFill>
              <a:srgbClr val="F5F3EE"/>
            </a:solidFill>
            <a:prstDash val="solid"/>
          </a:ln>
        </p:spPr>
        <p:txBody>
          <a:bodyPr/>
          <a:p/>
        </p:txBody>
      </p:sp>
      <p:sp>
        <p:nvSpPr>
          <p:cNvPr id="11" name="Shape 7"/>
          <p:cNvSpPr/>
          <p:nvPr/>
        </p:nvSpPr>
        <p:spPr>
          <a:xfrm>
            <a:off x="4526280" y="4453128"/>
            <a:ext cx="566928" cy="566928"/>
          </a:xfrm>
          <a:prstGeom prst="ellipse">
            <a:avLst/>
          </a:prstGeom>
          <a:solidFill>
            <a:srgbClr val="1B365D"/>
          </a:solidFill>
          <a:ln w="12700">
            <a:solidFill>
              <a:srgbClr val="1B365D"/>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654296" y="4581144"/>
            <a:ext cx="310896" cy="310896"/>
          </a:xfrm>
          <a:prstGeom prst="rect">
            <a:avLst/>
          </a:prstGeom>
        </p:spPr>
      </p:pic>
      <p:sp>
        <p:nvSpPr>
          <p:cNvPr id="13" name="Text 8"/>
          <p:cNvSpPr txBox="1"/>
          <p:nvPr/>
        </p:nvSpPr>
        <p:spPr>
          <a:xfrm>
            <a:off x="5257800" y="441655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Execution gap</a:t>
            </a:r>
            <a:endParaRPr lang="en-US" sz="1600" dirty="0"/>
          </a:p>
        </p:txBody>
      </p:sp>
      <p:sp>
        <p:nvSpPr>
          <p:cNvPr id="14" name="Text 9"/>
          <p:cNvSpPr txBox="1"/>
          <p:nvPr/>
        </p:nvSpPr>
        <p:spPr>
          <a:xfrm>
            <a:off x="4526280" y="5120640"/>
            <a:ext cx="3063240" cy="5486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The assumption held; delivery fell short</a:t>
            </a:r>
            <a:endParaRPr lang="en-US" sz="1300" dirty="0"/>
          </a:p>
        </p:txBody>
      </p:sp>
      <p:sp>
        <p:nvSpPr>
          <p:cNvPr id="15" name="card"/>
          <p:cNvSpPr/>
          <p:nvPr/>
        </p:nvSpPr>
        <p:spPr>
          <a:xfrm>
            <a:off x="8046720" y="4251960"/>
            <a:ext cx="3520440" cy="1554480"/>
          </a:xfrm>
          <a:prstGeom prst="roundRect">
            <a:avLst>
              <a:gd name="adj" fmla="val 4706"/>
            </a:avLst>
          </a:prstGeom>
          <a:solidFill>
            <a:srgbClr val="F5F3EE"/>
          </a:solidFill>
          <a:ln w="12700">
            <a:solidFill>
              <a:srgbClr val="F5F3EE"/>
            </a:solidFill>
            <a:prstDash val="solid"/>
          </a:ln>
        </p:spPr>
        <p:txBody>
          <a:bodyPr/>
          <a:p/>
        </p:txBody>
      </p:sp>
      <p:sp>
        <p:nvSpPr>
          <p:cNvPr id="16" name="Shape 11"/>
          <p:cNvSpPr/>
          <p:nvPr/>
        </p:nvSpPr>
        <p:spPr>
          <a:xfrm>
            <a:off x="8275320" y="4453128"/>
            <a:ext cx="566928" cy="566928"/>
          </a:xfrm>
          <a:prstGeom prst="ellipse">
            <a:avLst/>
          </a:prstGeom>
          <a:solidFill>
            <a:srgbClr val="1B365D"/>
          </a:solidFill>
          <a:ln w="12700">
            <a:solidFill>
              <a:srgbClr val="1B365D"/>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8403336" y="4581144"/>
            <a:ext cx="310896" cy="310896"/>
          </a:xfrm>
          <a:prstGeom prst="rect">
            <a:avLst/>
          </a:prstGeom>
        </p:spPr>
      </p:pic>
      <p:sp>
        <p:nvSpPr>
          <p:cNvPr id="18" name="Text 12"/>
          <p:cNvSpPr txBox="1"/>
          <p:nvPr/>
        </p:nvSpPr>
        <p:spPr>
          <a:xfrm>
            <a:off x="9006840" y="4416552"/>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External shock</a:t>
            </a:r>
            <a:endParaRPr lang="en-US" sz="1600" dirty="0"/>
          </a:p>
        </p:txBody>
      </p:sp>
      <p:sp>
        <p:nvSpPr>
          <p:cNvPr id="19" name="Text 13"/>
          <p:cNvSpPr txBox="1"/>
          <p:nvPr/>
        </p:nvSpPr>
        <p:spPr>
          <a:xfrm>
            <a:off x="8275320" y="5120640"/>
            <a:ext cx="3063240" cy="54864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Outside any reasonable forecast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Memo Coach: your memo stays yours</a:t>
            </a:r>
            <a:endParaRPr lang="en-US" sz="2800" dirty="0"/>
          </a:p>
        </p:txBody>
      </p:sp>
      <p:sp>
        <p:nvSpPr>
          <p:cNvPr id="3" name="card"/>
          <p:cNvSpPr/>
          <p:nvPr/>
        </p:nvSpPr>
        <p:spPr>
          <a:xfrm>
            <a:off x="548640" y="1463040"/>
            <a:ext cx="5440680" cy="3291840"/>
          </a:xfrm>
          <a:prstGeom prst="roundRect">
            <a:avLst>
              <a:gd name="adj" fmla="val 2222"/>
            </a:avLst>
          </a:prstGeom>
          <a:solidFill>
            <a:srgbClr val="F5F3EE"/>
          </a:solidFill>
          <a:ln w="12700">
            <a:solidFill>
              <a:srgbClr val="F5F3EE"/>
            </a:solidFill>
            <a:prstDash val="solid"/>
          </a:ln>
        </p:spPr>
        <p:txBody>
          <a:bodyPr/>
          <a:p/>
        </p:txBody>
      </p:sp>
      <p:sp>
        <p:nvSpPr>
          <p:cNvPr id="4" name="Shape 2"/>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6" name="Text 3"/>
          <p:cNvSpPr txBox="1"/>
          <p:nvPr/>
        </p:nvSpPr>
        <p:spPr>
          <a:xfrm>
            <a:off x="1508760" y="1627632"/>
            <a:ext cx="429768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What it checks</a:t>
            </a:r>
            <a:endParaRPr lang="en-US" sz="1600" dirty="0"/>
          </a:p>
        </p:txBody>
      </p:sp>
      <p:sp>
        <p:nvSpPr>
          <p:cNvPr id="7" name="Text 4"/>
          <p:cNvSpPr txBox="1"/>
          <p:nvPr/>
        </p:nvSpPr>
        <p:spPr>
          <a:xfrm>
            <a:off x="777240" y="2331720"/>
            <a:ext cx="4983480" cy="22860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Answer first: does each recommendation open with a clear choice?</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Three distinct reasons, each pointing to an exhibit</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Claims with no exhibit behind them</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Criteria and matrix agree with the recommendation</a:t>
            </a:r>
            <a:endParaRPr lang="en-US" sz="1400" dirty="0"/>
          </a:p>
          <a:p>
            <a:pPr marL="177800" indent="-177800">
              <a:spcAft>
                <a:spcPts val="400"/>
              </a:spcAft>
              <a:buSzPct val="100000"/>
              <a:buChar char="•"/>
            </a:pPr>
            <a:r>
              <a:rPr lang="en-US" sz="1400" dirty="0">
                <a:solidFill>
                  <a:schemeClr val="tx1"/>
                </a:solidFill>
                <a:latin typeface="Arial" pitchFamily="34" charset="0"/>
                <a:ea typeface="Arial" pitchFamily="34" charset="-122"/>
                <a:cs typeface="Arial" pitchFamily="34" charset="-120"/>
              </a:rPr>
              <a:t>"I", "we", beliefs, predictions, case retelling</a:t>
            </a:r>
            <a:endParaRPr lang="en-US" sz="1400" dirty="0"/>
          </a:p>
        </p:txBody>
      </p:sp>
      <p:sp>
        <p:nvSpPr>
          <p:cNvPr id="8" name="card"/>
          <p:cNvSpPr/>
          <p:nvPr/>
        </p:nvSpPr>
        <p:spPr>
          <a:xfrm>
            <a:off x="6172200" y="1463040"/>
            <a:ext cx="5440680" cy="3291840"/>
          </a:xfrm>
          <a:prstGeom prst="roundRect">
            <a:avLst>
              <a:gd name="adj" fmla="val 2222"/>
            </a:avLst>
          </a:prstGeom>
          <a:solidFill>
            <a:srgbClr val="1B365D"/>
          </a:solidFill>
          <a:ln w="12700">
            <a:solidFill>
              <a:srgbClr val="1B365D"/>
            </a:solidFill>
            <a:prstDash val="solid"/>
          </a:ln>
        </p:spPr>
        <p:txBody>
          <a:bodyPr/>
          <a:p/>
        </p:txBody>
      </p:sp>
      <p:sp>
        <p:nvSpPr>
          <p:cNvPr id="9" name="Shape 6"/>
          <p:cNvSpPr/>
          <p:nvPr/>
        </p:nvSpPr>
        <p:spPr>
          <a:xfrm>
            <a:off x="6400800" y="1664208"/>
            <a:ext cx="566928" cy="566928"/>
          </a:xfrm>
          <a:prstGeom prst="ellipse">
            <a:avLst/>
          </a:prstGeom>
          <a:solidFill>
            <a:srgbClr val="C4A35A"/>
          </a:solidFill>
          <a:ln w="12700">
            <a:solidFill>
              <a:srgbClr val="C4A35A"/>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6528816" y="1792224"/>
            <a:ext cx="310896" cy="310896"/>
          </a:xfrm>
          <a:prstGeom prst="rect">
            <a:avLst/>
          </a:prstGeom>
        </p:spPr>
      </p:pic>
      <p:sp>
        <p:nvSpPr>
          <p:cNvPr id="11" name="Text 7"/>
          <p:cNvSpPr txBox="1"/>
          <p:nvPr/>
        </p:nvSpPr>
        <p:spPr>
          <a:xfrm>
            <a:off x="7132320" y="1627632"/>
            <a:ext cx="4297680" cy="6400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it never does</a:t>
            </a:r>
            <a:endParaRPr lang="en-US" sz="1600" dirty="0"/>
          </a:p>
        </p:txBody>
      </p:sp>
      <p:sp>
        <p:nvSpPr>
          <p:cNvPr id="12" name="Text 8"/>
          <p:cNvSpPr txBox="1"/>
          <p:nvPr/>
        </p:nvSpPr>
        <p:spPr>
          <a:xfrm>
            <a:off x="6400800" y="2331720"/>
            <a:ext cx="4983480" cy="22860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Write or rewrite any sentence of your memo</a:t>
            </a:r>
            <a:endParaRPr lang="en-US" sz="1400" dirty="0"/>
          </a:p>
          <a:p>
            <a:pPr marL="177800" indent="-1778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Draft an Impact Summary</a:t>
            </a:r>
            <a:endParaRPr lang="en-US" sz="1400" dirty="0"/>
          </a:p>
          <a:p>
            <a:pPr marL="177800" indent="-1778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Pick your recommendation</a:t>
            </a:r>
            <a:endParaRPr lang="en-US" sz="1400" dirty="0"/>
          </a:p>
          <a:p>
            <a:pPr marL="177800" indent="-1778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Answer the hostile questions for you</a:t>
            </a:r>
            <a:endParaRPr lang="en-US" sz="1400" dirty="0"/>
          </a:p>
        </p:txBody>
      </p:sp>
      <p:sp>
        <p:nvSpPr>
          <p:cNvPr id="13" name="Shape 9"/>
          <p:cNvSpPr/>
          <p:nvPr/>
        </p:nvSpPr>
        <p:spPr>
          <a:xfrm>
            <a:off x="548640" y="5029200"/>
            <a:ext cx="5440680" cy="594360"/>
          </a:xfrm>
          <a:prstGeom prst="roundRect">
            <a:avLst>
              <a:gd name="adj" fmla="val 9231"/>
            </a:avLst>
          </a:prstGeom>
          <a:solidFill>
            <a:srgbClr val="0F2340"/>
          </a:solidFill>
          <a:ln w="12700">
            <a:solidFill>
              <a:srgbClr val="0F2340"/>
            </a:solidFill>
            <a:prstDash val="solid"/>
          </a:ln>
        </p:spPr>
        <p:txBody>
          <a:bodyPr/>
          <a:p/>
        </p:txBody>
      </p:sp>
      <p:sp>
        <p:nvSpPr>
          <p:cNvPr id="14" name="Text 10"/>
          <p:cNvSpPr txBox="1"/>
          <p:nvPr/>
        </p:nvSpPr>
        <p:spPr>
          <a:xfrm>
            <a:off x="731520" y="5029200"/>
            <a:ext cx="5074920" cy="5943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Coach my memo.</a:t>
            </a:r>
            <a:endParaRPr lang="en-US" sz="1400" dirty="0"/>
          </a:p>
        </p:txBody>
      </p:sp>
      <p:sp>
        <p:nvSpPr>
          <p:cNvPr id="15" name="Shape 11"/>
          <p:cNvSpPr/>
          <p:nvPr/>
        </p:nvSpPr>
        <p:spPr>
          <a:xfrm>
            <a:off x="6172200" y="5029200"/>
            <a:ext cx="5440680" cy="594360"/>
          </a:xfrm>
          <a:prstGeom prst="roundRect">
            <a:avLst>
              <a:gd name="adj" fmla="val 9231"/>
            </a:avLst>
          </a:prstGeom>
          <a:solidFill>
            <a:srgbClr val="0F2340"/>
          </a:solidFill>
          <a:ln w="12700">
            <a:solidFill>
              <a:srgbClr val="0F2340"/>
            </a:solidFill>
            <a:prstDash val="solid"/>
          </a:ln>
        </p:spPr>
        <p:txBody>
          <a:bodyPr/>
          <a:p/>
        </p:txBody>
      </p:sp>
      <p:sp>
        <p:nvSpPr>
          <p:cNvPr id="16" name="Text 12"/>
          <p:cNvSpPr txBox="1"/>
          <p:nvPr/>
        </p:nvSpPr>
        <p:spPr>
          <a:xfrm>
            <a:off x="6355080" y="5029200"/>
            <a:ext cx="5074920" cy="5943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hostile Q&amp;A drill on my recommendation.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Pitch it: board or investors</a:t>
            </a:r>
            <a:endParaRPr lang="en-US" sz="2800" dirty="0"/>
          </a:p>
        </p:txBody>
      </p:sp>
      <p:sp>
        <p:nvSpPr>
          <p:cNvPr id="3" name="Shape 1"/>
          <p:cNvSpPr/>
          <p:nvPr/>
        </p:nvSpPr>
        <p:spPr>
          <a:xfrm>
            <a:off x="9692640" y="612648"/>
            <a:ext cx="1920240" cy="329184"/>
          </a:xfrm>
          <a:prstGeom prst="roundRect">
            <a:avLst>
              <a:gd name="adj" fmla="val 50000"/>
            </a:avLst>
          </a:prstGeom>
          <a:solidFill>
            <a:srgbClr val="C4A35A"/>
          </a:solidFill>
          <a:ln w="12700">
            <a:solidFill>
              <a:srgbClr val="C4A35A"/>
            </a:solidFill>
            <a:prstDash val="solid"/>
          </a:ln>
        </p:spPr>
        <p:txBody>
          <a:bodyPr/>
          <a:p/>
        </p:txBody>
      </p:sp>
      <p:sp>
        <p:nvSpPr>
          <p:cNvPr id="4" name="Text 2"/>
          <p:cNvSpPr txBox="1"/>
          <p:nvPr/>
        </p:nvSpPr>
        <p:spPr>
          <a:xfrm>
            <a:off x="9692640" y="612648"/>
            <a:ext cx="1920240" cy="329184"/>
          </a:xfrm>
          <a:prstGeom prst="rect">
            <a:avLst/>
          </a:prstGeom>
          <a:noFill/>
          <a:ln/>
        </p:spPr>
        <p:txBody>
          <a:bodyPr wrap="square" lIns="0" tIns="0" rIns="0" bIns="0" rtlCol="0" anchor="ctr"/>
          <a:lstStyle/>
          <a:p>
            <a:pPr algn="ctr" indent="0" marL="0">
              <a:buNone/>
            </a:pPr>
            <a:r>
              <a:rPr lang="en-US" sz="1100" b="1" dirty="0">
                <a:solidFill>
                  <a:srgbClr val="1B365D"/>
                </a:solidFill>
                <a:latin typeface="Arial" pitchFamily="34" charset="0"/>
                <a:ea typeface="Arial" pitchFamily="34" charset="-122"/>
                <a:cs typeface="Arial" pitchFamily="34" charset="-120"/>
              </a:rPr>
              <a:t>New · stratiq-pitch</a:t>
            </a:r>
            <a:endParaRPr lang="en-US" sz="1100" dirty="0"/>
          </a:p>
        </p:txBody>
      </p:sp>
      <p:sp>
        <p:nvSpPr>
          <p:cNvPr id="5" name="card"/>
          <p:cNvSpPr/>
          <p:nvPr/>
        </p:nvSpPr>
        <p:spPr>
          <a:xfrm>
            <a:off x="548640" y="1463040"/>
            <a:ext cx="3566160" cy="3246120"/>
          </a:xfrm>
          <a:prstGeom prst="roundRect">
            <a:avLst>
              <a:gd name="adj" fmla="val 2254"/>
            </a:avLst>
          </a:prstGeom>
          <a:solidFill>
            <a:srgbClr val="F5F3EE"/>
          </a:solidFill>
          <a:ln w="12700">
            <a:solidFill>
              <a:srgbClr val="F5F3EE"/>
            </a:solidFill>
            <a:prstDash val="solid"/>
          </a:ln>
        </p:spPr>
        <p:txBody>
          <a:bodyPr/>
          <a:p/>
        </p:txBody>
      </p:sp>
      <p:sp>
        <p:nvSpPr>
          <p:cNvPr id="6" name="Shape 4"/>
          <p:cNvSpPr/>
          <p:nvPr/>
        </p:nvSpPr>
        <p:spPr>
          <a:xfrm>
            <a:off x="777240" y="1664208"/>
            <a:ext cx="566928" cy="566928"/>
          </a:xfrm>
          <a:prstGeom prst="ellipse">
            <a:avLst/>
          </a:prstGeom>
          <a:solidFill>
            <a:srgbClr val="1B365D"/>
          </a:solidFill>
          <a:ln w="12700">
            <a:solidFill>
              <a:srgbClr val="1B365D"/>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05256" y="1792224"/>
            <a:ext cx="310896" cy="310896"/>
          </a:xfrm>
          <a:prstGeom prst="rect">
            <a:avLst/>
          </a:prstGeom>
        </p:spPr>
      </p:pic>
      <p:sp>
        <p:nvSpPr>
          <p:cNvPr id="8" name="Text 5"/>
          <p:cNvSpPr txBox="1"/>
          <p:nvPr/>
        </p:nvSpPr>
        <p:spPr>
          <a:xfrm>
            <a:off x="1508760" y="1627632"/>
            <a:ext cx="2423160" cy="6400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Board pitch · 8-12 slides</a:t>
            </a:r>
            <a:endParaRPr lang="en-US" sz="1600" dirty="0"/>
          </a:p>
        </p:txBody>
      </p:sp>
      <p:sp>
        <p:nvSpPr>
          <p:cNvPr id="9" name="Text 6"/>
          <p:cNvSpPr txBox="1"/>
          <p:nvPr/>
        </p:nvSpPr>
        <p:spPr>
          <a:xfrm>
            <a:off x="777240" y="2331720"/>
            <a:ext cx="3108960" cy="2240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The decision and the ask, first</a:t>
            </a:r>
            <a:endParaRPr lang="en-US" sz="1300" dirty="0"/>
          </a:p>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Options considered and why they lost</a:t>
            </a:r>
            <a:endParaRPr lang="en-US" sz="1300" dirty="0"/>
          </a:p>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Business case and expected value</a:t>
            </a:r>
            <a:endParaRPr lang="en-US" sz="1300" dirty="0"/>
          </a:p>
          <a:p>
            <a:pPr marL="177800" indent="-177800">
              <a:spcAft>
                <a:spcPts val="400"/>
              </a:spcAft>
              <a:buSzPct val="100000"/>
              <a:buChar char="•"/>
            </a:pPr>
            <a:r>
              <a:rPr lang="en-US" sz="1300" dirty="0">
                <a:solidFill>
                  <a:schemeClr val="tx1"/>
                </a:solidFill>
                <a:latin typeface="Arial" pitchFamily="34" charset="0"/>
                <a:ea typeface="Arial" pitchFamily="34" charset="-122"/>
                <a:cs typeface="Arial" pitchFamily="34" charset="-120"/>
              </a:rPr>
              <a:t>Risks, gates, the first 100 days</a:t>
            </a:r>
            <a:endParaRPr lang="en-US" sz="1300" dirty="0"/>
          </a:p>
        </p:txBody>
      </p:sp>
      <p:sp>
        <p:nvSpPr>
          <p:cNvPr id="10" name="card"/>
          <p:cNvSpPr/>
          <p:nvPr/>
        </p:nvSpPr>
        <p:spPr>
          <a:xfrm>
            <a:off x="4297680" y="1463040"/>
            <a:ext cx="3566160" cy="3246120"/>
          </a:xfrm>
          <a:prstGeom prst="roundRect">
            <a:avLst>
              <a:gd name="adj" fmla="val 2254"/>
            </a:avLst>
          </a:prstGeom>
          <a:solidFill>
            <a:srgbClr val="1B365D"/>
          </a:solidFill>
          <a:ln w="12700">
            <a:solidFill>
              <a:srgbClr val="1B365D"/>
            </a:solidFill>
            <a:prstDash val="solid"/>
          </a:ln>
        </p:spPr>
        <p:txBody>
          <a:bodyPr/>
          <a:p/>
        </p:txBody>
      </p:sp>
      <p:sp>
        <p:nvSpPr>
          <p:cNvPr id="11" name="Shape 8"/>
          <p:cNvSpPr/>
          <p:nvPr/>
        </p:nvSpPr>
        <p:spPr>
          <a:xfrm>
            <a:off x="4526280" y="1664208"/>
            <a:ext cx="566928" cy="566928"/>
          </a:xfrm>
          <a:prstGeom prst="ellipse">
            <a:avLst/>
          </a:prstGeom>
          <a:solidFill>
            <a:srgbClr val="C4A35A"/>
          </a:solidFill>
          <a:ln w="12700">
            <a:solidFill>
              <a:srgbClr val="C4A35A"/>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654296" y="1792224"/>
            <a:ext cx="310896" cy="310896"/>
          </a:xfrm>
          <a:prstGeom prst="rect">
            <a:avLst/>
          </a:prstGeom>
        </p:spPr>
      </p:pic>
      <p:sp>
        <p:nvSpPr>
          <p:cNvPr id="13" name="Text 9"/>
          <p:cNvSpPr txBox="1"/>
          <p:nvPr/>
        </p:nvSpPr>
        <p:spPr>
          <a:xfrm>
            <a:off x="5257800" y="1627632"/>
            <a:ext cx="2423160" cy="6400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VC pitch · 10-14 slides</a:t>
            </a:r>
            <a:endParaRPr lang="en-US" sz="1600" dirty="0"/>
          </a:p>
        </p:txBody>
      </p:sp>
      <p:sp>
        <p:nvSpPr>
          <p:cNvPr id="14" name="Text 10"/>
          <p:cNvSpPr txBox="1"/>
          <p:nvPr/>
        </p:nvSpPr>
        <p:spPr>
          <a:xfrm>
            <a:off x="4526280" y="2331720"/>
            <a:ext cx="3108960" cy="2240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Problem, solution, why now</a:t>
            </a:r>
            <a:endParaRPr lang="en-US" sz="1300" dirty="0"/>
          </a:p>
          <a:p>
            <a:pPr marL="177800" indent="-1778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Market two ways, traction, unit economics</a:t>
            </a:r>
            <a:endParaRPr lang="en-US" sz="1300" dirty="0"/>
          </a:p>
          <a:p>
            <a:pPr marL="177800" indent="-1778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Go-to-market, competition, team</a:t>
            </a:r>
            <a:endParaRPr lang="en-US" sz="1300" dirty="0"/>
          </a:p>
          <a:p>
            <a:pPr marL="177800" indent="-1778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Financials, risks, the ask and use of funds</a:t>
            </a:r>
            <a:endParaRPr lang="en-US" sz="1300" dirty="0"/>
          </a:p>
        </p:txBody>
      </p:sp>
      <p:sp>
        <p:nvSpPr>
          <p:cNvPr id="15" name="Shape 11"/>
          <p:cNvSpPr/>
          <p:nvPr/>
        </p:nvSpPr>
        <p:spPr>
          <a:xfrm>
            <a:off x="8046720" y="1463040"/>
            <a:ext cx="3566160" cy="960120"/>
          </a:xfrm>
          <a:prstGeom prst="roundRect">
            <a:avLst>
              <a:gd name="adj" fmla="val 7619"/>
            </a:avLst>
          </a:prstGeom>
          <a:solidFill>
            <a:srgbClr val="F5F3EE"/>
          </a:solidFill>
          <a:ln w="12700">
            <a:solidFill>
              <a:srgbClr val="F5F3EE"/>
            </a:solidFill>
            <a:prstDash val="solid"/>
          </a:ln>
        </p:spPr>
        <p:txBody>
          <a:bodyPr/>
          <a:p/>
        </p:txBody>
      </p:sp>
      <p:sp>
        <p:nvSpPr>
          <p:cNvPr id="16" name="Text 12"/>
          <p:cNvSpPr txBox="1"/>
          <p:nvPr/>
        </p:nvSpPr>
        <p:spPr>
          <a:xfrm>
            <a:off x="8275320" y="1463040"/>
            <a:ext cx="3108960" cy="960120"/>
          </a:xfrm>
          <a:prstGeom prst="rect">
            <a:avLst/>
          </a:prstGeom>
          <a:noFill/>
          <a:ln/>
        </p:spPr>
        <p:txBody>
          <a:bodyPr wrap="square" lIns="0" tIns="0" rIns="0" bIns="0" rtlCol="0" anchor="ctr"/>
          <a:lstStyle/>
          <a:p>
            <a:pPr indent="0" marL="0">
              <a:buNone/>
            </a:pPr>
            <a:r>
              <a:rPr lang="en-US" sz="1600" b="1" dirty="0">
                <a:solidFill>
                  <a:srgbClr val="1B365D"/>
                </a:solidFill>
                <a:latin typeface="Arial" pitchFamily="34" charset="0"/>
                <a:ea typeface="Arial" pitchFamily="34" charset="-122"/>
                <a:cs typeface="Arial" pitchFamily="34" charset="-120"/>
              </a:rPr>
              <a:t>TAM  </a:t>
            </a:r>
            <a:pPr indent="0" marL="0">
              <a:buNone/>
            </a:pPr>
            <a:r>
              <a:rPr lang="en-US" sz="2800" b="1" dirty="0">
                <a:solidFill>
                  <a:srgbClr val="1B365D"/>
                </a:solidFill>
                <a:latin typeface="Georgia" pitchFamily="34" charset="0"/>
                <a:ea typeface="Georgia" pitchFamily="34" charset="-122"/>
                <a:cs typeface="Georgia" pitchFamily="34" charset="-120"/>
              </a:rPr>
              <a:t>$420B</a:t>
            </a:r>
            <a:endParaRPr lang="en-US" sz="1600" dirty="0"/>
          </a:p>
        </p:txBody>
      </p:sp>
      <p:sp>
        <p:nvSpPr>
          <p:cNvPr id="17" name="Shape 13"/>
          <p:cNvSpPr/>
          <p:nvPr/>
        </p:nvSpPr>
        <p:spPr>
          <a:xfrm>
            <a:off x="8046720" y="2560320"/>
            <a:ext cx="3566160" cy="960120"/>
          </a:xfrm>
          <a:prstGeom prst="roundRect">
            <a:avLst>
              <a:gd name="adj" fmla="val 7619"/>
            </a:avLst>
          </a:prstGeom>
          <a:solidFill>
            <a:srgbClr val="F5F3EE"/>
          </a:solidFill>
          <a:ln w="12700">
            <a:solidFill>
              <a:srgbClr val="F5F3EE"/>
            </a:solidFill>
            <a:prstDash val="solid"/>
          </a:ln>
        </p:spPr>
        <p:txBody>
          <a:bodyPr/>
          <a:p/>
        </p:txBody>
      </p:sp>
      <p:sp>
        <p:nvSpPr>
          <p:cNvPr id="18" name="Text 14"/>
          <p:cNvSpPr txBox="1"/>
          <p:nvPr/>
        </p:nvSpPr>
        <p:spPr>
          <a:xfrm>
            <a:off x="8275320" y="2560320"/>
            <a:ext cx="3108960" cy="960120"/>
          </a:xfrm>
          <a:prstGeom prst="rect">
            <a:avLst/>
          </a:prstGeom>
          <a:noFill/>
          <a:ln/>
        </p:spPr>
        <p:txBody>
          <a:bodyPr wrap="square" lIns="0" tIns="0" rIns="0" bIns="0" rtlCol="0" anchor="ctr"/>
          <a:lstStyle/>
          <a:p>
            <a:pPr indent="0" marL="0">
              <a:buNone/>
            </a:pPr>
            <a:r>
              <a:rPr lang="en-US" sz="1600" b="1" dirty="0">
                <a:solidFill>
                  <a:srgbClr val="1B365D"/>
                </a:solidFill>
                <a:latin typeface="Arial" pitchFamily="34" charset="0"/>
                <a:ea typeface="Arial" pitchFamily="34" charset="-122"/>
                <a:cs typeface="Arial" pitchFamily="34" charset="-120"/>
              </a:rPr>
              <a:t>SAM  </a:t>
            </a:r>
            <a:pPr indent="0" marL="0">
              <a:buNone/>
            </a:pPr>
            <a:r>
              <a:rPr lang="en-US" sz="2800" b="1" dirty="0">
                <a:solidFill>
                  <a:srgbClr val="1B365D"/>
                </a:solidFill>
                <a:latin typeface="Georgia" pitchFamily="34" charset="0"/>
                <a:ea typeface="Georgia" pitchFamily="34" charset="-122"/>
                <a:cs typeface="Georgia" pitchFamily="34" charset="-120"/>
              </a:rPr>
              <a:t>$65B</a:t>
            </a:r>
            <a:endParaRPr lang="en-US" sz="1600" dirty="0"/>
          </a:p>
        </p:txBody>
      </p:sp>
      <p:sp>
        <p:nvSpPr>
          <p:cNvPr id="19" name="Shape 15"/>
          <p:cNvSpPr/>
          <p:nvPr/>
        </p:nvSpPr>
        <p:spPr>
          <a:xfrm>
            <a:off x="8046720" y="3657600"/>
            <a:ext cx="3566160" cy="960120"/>
          </a:xfrm>
          <a:prstGeom prst="roundRect">
            <a:avLst>
              <a:gd name="adj" fmla="val 7619"/>
            </a:avLst>
          </a:prstGeom>
          <a:solidFill>
            <a:srgbClr val="C4A35A"/>
          </a:solidFill>
          <a:ln w="12700">
            <a:solidFill>
              <a:srgbClr val="C4A35A"/>
            </a:solidFill>
            <a:prstDash val="solid"/>
          </a:ln>
        </p:spPr>
        <p:txBody>
          <a:bodyPr/>
          <a:p/>
        </p:txBody>
      </p:sp>
      <p:sp>
        <p:nvSpPr>
          <p:cNvPr id="20" name="Text 16"/>
          <p:cNvSpPr txBox="1"/>
          <p:nvPr/>
        </p:nvSpPr>
        <p:spPr>
          <a:xfrm>
            <a:off x="8275320" y="3657600"/>
            <a:ext cx="3108960" cy="960120"/>
          </a:xfrm>
          <a:prstGeom prst="rect">
            <a:avLst/>
          </a:prstGeom>
          <a:noFill/>
          <a:ln/>
        </p:spPr>
        <p:txBody>
          <a:bodyPr wrap="square" lIns="0" tIns="0" rIns="0" bIns="0" rtlCol="0" anchor="ctr"/>
          <a:lstStyle/>
          <a:p>
            <a:pPr indent="0" marL="0">
              <a:buNone/>
            </a:pPr>
            <a:r>
              <a:rPr lang="en-US" sz="1600" b="1" dirty="0">
                <a:solidFill>
                  <a:srgbClr val="1B365D"/>
                </a:solidFill>
                <a:latin typeface="Arial" pitchFamily="34" charset="0"/>
                <a:ea typeface="Arial" pitchFamily="34" charset="-122"/>
                <a:cs typeface="Arial" pitchFamily="34" charset="-120"/>
              </a:rPr>
              <a:t>SOM  </a:t>
            </a:r>
            <a:pPr indent="0" marL="0">
              <a:buNone/>
            </a:pPr>
            <a:r>
              <a:rPr lang="en-US" sz="2800" b="1" dirty="0">
                <a:solidFill>
                  <a:srgbClr val="1B365D"/>
                </a:solidFill>
                <a:latin typeface="Georgia" pitchFamily="34" charset="0"/>
                <a:ea typeface="Georgia" pitchFamily="34" charset="-122"/>
                <a:cs typeface="Georgia" pitchFamily="34" charset="-120"/>
              </a:rPr>
              <a:t>$1.6B</a:t>
            </a:r>
            <a:endParaRPr lang="en-US" sz="1600" dirty="0"/>
          </a:p>
        </p:txBody>
      </p:sp>
      <p:sp>
        <p:nvSpPr>
          <p:cNvPr id="21" name="Text 17"/>
          <p:cNvSpPr txBox="1"/>
          <p:nvPr/>
        </p:nvSpPr>
        <p:spPr>
          <a:xfrm>
            <a:off x="8046720" y="4800600"/>
            <a:ext cx="3566160"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Illustrative · SAM checked top-down and bottom-up</a:t>
            </a:r>
            <a:endParaRPr lang="en-US" sz="1000" dirty="0"/>
          </a:p>
        </p:txBody>
      </p:sp>
      <p:sp>
        <p:nvSpPr>
          <p:cNvPr id="22" name="Shape 18"/>
          <p:cNvSpPr/>
          <p:nvPr/>
        </p:nvSpPr>
        <p:spPr>
          <a:xfrm>
            <a:off x="548640" y="4983480"/>
            <a:ext cx="7315200" cy="914400"/>
          </a:xfrm>
          <a:prstGeom prst="roundRect">
            <a:avLst>
              <a:gd name="adj" fmla="val 8000"/>
            </a:avLst>
          </a:prstGeom>
          <a:solidFill>
            <a:srgbClr val="F5F3EE"/>
          </a:solidFill>
          <a:ln w="12700">
            <a:solidFill>
              <a:srgbClr val="F5F3EE"/>
            </a:solidFill>
            <a:prstDash val="solid"/>
          </a:ln>
        </p:spPr>
        <p:txBody>
          <a:bodyPr/>
          <a:p/>
        </p:txBody>
      </p:sp>
      <p:sp>
        <p:nvSpPr>
          <p:cNvPr id="23" name="Text 19"/>
          <p:cNvSpPr txBox="1"/>
          <p:nvPr/>
        </p:nvSpPr>
        <p:spPr>
          <a:xfrm>
            <a:off x="777240" y="4983480"/>
            <a:ext cx="6858000" cy="91440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Every number comes from your ledger. </a:t>
            </a:r>
            <a:pPr indent="0" marL="0">
              <a:buNone/>
            </a:pPr>
            <a:r>
              <a:rPr lang="en-US" sz="1400" dirty="0">
                <a:solidFill>
                  <a:schemeClr val="tx1"/>
                </a:solidFill>
                <a:latin typeface="Arial" pitchFamily="34" charset="0"/>
                <a:ea typeface="Arial" pitchFamily="34" charset="-122"/>
                <a:cs typeface="Arial" pitchFamily="34" charset="-120"/>
              </a:rPr>
              <a:t>No invented traction. A readiness scorecard names the three weakest slides, then the hostile Q&amp;A drill runs in investor voice.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Using Part 3 for your case memo</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840480"/>
                <a:gridCol w="7223760"/>
              </a:tblGrid>
              <a:tr h="438912">
                <a:tc>
                  <a:txBody>
                    <a:bodyPr/>
                    <a:lstStyle/>
                    <a:p>
                      <a:pPr indent="0" marL="0">
                        <a:buNone/>
                      </a:pPr>
                      <a:r>
                        <a:rPr lang="en-US" sz="1400" b="1" dirty="0">
                          <a:solidFill>
                            <a:srgbClr val="FFFFFF"/>
                          </a:solidFill>
                          <a:latin typeface="Arial" pitchFamily="34" charset="0"/>
                          <a:ea typeface="Arial" pitchFamily="34" charset="-122"/>
                          <a:cs typeface="Arial" pitchFamily="34" charset="-120"/>
                        </a:rPr>
                        <a:t>Optional exhibit (not in the template)</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Built from</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1B365D"/>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P. Strategic Options</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Your confirmed alternatives, with the SCQ and issue tree</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Q-1. Business Case</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Your confirmed inputs: NPV, IRR, payback, break-even</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Q-2. Expected Value</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Your probabilities: expected NPV, risk, sensitivity</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R. Stress Test</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Your recommendation: assumptions, responses, risks</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S. Implementation Plan</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Ranked initiatives, first 100 days, milestones, KPIs</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5F3EE"/>
                    </a:solidFill>
                  </a:tcPr>
                </a:tc>
              </a:tr>
              <a:tr h="438912">
                <a:tc>
                  <a:txBody>
                    <a:bodyPr/>
                    <a:lstStyle/>
                    <a:p>
                      <a:pPr indent="0" marL="0">
                        <a:buNone/>
                      </a:pPr>
                      <a:r>
                        <a:rPr lang="en-US" sz="1400" dirty="0">
                          <a:solidFill>
                            <a:srgbClr val="1B365D"/>
                          </a:solidFill>
                          <a:latin typeface="Arial" pitchFamily="34" charset="0"/>
                          <a:ea typeface="Arial" pitchFamily="34" charset="-122"/>
                          <a:cs typeface="Arial" pitchFamily="34" charset="-120"/>
                        </a:rPr>
                        <a:t>T. Go-to-Market Plan</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400" dirty="0">
                          <a:solidFill>
                            <a:srgbClr val="1B365D"/>
                          </a:solidFill>
                          <a:latin typeface="Arial" pitchFamily="34" charset="0"/>
                          <a:ea typeface="Arial" pitchFamily="34" charset="-122"/>
                          <a:cs typeface="Arial" pitchFamily="34" charset="-120"/>
                        </a:rPr>
                        <a:t>Beachhead, ICP, channels, funnel and CAC from your strategy</a:t>
                      </a:r>
                      <a:endParaRPr lang="en-US" sz="1400" dirty="0">
                        <a:latin typeface="Arial" charset="0"/>
                        <a:ea typeface="Arial" charset="0"/>
                        <a:cs typeface="Arial" charset="0"/>
                      </a:endParaRPr>
                    </a:p>
                  </a:txBody>
                  <a:tcPr marL="91440" marR="91440" marT="45720" marB="45720">
                    <a:lnL w="9525" cap="flat" cmpd="sng" algn="ctr">
                      <a:solidFill>
                        <a:srgbClr val="D9D4C7"/>
                      </a:solidFill>
                      <a:prstDash val="solid"/>
                      <a:round/>
                      <a:headEnd type="none" w="med" len="med"/>
                      <a:tailEnd type="none" w="med" len="med"/>
                    </a:lnL>
                    <a:lnR w="9525" cap="flat" cmpd="sng" algn="ctr">
                      <a:solidFill>
                        <a:srgbClr val="D9D4C7"/>
                      </a:solidFill>
                      <a:prstDash val="solid"/>
                      <a:round/>
                      <a:headEnd type="none" w="med" len="med"/>
                      <a:tailEnd type="none" w="med" len="med"/>
                    </a:lnR>
                    <a:lnT w="9525" cap="flat" cmpd="sng" algn="ctr">
                      <a:solidFill>
                        <a:srgbClr val="D9D4C7"/>
                      </a:solidFill>
                      <a:prstDash val="solid"/>
                      <a:round/>
                      <a:headEnd type="none" w="med" len="med"/>
                      <a:tailEnd type="none" w="med" len="med"/>
                    </a:lnT>
                    <a:lnB w="9525" cap="flat" cmpd="sng" algn="ctr">
                      <a:solidFill>
                        <a:srgbClr val="D9D4C7"/>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846320"/>
            <a:ext cx="11064240" cy="1051560"/>
          </a:xfrm>
          <a:prstGeom prst="roundRect">
            <a:avLst>
              <a:gd name="adj" fmla="val 6957"/>
            </a:avLst>
          </a:prstGeom>
          <a:solidFill>
            <a:srgbClr val="F5F3EE"/>
          </a:solidFill>
          <a:ln w="12700">
            <a:solidFill>
              <a:srgbClr val="F5F3EE"/>
            </a:solidFill>
            <a:prstDash val="solid"/>
          </a:ln>
        </p:spPr>
        <p:txBody>
          <a:bodyPr/>
          <a:p/>
        </p:txBody>
      </p:sp>
      <p:sp>
        <p:nvSpPr>
          <p:cNvPr id="5" name="Text 2"/>
          <p:cNvSpPr txBox="1"/>
          <p:nvPr/>
        </p:nvSpPr>
        <p:spPr>
          <a:xfrm>
            <a:off x="822960" y="4846320"/>
            <a:ext cx="10515600" cy="10515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Use them when they strengthen your argument. </a:t>
            </a:r>
            <a:pPr indent="0" marL="0">
              <a:buNone/>
            </a:pPr>
            <a:r>
              <a:rPr lang="en-US" sz="1500" dirty="0">
                <a:solidFill>
                  <a:schemeClr val="tx1"/>
                </a:solidFill>
                <a:latin typeface="Arial" pitchFamily="34" charset="0"/>
                <a:ea typeface="Arial" pitchFamily="34" charset="-122"/>
                <a:cs typeface="Arial" pitchFamily="34" charset="-120"/>
              </a:rPr>
              <a:t>Each carries a blank Impact Summary for you, and none contains the recommendation itself. Exhibits A, B, the memo and every Impact Summary remain yours.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Try these once v3 is installed</a:t>
            </a:r>
            <a:endParaRPr lang="en-US" sz="2800" dirty="0"/>
          </a:p>
        </p:txBody>
      </p:sp>
      <p:sp>
        <p:nvSpPr>
          <p:cNvPr id="3" name="Shape 1"/>
          <p:cNvSpPr/>
          <p:nvPr/>
        </p:nvSpPr>
        <p:spPr>
          <a:xfrm>
            <a:off x="548640" y="1463040"/>
            <a:ext cx="7863840" cy="713232"/>
          </a:xfrm>
          <a:prstGeom prst="roundRect">
            <a:avLst>
              <a:gd name="adj" fmla="val 7692"/>
            </a:avLst>
          </a:prstGeom>
          <a:solidFill>
            <a:srgbClr val="0F2340"/>
          </a:solidFill>
          <a:ln w="12700">
            <a:solidFill>
              <a:srgbClr val="0F2340"/>
            </a:solidFill>
            <a:prstDash val="solid"/>
          </a:ln>
        </p:spPr>
        <p:txBody>
          <a:bodyPr/>
          <a:p/>
        </p:txBody>
      </p:sp>
      <p:sp>
        <p:nvSpPr>
          <p:cNvPr id="4" name="Text 2"/>
          <p:cNvSpPr txBox="1"/>
          <p:nvPr/>
        </p:nvSpPr>
        <p:spPr>
          <a:xfrm>
            <a:off x="731520" y="1463040"/>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What are BYD's real strategic options for Europe? Include do nothing.</a:t>
            </a:r>
            <a:endParaRPr lang="en-US" sz="1400" dirty="0"/>
          </a:p>
        </p:txBody>
      </p:sp>
      <p:sp>
        <p:nvSpPr>
          <p:cNvPr id="5" name="Text 3"/>
          <p:cNvSpPr txBox="1"/>
          <p:nvPr/>
        </p:nvSpPr>
        <p:spPr>
          <a:xfrm>
            <a:off x="8595360" y="1463040"/>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Strategic Options</a:t>
            </a:r>
            <a:endParaRPr lang="en-US" sz="1300" dirty="0"/>
          </a:p>
        </p:txBody>
      </p:sp>
      <p:sp>
        <p:nvSpPr>
          <p:cNvPr id="6" name="Shape 4"/>
          <p:cNvSpPr/>
          <p:nvPr/>
        </p:nvSpPr>
        <p:spPr>
          <a:xfrm>
            <a:off x="548640" y="2359152"/>
            <a:ext cx="7863840" cy="713232"/>
          </a:xfrm>
          <a:prstGeom prst="roundRect">
            <a:avLst>
              <a:gd name="adj" fmla="val 7692"/>
            </a:avLst>
          </a:prstGeom>
          <a:solidFill>
            <a:srgbClr val="0F2340"/>
          </a:solidFill>
          <a:ln w="12700">
            <a:solidFill>
              <a:srgbClr val="0F2340"/>
            </a:solidFill>
            <a:prstDash val="solid"/>
          </a:ln>
        </p:spPr>
        <p:txBody>
          <a:bodyPr/>
          <a:p/>
        </p:txBody>
      </p:sp>
      <p:sp>
        <p:nvSpPr>
          <p:cNvPr id="7" name="Text 5"/>
          <p:cNvSpPr txBox="1"/>
          <p:nvPr/>
        </p:nvSpPr>
        <p:spPr>
          <a:xfrm>
            <a:off x="731520" y="2359152"/>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Build a business case for Rivian partnering for LFP cells.</a:t>
            </a:r>
            <a:endParaRPr lang="en-US" sz="1400" dirty="0"/>
          </a:p>
        </p:txBody>
      </p:sp>
      <p:sp>
        <p:nvSpPr>
          <p:cNvPr id="8" name="Text 6"/>
          <p:cNvSpPr txBox="1"/>
          <p:nvPr/>
        </p:nvSpPr>
        <p:spPr>
          <a:xfrm>
            <a:off x="8595360" y="2359152"/>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Business Case</a:t>
            </a:r>
            <a:endParaRPr lang="en-US" sz="1300" dirty="0"/>
          </a:p>
        </p:txBody>
      </p:sp>
      <p:sp>
        <p:nvSpPr>
          <p:cNvPr id="9" name="Shape 7"/>
          <p:cNvSpPr/>
          <p:nvPr/>
        </p:nvSpPr>
        <p:spPr>
          <a:xfrm>
            <a:off x="548640" y="3255264"/>
            <a:ext cx="7863840" cy="713232"/>
          </a:xfrm>
          <a:prstGeom prst="roundRect">
            <a:avLst>
              <a:gd name="adj" fmla="val 7692"/>
            </a:avLst>
          </a:prstGeom>
          <a:solidFill>
            <a:srgbClr val="0F2340"/>
          </a:solidFill>
          <a:ln w="12700">
            <a:solidFill>
              <a:srgbClr val="0F2340"/>
            </a:solidFill>
            <a:prstDash val="solid"/>
          </a:ln>
        </p:spPr>
        <p:txBody>
          <a:bodyPr/>
          <a:p/>
        </p:txBody>
      </p:sp>
      <p:sp>
        <p:nvSpPr>
          <p:cNvPr id="10" name="Text 8"/>
          <p:cNvSpPr txBox="1"/>
          <p:nvPr/>
        </p:nvSpPr>
        <p:spPr>
          <a:xfrm>
            <a:off x="731520" y="3255264"/>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Which is the better bet under uncertainty, and how fragile is that answer?</a:t>
            </a:r>
            <a:endParaRPr lang="en-US" sz="1400" dirty="0"/>
          </a:p>
        </p:txBody>
      </p:sp>
      <p:sp>
        <p:nvSpPr>
          <p:cNvPr id="11" name="Text 9"/>
          <p:cNvSpPr txBox="1"/>
          <p:nvPr/>
        </p:nvSpPr>
        <p:spPr>
          <a:xfrm>
            <a:off x="8595360" y="3255264"/>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Expected Value</a:t>
            </a:r>
            <a:endParaRPr lang="en-US" sz="1300" dirty="0"/>
          </a:p>
        </p:txBody>
      </p:sp>
      <p:sp>
        <p:nvSpPr>
          <p:cNvPr id="12" name="Shape 10"/>
          <p:cNvSpPr/>
          <p:nvPr/>
        </p:nvSpPr>
        <p:spPr>
          <a:xfrm>
            <a:off x="548640" y="4151376"/>
            <a:ext cx="7863840" cy="713232"/>
          </a:xfrm>
          <a:prstGeom prst="roundRect">
            <a:avLst>
              <a:gd name="adj" fmla="val 7692"/>
            </a:avLst>
          </a:prstGeom>
          <a:solidFill>
            <a:srgbClr val="0F2340"/>
          </a:solidFill>
          <a:ln w="12700">
            <a:solidFill>
              <a:srgbClr val="0F2340"/>
            </a:solidFill>
            <a:prstDash val="solid"/>
          </a:ln>
        </p:spPr>
        <p:txBody>
          <a:bodyPr/>
          <a:p/>
        </p:txBody>
      </p:sp>
      <p:sp>
        <p:nvSpPr>
          <p:cNvPr id="13" name="Text 11"/>
          <p:cNvSpPr txBox="1"/>
          <p:nvPr/>
        </p:nvSpPr>
        <p:spPr>
          <a:xfrm>
            <a:off x="731520" y="4151376"/>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What is the go-to-market plan for a sub-$35k model?</a:t>
            </a:r>
            <a:endParaRPr lang="en-US" sz="1400" dirty="0"/>
          </a:p>
        </p:txBody>
      </p:sp>
      <p:sp>
        <p:nvSpPr>
          <p:cNvPr id="14" name="Text 12"/>
          <p:cNvSpPr txBox="1"/>
          <p:nvPr/>
        </p:nvSpPr>
        <p:spPr>
          <a:xfrm>
            <a:off x="8595360" y="4151376"/>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Go-to-Market</a:t>
            </a:r>
            <a:endParaRPr lang="en-US" sz="1300" dirty="0"/>
          </a:p>
        </p:txBody>
      </p:sp>
      <p:sp>
        <p:nvSpPr>
          <p:cNvPr id="15" name="Shape 13"/>
          <p:cNvSpPr/>
          <p:nvPr/>
        </p:nvSpPr>
        <p:spPr>
          <a:xfrm>
            <a:off x="548640" y="5047488"/>
            <a:ext cx="7863840" cy="713232"/>
          </a:xfrm>
          <a:prstGeom prst="roundRect">
            <a:avLst>
              <a:gd name="adj" fmla="val 7692"/>
            </a:avLst>
          </a:prstGeom>
          <a:solidFill>
            <a:srgbClr val="0F2340"/>
          </a:solidFill>
          <a:ln w="12700">
            <a:solidFill>
              <a:srgbClr val="0F2340"/>
            </a:solidFill>
            <a:prstDash val="solid"/>
          </a:ln>
        </p:spPr>
        <p:txBody>
          <a:bodyPr/>
          <a:p/>
        </p:txBody>
      </p:sp>
      <p:sp>
        <p:nvSpPr>
          <p:cNvPr id="16" name="Text 14"/>
          <p:cNvSpPr txBox="1"/>
          <p:nvPr/>
        </p:nvSpPr>
        <p:spPr>
          <a:xfrm>
            <a:off x="731520" y="5047488"/>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Build the VC pitch for our strategy.</a:t>
            </a:r>
            <a:endParaRPr lang="en-US" sz="1400" dirty="0"/>
          </a:p>
        </p:txBody>
      </p:sp>
      <p:sp>
        <p:nvSpPr>
          <p:cNvPr id="17" name="Text 15"/>
          <p:cNvSpPr txBox="1"/>
          <p:nvPr/>
        </p:nvSpPr>
        <p:spPr>
          <a:xfrm>
            <a:off x="8595360" y="5047488"/>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Pitch</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65760"/>
            <a:ext cx="92354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Georgia" pitchFamily="34" charset="0"/>
                <a:ea typeface="Georgia" pitchFamily="34" charset="-122"/>
                <a:cs typeface="Georgia" pitchFamily="34" charset="-120"/>
              </a:rPr>
              <a:t>GLO-BUS: get unstuck in five prompts</a:t>
            </a:r>
            <a:endParaRPr lang="en-US" sz="2800" dirty="0"/>
          </a:p>
        </p:txBody>
      </p:sp>
      <p:sp>
        <p:nvSpPr>
          <p:cNvPr id="3" name="Shape 1"/>
          <p:cNvSpPr/>
          <p:nvPr/>
        </p:nvSpPr>
        <p:spPr>
          <a:xfrm>
            <a:off x="548640" y="1463040"/>
            <a:ext cx="7863840" cy="713232"/>
          </a:xfrm>
          <a:prstGeom prst="roundRect">
            <a:avLst>
              <a:gd name="adj" fmla="val 7692"/>
            </a:avLst>
          </a:prstGeom>
          <a:solidFill>
            <a:srgbClr val="0F2340"/>
          </a:solidFill>
          <a:ln w="12700">
            <a:solidFill>
              <a:srgbClr val="0F2340"/>
            </a:solidFill>
            <a:prstDash val="solid"/>
          </a:ln>
        </p:spPr>
        <p:txBody>
          <a:bodyPr/>
          <a:p/>
        </p:txBody>
      </p:sp>
      <p:sp>
        <p:nvSpPr>
          <p:cNvPr id="4" name="Text 2"/>
          <p:cNvSpPr txBox="1"/>
          <p:nvPr/>
        </p:nvSpPr>
        <p:spPr>
          <a:xfrm>
            <a:off x="731520" y="1463040"/>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GLO-BUS Coach, mode 1, on the drone industry.</a:t>
            </a:r>
            <a:endParaRPr lang="en-US" sz="1400" dirty="0"/>
          </a:p>
        </p:txBody>
      </p:sp>
      <p:sp>
        <p:nvSpPr>
          <p:cNvPr id="5" name="Text 3"/>
          <p:cNvSpPr txBox="1"/>
          <p:nvPr/>
        </p:nvSpPr>
        <p:spPr>
          <a:xfrm>
            <a:off x="8595360" y="1463040"/>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Learn the real industry</a:t>
            </a:r>
            <a:endParaRPr lang="en-US" sz="1300" dirty="0"/>
          </a:p>
        </p:txBody>
      </p:sp>
      <p:sp>
        <p:nvSpPr>
          <p:cNvPr id="6" name="Shape 4"/>
          <p:cNvSpPr/>
          <p:nvPr/>
        </p:nvSpPr>
        <p:spPr>
          <a:xfrm>
            <a:off x="548640" y="2359152"/>
            <a:ext cx="7863840" cy="713232"/>
          </a:xfrm>
          <a:prstGeom prst="roundRect">
            <a:avLst>
              <a:gd name="adj" fmla="val 7692"/>
            </a:avLst>
          </a:prstGeom>
          <a:solidFill>
            <a:srgbClr val="0F2340"/>
          </a:solidFill>
          <a:ln w="12700">
            <a:solidFill>
              <a:srgbClr val="0F2340"/>
            </a:solidFill>
            <a:prstDash val="solid"/>
          </a:ln>
        </p:spPr>
        <p:txBody>
          <a:bodyPr/>
          <a:p/>
        </p:txBody>
      </p:sp>
      <p:sp>
        <p:nvSpPr>
          <p:cNvPr id="7" name="Text 5"/>
          <p:cNvSpPr txBox="1"/>
          <p:nvPr/>
        </p:nvSpPr>
        <p:spPr>
          <a:xfrm>
            <a:off x="731520" y="2359152"/>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Run the GLO-BUS Coach, mode 2. Give me the fill-in template.</a:t>
            </a:r>
            <a:endParaRPr lang="en-US" sz="1400" dirty="0"/>
          </a:p>
        </p:txBody>
      </p:sp>
      <p:sp>
        <p:nvSpPr>
          <p:cNvPr id="8" name="Text 6"/>
          <p:cNvSpPr txBox="1"/>
          <p:nvPr/>
        </p:nvSpPr>
        <p:spPr>
          <a:xfrm>
            <a:off x="8595360" y="2359152"/>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CIR template</a:t>
            </a:r>
            <a:endParaRPr lang="en-US" sz="1300" dirty="0"/>
          </a:p>
        </p:txBody>
      </p:sp>
      <p:sp>
        <p:nvSpPr>
          <p:cNvPr id="9" name="Shape 7"/>
          <p:cNvSpPr/>
          <p:nvPr/>
        </p:nvSpPr>
        <p:spPr>
          <a:xfrm>
            <a:off x="548640" y="3255264"/>
            <a:ext cx="7863840" cy="713232"/>
          </a:xfrm>
          <a:prstGeom prst="roundRect">
            <a:avLst>
              <a:gd name="adj" fmla="val 7692"/>
            </a:avLst>
          </a:prstGeom>
          <a:solidFill>
            <a:srgbClr val="0F2340"/>
          </a:solidFill>
          <a:ln w="12700">
            <a:solidFill>
              <a:srgbClr val="0F2340"/>
            </a:solidFill>
            <a:prstDash val="solid"/>
          </a:ln>
        </p:spPr>
        <p:txBody>
          <a:bodyPr/>
          <a:p/>
        </p:txBody>
      </p:sp>
      <p:sp>
        <p:nvSpPr>
          <p:cNvPr id="10" name="Text 8"/>
          <p:cNvSpPr txBox="1"/>
          <p:nvPr/>
        </p:nvSpPr>
        <p:spPr>
          <a:xfrm>
            <a:off x="731520" y="3255264"/>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Here is our Year 6 CIR. Map the strategic groups and find our white space.</a:t>
            </a:r>
            <a:endParaRPr lang="en-US" sz="1400" dirty="0"/>
          </a:p>
        </p:txBody>
      </p:sp>
      <p:sp>
        <p:nvSpPr>
          <p:cNvPr id="11" name="Text 9"/>
          <p:cNvSpPr txBox="1"/>
          <p:nvPr/>
        </p:nvSpPr>
        <p:spPr>
          <a:xfrm>
            <a:off x="8595360" y="3255264"/>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CIR gap analysis</a:t>
            </a:r>
            <a:endParaRPr lang="en-US" sz="1300" dirty="0"/>
          </a:p>
        </p:txBody>
      </p:sp>
      <p:sp>
        <p:nvSpPr>
          <p:cNvPr id="12" name="Shape 10"/>
          <p:cNvSpPr/>
          <p:nvPr/>
        </p:nvSpPr>
        <p:spPr>
          <a:xfrm>
            <a:off x="548640" y="4151376"/>
            <a:ext cx="7863840" cy="713232"/>
          </a:xfrm>
          <a:prstGeom prst="roundRect">
            <a:avLst>
              <a:gd name="adj" fmla="val 7692"/>
            </a:avLst>
          </a:prstGeom>
          <a:solidFill>
            <a:srgbClr val="0F2340"/>
          </a:solidFill>
          <a:ln w="12700">
            <a:solidFill>
              <a:srgbClr val="0F2340"/>
            </a:solidFill>
            <a:prstDash val="solid"/>
          </a:ln>
        </p:spPr>
        <p:txBody>
          <a:bodyPr/>
          <a:p/>
        </p:txBody>
      </p:sp>
      <p:sp>
        <p:nvSpPr>
          <p:cNvPr id="13" name="Text 11"/>
          <p:cNvSpPr txBox="1"/>
          <p:nvPr/>
        </p:nvSpPr>
        <p:spPr>
          <a:xfrm>
            <a:off x="731520" y="4151376"/>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Who won share in drones last year, and was it profitable?</a:t>
            </a:r>
            <a:endParaRPr lang="en-US" sz="1400" dirty="0"/>
          </a:p>
        </p:txBody>
      </p:sp>
      <p:sp>
        <p:nvSpPr>
          <p:cNvPr id="14" name="Text 12"/>
          <p:cNvSpPr txBox="1"/>
          <p:nvPr/>
        </p:nvSpPr>
        <p:spPr>
          <a:xfrm>
            <a:off x="8595360" y="4151376"/>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Leader and margin</a:t>
            </a:r>
            <a:endParaRPr lang="en-US" sz="1300" dirty="0"/>
          </a:p>
        </p:txBody>
      </p:sp>
      <p:sp>
        <p:nvSpPr>
          <p:cNvPr id="15" name="Shape 13"/>
          <p:cNvSpPr/>
          <p:nvPr/>
        </p:nvSpPr>
        <p:spPr>
          <a:xfrm>
            <a:off x="548640" y="5047488"/>
            <a:ext cx="7863840" cy="713232"/>
          </a:xfrm>
          <a:prstGeom prst="roundRect">
            <a:avLst>
              <a:gd name="adj" fmla="val 7692"/>
            </a:avLst>
          </a:prstGeom>
          <a:solidFill>
            <a:srgbClr val="0F2340"/>
          </a:solidFill>
          <a:ln w="12700">
            <a:solidFill>
              <a:srgbClr val="0F2340"/>
            </a:solidFill>
            <a:prstDash val="solid"/>
          </a:ln>
        </p:spPr>
        <p:txBody>
          <a:bodyPr/>
          <a:p/>
        </p:txBody>
      </p:sp>
      <p:sp>
        <p:nvSpPr>
          <p:cNvPr id="16" name="Text 14"/>
          <p:cNvSpPr txBox="1"/>
          <p:nvPr/>
        </p:nvSpPr>
        <p:spPr>
          <a:xfrm>
            <a:off x="731520" y="5047488"/>
            <a:ext cx="7498080" cy="713232"/>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Capture our GLO-BUS year and review it.</a:t>
            </a:r>
            <a:endParaRPr lang="en-US" sz="1400" dirty="0"/>
          </a:p>
        </p:txBody>
      </p:sp>
      <p:sp>
        <p:nvSpPr>
          <p:cNvPr id="17" name="Text 15"/>
          <p:cNvSpPr txBox="1"/>
          <p:nvPr/>
        </p:nvSpPr>
        <p:spPr>
          <a:xfrm>
            <a:off x="8595360" y="5047488"/>
            <a:ext cx="3017520" cy="713232"/>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Full-year review</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822960"/>
            <a:ext cx="10698480" cy="100584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The full Strat-IQ loop</a:t>
            </a:r>
            <a:endParaRPr lang="en-US" sz="3800" dirty="0"/>
          </a:p>
        </p:txBody>
      </p:sp>
      <p:sp>
        <p:nvSpPr>
          <p:cNvPr id="3" name="Shape 1"/>
          <p:cNvSpPr/>
          <p:nvPr/>
        </p:nvSpPr>
        <p:spPr>
          <a:xfrm>
            <a:off x="731520" y="2148840"/>
            <a:ext cx="640080" cy="640080"/>
          </a:xfrm>
          <a:prstGeom prst="ellipse">
            <a:avLst/>
          </a:prstGeom>
          <a:solidFill>
            <a:srgbClr val="C4A35A"/>
          </a:solidFill>
          <a:ln w="12700">
            <a:solidFill>
              <a:srgbClr val="C4A35A"/>
            </a:solidFill>
            <a:prstDash val="solid"/>
          </a:ln>
        </p:spPr>
        <p:txBody>
          <a:bodyPr/>
          <a:p/>
        </p:txBody>
      </p:sp>
      <p:pic>
        <p:nvPicPr>
          <p:cNvPr id="4" name="Image 0" descr="preencoded.png">    </p:cNvPr>
          <p:cNvPicPr>
            <a:picLocks noChangeAspect="1"/>
          </p:cNvPicPr>
          <p:nvPr/>
        </p:nvPicPr>
        <p:blipFill>
          <a:blip r:embed="rId1"/>
          <a:stretch>
            <a:fillRect/>
          </a:stretch>
        </p:blipFill>
        <p:spPr>
          <a:xfrm>
            <a:off x="896112" y="2313432"/>
            <a:ext cx="310896" cy="310896"/>
          </a:xfrm>
          <a:prstGeom prst="rect">
            <a:avLst/>
          </a:prstGeom>
        </p:spPr>
      </p:pic>
      <p:sp>
        <p:nvSpPr>
          <p:cNvPr id="5" name="Text 2"/>
          <p:cNvSpPr txBox="1"/>
          <p:nvPr/>
        </p:nvSpPr>
        <p:spPr>
          <a:xfrm>
            <a:off x="1600200" y="2103120"/>
            <a:ext cx="9692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 1 · What the industry rewards</a:t>
            </a:r>
            <a:endParaRPr lang="en-US" sz="1800" dirty="0"/>
          </a:p>
          <a:p>
            <a:pPr indent="0" marL="0">
              <a:buNone/>
            </a:pPr>
            <a:r>
              <a:rPr lang="en-US" sz="1400" dirty="0">
                <a:solidFill>
                  <a:srgbClr val="D8DEE8"/>
                </a:solidFill>
                <a:latin typeface="Arial" pitchFamily="34" charset="0"/>
                <a:ea typeface="Arial" pitchFamily="34" charset="-122"/>
                <a:cs typeface="Arial" pitchFamily="34" charset="-120"/>
              </a:rPr>
              <a:t>Evidence from filings, forces, trends, KSFs and maps</a:t>
            </a:r>
            <a:endParaRPr lang="en-US" sz="1800" dirty="0"/>
          </a:p>
        </p:txBody>
      </p:sp>
      <p:sp>
        <p:nvSpPr>
          <p:cNvPr id="6" name="Shape 3"/>
          <p:cNvSpPr/>
          <p:nvPr/>
        </p:nvSpPr>
        <p:spPr>
          <a:xfrm>
            <a:off x="731520" y="3136392"/>
            <a:ext cx="640080" cy="640080"/>
          </a:xfrm>
          <a:prstGeom prst="ellipse">
            <a:avLst/>
          </a:prstGeom>
          <a:solidFill>
            <a:srgbClr val="C4A35A"/>
          </a:solidFill>
          <a:ln w="12700">
            <a:solidFill>
              <a:srgbClr val="C4A35A"/>
            </a:solidFill>
            <a:prstDash val="solid"/>
          </a:ln>
        </p:spPr>
        <p:txBody>
          <a:bodyPr/>
          <a:p/>
        </p:txBody>
      </p:sp>
      <p:pic>
        <p:nvPicPr>
          <p:cNvPr id="7" name="Image 1" descr="preencoded.png">    </p:cNvPr>
          <p:cNvPicPr>
            <a:picLocks noChangeAspect="1"/>
          </p:cNvPicPr>
          <p:nvPr/>
        </p:nvPicPr>
        <p:blipFill>
          <a:blip r:embed="rId2"/>
          <a:stretch>
            <a:fillRect/>
          </a:stretch>
        </p:blipFill>
        <p:spPr>
          <a:xfrm>
            <a:off x="896112" y="3300984"/>
            <a:ext cx="310896" cy="310896"/>
          </a:xfrm>
          <a:prstGeom prst="rect">
            <a:avLst/>
          </a:prstGeom>
        </p:spPr>
      </p:pic>
      <p:sp>
        <p:nvSpPr>
          <p:cNvPr id="8" name="Text 4"/>
          <p:cNvSpPr txBox="1"/>
          <p:nvPr/>
        </p:nvSpPr>
        <p:spPr>
          <a:xfrm>
            <a:off x="1600200" y="3090672"/>
            <a:ext cx="9692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 2 · What the company can do</a:t>
            </a:r>
            <a:endParaRPr lang="en-US" sz="1800" dirty="0"/>
          </a:p>
          <a:p>
            <a:pPr indent="0" marL="0">
              <a:buNone/>
            </a:pPr>
            <a:r>
              <a:rPr lang="en-US" sz="1400" dirty="0">
                <a:solidFill>
                  <a:srgbClr val="D8DEE8"/>
                </a:solidFill>
                <a:latin typeface="Arial" pitchFamily="34" charset="0"/>
                <a:ea typeface="Arial" pitchFamily="34" charset="-122"/>
                <a:cs typeface="Arial" pitchFamily="34" charset="-120"/>
              </a:rPr>
              <a:t>Value chain, unit economics, VRIO, full potential, growth barriers, SWOT</a:t>
            </a:r>
            <a:endParaRPr lang="en-US" sz="1800" dirty="0"/>
          </a:p>
        </p:txBody>
      </p:sp>
      <p:sp>
        <p:nvSpPr>
          <p:cNvPr id="9" name="Shape 5"/>
          <p:cNvSpPr/>
          <p:nvPr/>
        </p:nvSpPr>
        <p:spPr>
          <a:xfrm>
            <a:off x="731520" y="4123944"/>
            <a:ext cx="640080" cy="640080"/>
          </a:xfrm>
          <a:prstGeom prst="ellipse">
            <a:avLst/>
          </a:prstGeom>
          <a:solidFill>
            <a:srgbClr val="C4A35A"/>
          </a:solidFill>
          <a:ln w="12700">
            <a:solidFill>
              <a:srgbClr val="C4A35A"/>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896112" y="4288536"/>
            <a:ext cx="310896" cy="310896"/>
          </a:xfrm>
          <a:prstGeom prst="rect">
            <a:avLst/>
          </a:prstGeom>
        </p:spPr>
      </p:pic>
      <p:sp>
        <p:nvSpPr>
          <p:cNvPr id="11" name="Text 6"/>
          <p:cNvSpPr txBox="1"/>
          <p:nvPr/>
        </p:nvSpPr>
        <p:spPr>
          <a:xfrm>
            <a:off x="1600200" y="4078224"/>
            <a:ext cx="9692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 3 · What to do, and how to make it work</a:t>
            </a:r>
            <a:endParaRPr lang="en-US" sz="1800" dirty="0"/>
          </a:p>
          <a:p>
            <a:pPr indent="0" marL="0">
              <a:buNone/>
            </a:pPr>
            <a:r>
              <a:rPr lang="en-US" sz="1400" dirty="0">
                <a:solidFill>
                  <a:srgbClr val="D8DEE8"/>
                </a:solidFill>
                <a:latin typeface="Arial" pitchFamily="34" charset="0"/>
                <a:ea typeface="Arial" pitchFamily="34" charset="-122"/>
                <a:cs typeface="Arial" pitchFamily="34" charset="-120"/>
              </a:rPr>
              <a:t>Choose, test, go to market, plan, track and pitch, then feed results back as evidence</a:t>
            </a:r>
            <a:endParaRPr lang="en-US" sz="1800" dirty="0"/>
          </a:p>
        </p:txBody>
      </p:sp>
      <p:sp>
        <p:nvSpPr>
          <p:cNvPr id="12" name="Shape 7"/>
          <p:cNvSpPr/>
          <p:nvPr/>
        </p:nvSpPr>
        <p:spPr>
          <a:xfrm>
            <a:off x="731520" y="5111496"/>
            <a:ext cx="640080" cy="640080"/>
          </a:xfrm>
          <a:prstGeom prst="ellipse">
            <a:avLst/>
          </a:prstGeom>
          <a:solidFill>
            <a:srgbClr val="C4A35A"/>
          </a:solidFill>
          <a:ln w="12700">
            <a:solidFill>
              <a:srgbClr val="C4A35A"/>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896112" y="5276088"/>
            <a:ext cx="310896" cy="310896"/>
          </a:xfrm>
          <a:prstGeom prst="rect">
            <a:avLst/>
          </a:prstGeom>
        </p:spPr>
      </p:pic>
      <p:sp>
        <p:nvSpPr>
          <p:cNvPr id="14" name="Text 8"/>
          <p:cNvSpPr txBox="1"/>
          <p:nvPr/>
        </p:nvSpPr>
        <p:spPr>
          <a:xfrm>
            <a:off x="1600200" y="5065776"/>
            <a:ext cx="9692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Thursday Zoom Sync</a:t>
            </a:r>
            <a:endParaRPr lang="en-US" sz="1800" dirty="0"/>
          </a:p>
          <a:p>
            <a:pPr indent="0" marL="0">
              <a:buNone/>
            </a:pPr>
            <a:r>
              <a:rPr lang="en-US" sz="1400" dirty="0">
                <a:solidFill>
                  <a:srgbClr val="D8DEE8"/>
                </a:solidFill>
                <a:latin typeface="Arial" pitchFamily="34" charset="0"/>
                <a:ea typeface="Arial" pitchFamily="34" charset="-122"/>
                <a:cs typeface="Arial" pitchFamily="34" charset="-120"/>
              </a:rPr>
              <a:t>Bring your options, your expected-value tree and your toughest question (link on Canvas)</a:t>
            </a:r>
            <a:endParaRPr lang="en-US" sz="1800" dirty="0"/>
          </a:p>
        </p:txBody>
      </p:sp>
      <p:sp>
        <p:nvSpPr>
          <p:cNvPr id="15" name="Text 9"/>
          <p:cNvSpPr txBox="1"/>
          <p:nvPr/>
        </p:nvSpPr>
        <p:spPr>
          <a:xfrm>
            <a:off x="731520" y="5943600"/>
            <a:ext cx="10698480" cy="457200"/>
          </a:xfrm>
          <a:prstGeom prst="rect">
            <a:avLst/>
          </a:prstGeom>
          <a:noFill/>
          <a:ln/>
        </p:spPr>
        <p:txBody>
          <a:bodyPr wrap="square" lIns="0" tIns="0" rIns="0" bIns="0" rtlCol="0" anchor="ctr"/>
          <a:lstStyle/>
          <a:p>
            <a:pPr indent="0" marL="0">
              <a:buNone/>
            </a:pPr>
            <a:r>
              <a:rPr lang="en-US" sz="1500" i="1" dirty="0">
                <a:solidFill>
                  <a:srgbClr val="C4A35A"/>
                </a:solidFill>
                <a:latin typeface="Georgia" pitchFamily="34" charset="0"/>
                <a:ea typeface="Georgia" pitchFamily="34" charset="-122"/>
                <a:cs typeface="Georgia" pitchFamily="34" charset="-120"/>
              </a:rPr>
              <a:t>"Strategy is one argument, built from evidence, that ends in a decision."</a:t>
            </a:r>
            <a:endParaRPr lang="en-US" sz="1500" dirty="0"/>
          </a:p>
        </p:txBody>
      </p:sp>
    </p:spTree>
  </p:cSld>
  <p:clrMapOvr>
    <a:masterClrMapping/>
  </p:clrMapOvr>
</p:sld>
</file>

<file path=ppt/theme/theme1.xml><?xml version="1.0" encoding="utf-8"?>
<a:theme xmlns:a="http://schemas.openxmlformats.org/drawingml/2006/main" name="Strat-IQ Toolkit">
  <a:themeElements>
    <a:clrScheme name="Strat-IQ Toolkit">
      <a:dk1>
        <a:srgbClr val="1B365D"/>
      </a:dk1>
      <a:lt1>
        <a:srgbClr val="FFFFFF"/>
      </a:lt1>
      <a:dk2>
        <a:srgbClr val="0F2340"/>
      </a:dk2>
      <a:lt2>
        <a:srgbClr val="F5F3EE"/>
      </a:lt2>
      <a:accent1>
        <a:srgbClr val="C4A35A"/>
      </a:accent1>
      <a:accent2>
        <a:srgbClr val="3E6A9E"/>
      </a:accent2>
      <a:accent3>
        <a:srgbClr val="8FA9C7"/>
      </a:accent3>
      <a:accent4>
        <a:srgbClr val="5E7D4E"/>
      </a:accent4>
      <a:accent5>
        <a:srgbClr val="B5523B"/>
      </a:accent5>
      <a:accent6>
        <a:srgbClr val="6B6B6B"/>
      </a:accent6>
      <a:hlink>
        <a:srgbClr val="3E6A9E"/>
      </a:hlink>
      <a:folHlink>
        <a:srgbClr val="6B6B6B"/>
      </a:folHlink>
    </a:clrScheme>
    <a:fontScheme name="Strat-IQ Toolki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MGT4850 Strategic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Strat-IQ v3: Making the Strategy Work</dc:title>
  <dc:subject>PptxGenJS Presentation</dc:subject>
  <dc:creator>Brad Scheller</dc:creator>
  <cp:lastModifiedBy>Brad Scheller</cp:lastModifiedBy>
  <cp:revision>1</cp:revision>
  <dcterms:created xsi:type="dcterms:W3CDTF">2026-10-06T00:29:37Z</dcterms:created>
  <dcterms:modified xsi:type="dcterms:W3CDTF">2026-10-06T00:29:37Z</dcterms:modified>
</cp:coreProperties>
</file>